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25437292004398" /><Relationship Type="http://schemas.openxmlformats.org/officeDocument/2006/relationships/extended-properties" Target="/docProps/app.xml" Id="R6fca600861b74db3" /><Relationship Type="http://schemas.openxmlformats.org/officeDocument/2006/relationships/officeDocument" Target="/ppt/presentation.xml" Id="R1fe23d8f9ce4428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297fa9e6d9f4af2"/>
  </p:sldMasterIdLst>
  <p:notesMasterIdLst>
    <p:notesMasterId xmlns:r="http://schemas.openxmlformats.org/officeDocument/2006/relationships" r:id="R9b43c154db9c479f"/>
  </p:notesMasterIdLst>
  <p:sldIdLst>
    <p:sldId xmlns:r="http://schemas.openxmlformats.org/officeDocument/2006/relationships" id="256" r:id="R7c2d6dc75c744a4e"/>
    <p:sldId xmlns:r="http://schemas.openxmlformats.org/officeDocument/2006/relationships" id="257" r:id="R834df1c4806649ac"/>
    <p:sldId xmlns:r="http://schemas.openxmlformats.org/officeDocument/2006/relationships" id="258" r:id="Rae883f71e1154dab"/>
    <p:sldId xmlns:r="http://schemas.openxmlformats.org/officeDocument/2006/relationships" id="259" r:id="R0d8d63c265cf4c7d"/>
    <p:sldId xmlns:r="http://schemas.openxmlformats.org/officeDocument/2006/relationships" id="260" r:id="R3bcfe6603f8143a3"/>
    <p:sldId xmlns:r="http://schemas.openxmlformats.org/officeDocument/2006/relationships" id="261" r:id="Ra2c549e059fc4216"/>
    <p:sldId xmlns:r="http://schemas.openxmlformats.org/officeDocument/2006/relationships" id="262" r:id="R6df785b544984f0b"/>
    <p:sldId xmlns:r="http://schemas.openxmlformats.org/officeDocument/2006/relationships" id="263" r:id="R49af7305db124438"/>
    <p:sldId xmlns:r="http://schemas.openxmlformats.org/officeDocument/2006/relationships" id="264" r:id="Rf20745276b6c4bbb"/>
    <p:sldId xmlns:r="http://schemas.openxmlformats.org/officeDocument/2006/relationships" id="265" r:id="R889a052869c141ad"/>
    <p:sldId xmlns:r="http://schemas.openxmlformats.org/officeDocument/2006/relationships" id="266" r:id="R10a991ffec3049bf"/>
    <p:sldId xmlns:r="http://schemas.openxmlformats.org/officeDocument/2006/relationships" id="267" r:id="R3c638dbe05c44932"/>
    <p:sldId xmlns:r="http://schemas.openxmlformats.org/officeDocument/2006/relationships" id="268" r:id="R006dd0f373c2455b"/>
    <p:sldId xmlns:r="http://schemas.openxmlformats.org/officeDocument/2006/relationships" id="269" r:id="Re97b8ba34e0d457e"/>
    <p:sldId xmlns:r="http://schemas.openxmlformats.org/officeDocument/2006/relationships" id="270" r:id="Ra63f0664a3c5456e"/>
    <p:sldId xmlns:r="http://schemas.openxmlformats.org/officeDocument/2006/relationships" id="271" r:id="R602dd021e5034275"/>
    <p:sldId xmlns:r="http://schemas.openxmlformats.org/officeDocument/2006/relationships" id="272" r:id="R106b57df1fd64ac5"/>
    <p:sldId xmlns:r="http://schemas.openxmlformats.org/officeDocument/2006/relationships" id="273" r:id="R01a74c400b864f27"/>
    <p:sldId xmlns:r="http://schemas.openxmlformats.org/officeDocument/2006/relationships" id="274" r:id="Rcc912f59c44c417e"/>
    <p:sldId xmlns:r="http://schemas.openxmlformats.org/officeDocument/2006/relationships" id="275" r:id="R91c0ab74610841e7"/>
    <p:sldId xmlns:r="http://schemas.openxmlformats.org/officeDocument/2006/relationships" id="276" r:id="Reccd766902434468"/>
    <p:sldId xmlns:r="http://schemas.openxmlformats.org/officeDocument/2006/relationships" id="277" r:id="R169bd31e016f4901"/>
    <p:sldId xmlns:r="http://schemas.openxmlformats.org/officeDocument/2006/relationships" id="278" r:id="R387d1cb152d84d28"/>
    <p:sldId xmlns:r="http://schemas.openxmlformats.org/officeDocument/2006/relationships" id="279" r:id="Re18c8efc1c944785"/>
    <p:sldId xmlns:r="http://schemas.openxmlformats.org/officeDocument/2006/relationships" id="280" r:id="Rceee1e9d960e454a"/>
    <p:sldId xmlns:r="http://schemas.openxmlformats.org/officeDocument/2006/relationships" id="281" r:id="Rc62206b1739f4e6a"/>
    <p:sldId xmlns:r="http://schemas.openxmlformats.org/officeDocument/2006/relationships" id="282" r:id="R62004f0489bb428c"/>
    <p:sldId xmlns:r="http://schemas.openxmlformats.org/officeDocument/2006/relationships" id="283" r:id="R218fa5aac90c453d"/>
    <p:sldId xmlns:r="http://schemas.openxmlformats.org/officeDocument/2006/relationships" id="284" r:id="Re14f9ecf925d4f86"/>
  </p:sldIdLst>
  <p:sldSz cx="9144000" cy="5143500"/>
  <p:notesSz cx="6858000" cy="9144000"/>
  <p:embeddedFontLst>
    <p:embeddedFont>
      <p:font typeface="Raleway"/>
      <p:regular xmlns:r="http://schemas.openxmlformats.org/officeDocument/2006/relationships" r:id="Rb4bc94aa1f5f4366"/>
      <p:bold xmlns:r="http://schemas.openxmlformats.org/officeDocument/2006/relationships" r:id="R4f396f1f7d0e42dc"/>
      <p:italic xmlns:r="http://schemas.openxmlformats.org/officeDocument/2006/relationships" r:id="R56c11adb610f4067"/>
      <p:boldItalic xmlns:r="http://schemas.openxmlformats.org/officeDocument/2006/relationships" r:id="R0a03364ba23a448d"/>
    </p:embeddedFont>
    <p:embeddedFont>
      <p:font typeface="Raleway SemiBold"/>
      <p:regular xmlns:r="http://schemas.openxmlformats.org/officeDocument/2006/relationships" r:id="Ra2c3e7dc63454202"/>
      <p:bold xmlns:r="http://schemas.openxmlformats.org/officeDocument/2006/relationships" r:id="Re8e1fd871f044eac"/>
      <p:italic xmlns:r="http://schemas.openxmlformats.org/officeDocument/2006/relationships" r:id="R799d20e58cb549cc"/>
      <p:boldItalic xmlns:r="http://schemas.openxmlformats.org/officeDocument/2006/relationships" r:id="R78f3e2c63b064ab4"/>
    </p:embeddedFont>
    <p:embeddedFont>
      <p:font typeface="Lato"/>
      <p:regular xmlns:r="http://schemas.openxmlformats.org/officeDocument/2006/relationships" r:id="R2e12dfe8f95d46a6"/>
      <p:bold xmlns:r="http://schemas.openxmlformats.org/officeDocument/2006/relationships" r:id="R7ef626e77b7b440d"/>
      <p:italic xmlns:r="http://schemas.openxmlformats.org/officeDocument/2006/relationships" r:id="R650d416b03594e0f"/>
      <p:boldItalic xmlns:r="http://schemas.openxmlformats.org/officeDocument/2006/relationships" r:id="Rb9bd4d207dc04af1"/>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ba57478603b4940" /><Relationship Type="http://schemas.openxmlformats.org/officeDocument/2006/relationships/slideMaster" Target="/ppt/slideMasters/slideMaster1.xml" Id="R4297fa9e6d9f4af2" /><Relationship Type="http://schemas.openxmlformats.org/officeDocument/2006/relationships/notesMaster" Target="/ppt/notesMasters/notesMaster1.xml" Id="R9b43c154db9c479f" /><Relationship Type="http://schemas.openxmlformats.org/officeDocument/2006/relationships/presProps" Target="/ppt/presProps.xml" Id="R4d4b060612504a64" /><Relationship Type="http://schemas.openxmlformats.org/officeDocument/2006/relationships/viewProps" Target="/ppt/viewProps.xml" Id="R8453c3d8c6994591" /><Relationship Type="http://schemas.openxmlformats.org/officeDocument/2006/relationships/tableStyles" Target="/ppt/tableStyles.xml" Id="R5f655cc38df7441e" /><Relationship Type="http://schemas.openxmlformats.org/officeDocument/2006/relationships/font" Target="/ppt/fonts/font.dat" Id="Rb4bc94aa1f5f4366" /><Relationship Type="http://schemas.openxmlformats.org/officeDocument/2006/relationships/font" Target="/ppt/fonts/font2.dat" Id="R4f396f1f7d0e42dc" /><Relationship Type="http://schemas.openxmlformats.org/officeDocument/2006/relationships/font" Target="/ppt/fonts/font3.dat" Id="R56c11adb610f4067" /><Relationship Type="http://schemas.openxmlformats.org/officeDocument/2006/relationships/font" Target="/ppt/fonts/font4.dat" Id="R0a03364ba23a448d" /><Relationship Type="http://schemas.openxmlformats.org/officeDocument/2006/relationships/font" Target="/ppt/fonts/font5.dat" Id="Ra2c3e7dc63454202" /><Relationship Type="http://schemas.openxmlformats.org/officeDocument/2006/relationships/font" Target="/ppt/fonts/font6.dat" Id="Re8e1fd871f044eac" /><Relationship Type="http://schemas.openxmlformats.org/officeDocument/2006/relationships/font" Target="/ppt/fonts/font7.dat" Id="R799d20e58cb549cc" /><Relationship Type="http://schemas.openxmlformats.org/officeDocument/2006/relationships/font" Target="/ppt/fonts/font8.dat" Id="R78f3e2c63b064ab4" /><Relationship Type="http://schemas.openxmlformats.org/officeDocument/2006/relationships/font" Target="/ppt/fonts/font9.dat" Id="R2e12dfe8f95d46a6" /><Relationship Type="http://schemas.openxmlformats.org/officeDocument/2006/relationships/font" Target="/ppt/fonts/font10.dat" Id="R7ef626e77b7b440d" /><Relationship Type="http://schemas.openxmlformats.org/officeDocument/2006/relationships/font" Target="/ppt/fonts/font11.dat" Id="R650d416b03594e0f" /><Relationship Type="http://schemas.openxmlformats.org/officeDocument/2006/relationships/font" Target="/ppt/fonts/font12.dat" Id="Rb9bd4d207dc04af1" /><Relationship Type="http://schemas.openxmlformats.org/officeDocument/2006/relationships/slide" Target="/ppt/slides/slide1.xml" Id="R7c2d6dc75c744a4e" /><Relationship Type="http://schemas.openxmlformats.org/officeDocument/2006/relationships/slide" Target="/ppt/slides/slide2.xml" Id="R834df1c4806649ac" /><Relationship Type="http://schemas.openxmlformats.org/officeDocument/2006/relationships/slide" Target="/ppt/slides/slide3.xml" Id="Rae883f71e1154dab" /><Relationship Type="http://schemas.openxmlformats.org/officeDocument/2006/relationships/slide" Target="/ppt/slides/slide4.xml" Id="R0d8d63c265cf4c7d" /><Relationship Type="http://schemas.openxmlformats.org/officeDocument/2006/relationships/slide" Target="/ppt/slides/slide5.xml" Id="R3bcfe6603f8143a3" /><Relationship Type="http://schemas.openxmlformats.org/officeDocument/2006/relationships/slide" Target="/ppt/slides/slide6.xml" Id="Ra2c549e059fc4216" /><Relationship Type="http://schemas.openxmlformats.org/officeDocument/2006/relationships/slide" Target="/ppt/slides/slide7.xml" Id="R6df785b544984f0b" /><Relationship Type="http://schemas.openxmlformats.org/officeDocument/2006/relationships/slide" Target="/ppt/slides/slide8.xml" Id="R49af7305db124438" /><Relationship Type="http://schemas.openxmlformats.org/officeDocument/2006/relationships/slide" Target="/ppt/slides/slide9.xml" Id="Rf20745276b6c4bbb" /><Relationship Type="http://schemas.openxmlformats.org/officeDocument/2006/relationships/slide" Target="/ppt/slides/slide10.xml" Id="R889a052869c141ad" /><Relationship Type="http://schemas.openxmlformats.org/officeDocument/2006/relationships/slide" Target="/ppt/slides/slide11.xml" Id="R10a991ffec3049bf" /><Relationship Type="http://schemas.openxmlformats.org/officeDocument/2006/relationships/slide" Target="/ppt/slides/slide12.xml" Id="R3c638dbe05c44932" /><Relationship Type="http://schemas.openxmlformats.org/officeDocument/2006/relationships/slide" Target="/ppt/slides/slide13.xml" Id="R006dd0f373c2455b" /><Relationship Type="http://schemas.openxmlformats.org/officeDocument/2006/relationships/slide" Target="/ppt/slides/slide14.xml" Id="Re97b8ba34e0d457e" /><Relationship Type="http://schemas.openxmlformats.org/officeDocument/2006/relationships/slide" Target="/ppt/slides/slide15.xml" Id="Ra63f0664a3c5456e" /><Relationship Type="http://schemas.openxmlformats.org/officeDocument/2006/relationships/slide" Target="/ppt/slides/slide16.xml" Id="R602dd021e5034275" /><Relationship Type="http://schemas.openxmlformats.org/officeDocument/2006/relationships/slide" Target="/ppt/slides/slide17.xml" Id="R106b57df1fd64ac5" /><Relationship Type="http://schemas.openxmlformats.org/officeDocument/2006/relationships/slide" Target="/ppt/slides/slide18.xml" Id="R01a74c400b864f27" /><Relationship Type="http://schemas.openxmlformats.org/officeDocument/2006/relationships/slide" Target="/ppt/slides/slide19.xml" Id="Rcc912f59c44c417e" /><Relationship Type="http://schemas.openxmlformats.org/officeDocument/2006/relationships/slide" Target="/ppt/slides/slide20.xml" Id="R91c0ab74610841e7" /><Relationship Type="http://schemas.openxmlformats.org/officeDocument/2006/relationships/slide" Target="/ppt/slides/slide21.xml" Id="Reccd766902434468" /><Relationship Type="http://schemas.openxmlformats.org/officeDocument/2006/relationships/slide" Target="/ppt/slides/slide22.xml" Id="R169bd31e016f4901" /><Relationship Type="http://schemas.openxmlformats.org/officeDocument/2006/relationships/slide" Target="/ppt/slides/slide23.xml" Id="R387d1cb152d84d28" /><Relationship Type="http://schemas.openxmlformats.org/officeDocument/2006/relationships/slide" Target="/ppt/slides/slide24.xml" Id="Re18c8efc1c944785" /><Relationship Type="http://schemas.openxmlformats.org/officeDocument/2006/relationships/slide" Target="/ppt/slides/slide25.xml" Id="Rceee1e9d960e454a" /><Relationship Type="http://schemas.openxmlformats.org/officeDocument/2006/relationships/slide" Target="/ppt/slides/slide26.xml" Id="Rc62206b1739f4e6a" /><Relationship Type="http://schemas.openxmlformats.org/officeDocument/2006/relationships/slide" Target="/ppt/slides/slide27.xml" Id="R62004f0489bb428c" /><Relationship Type="http://schemas.openxmlformats.org/officeDocument/2006/relationships/slide" Target="/ppt/slides/slide28.xml" Id="R218fa5aac90c453d" /><Relationship Type="http://schemas.openxmlformats.org/officeDocument/2006/relationships/slide" Target="/ppt/slides/slide29.xml" Id="Re14f9ecf925d4f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e8ab96435040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2afbf65d624c49" /><Relationship Type="http://schemas.openxmlformats.org/officeDocument/2006/relationships/notesMaster" Target="/ppt/notesMasters/notesMaster1.xml" Id="R9a422e6a0a134e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5c8df73ee244e6" /><Relationship Type="http://schemas.openxmlformats.org/officeDocument/2006/relationships/notesMaster" Target="/ppt/notesMasters/notesMaster1.xml" Id="R21a6b993e84c49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56fa07051a4673" /><Relationship Type="http://schemas.openxmlformats.org/officeDocument/2006/relationships/notesMaster" Target="/ppt/notesMasters/notesMaster1.xml" Id="Rf4dc6622de0247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ba2dfb2d4044df" /><Relationship Type="http://schemas.openxmlformats.org/officeDocument/2006/relationships/notesMaster" Target="/ppt/notesMasters/notesMaster1.xml" Id="R469e088178fb4f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e61a754f054f28" /><Relationship Type="http://schemas.openxmlformats.org/officeDocument/2006/relationships/notesMaster" Target="/ppt/notesMasters/notesMaster1.xml" Id="R7a32a15761cb43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40dc3c90b44deb" /><Relationship Type="http://schemas.openxmlformats.org/officeDocument/2006/relationships/notesMaster" Target="/ppt/notesMasters/notesMaster1.xml" Id="Rac6444454ded40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0a85b5958a4870" /><Relationship Type="http://schemas.openxmlformats.org/officeDocument/2006/relationships/notesMaster" Target="/ppt/notesMasters/notesMaster1.xml" Id="R74895e6227974f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49c5c7263e4ed5" /><Relationship Type="http://schemas.openxmlformats.org/officeDocument/2006/relationships/notesMaster" Target="/ppt/notesMasters/notesMaster1.xml" Id="Ra90b4749b5d440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7c6a2ce0da474f" /><Relationship Type="http://schemas.openxmlformats.org/officeDocument/2006/relationships/notesMaster" Target="/ppt/notesMasters/notesMaster1.xml" Id="Rfaf666cdd2a244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80ca0261114bac" /><Relationship Type="http://schemas.openxmlformats.org/officeDocument/2006/relationships/notesMaster" Target="/ppt/notesMasters/notesMaster1.xml" Id="R33e64237037448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44a6339dda4847" /><Relationship Type="http://schemas.openxmlformats.org/officeDocument/2006/relationships/notesMaster" Target="/ppt/notesMasters/notesMaster1.xml" Id="R551daa1a248049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26d59994694174" /><Relationship Type="http://schemas.openxmlformats.org/officeDocument/2006/relationships/notesMaster" Target="/ppt/notesMasters/notesMaster1.xml" Id="R7f96f8e198354e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1d5937480c4f57" /><Relationship Type="http://schemas.openxmlformats.org/officeDocument/2006/relationships/notesMaster" Target="/ppt/notesMasters/notesMaster1.xml" Id="Rabe8b33b856443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e17fec86fb4da7" /><Relationship Type="http://schemas.openxmlformats.org/officeDocument/2006/relationships/notesMaster" Target="/ppt/notesMasters/notesMaster1.xml" Id="R0590fa59c04942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a723b17ede479c" /><Relationship Type="http://schemas.openxmlformats.org/officeDocument/2006/relationships/notesMaster" Target="/ppt/notesMasters/notesMaster1.xml" Id="Rf5f1364657244f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5a56430b5c4654" /><Relationship Type="http://schemas.openxmlformats.org/officeDocument/2006/relationships/notesMaster" Target="/ppt/notesMasters/notesMaster1.xml" Id="R0a80985e394945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5c52af84244890" /><Relationship Type="http://schemas.openxmlformats.org/officeDocument/2006/relationships/notesMaster" Target="/ppt/notesMasters/notesMaster1.xml" Id="R4f8e9b811012444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93a4b0063f4085" /><Relationship Type="http://schemas.openxmlformats.org/officeDocument/2006/relationships/notesMaster" Target="/ppt/notesMasters/notesMaster1.xml" Id="R5786c4a2066f4b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1d62ddbd414673" /><Relationship Type="http://schemas.openxmlformats.org/officeDocument/2006/relationships/notesMaster" Target="/ppt/notesMasters/notesMaster1.xml" Id="Re6d71d036b4a43e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1dfa67c6fa47ef" /><Relationship Type="http://schemas.openxmlformats.org/officeDocument/2006/relationships/notesMaster" Target="/ppt/notesMasters/notesMaster1.xml" Id="R862edecda9c140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a3ef62d50741be" /><Relationship Type="http://schemas.openxmlformats.org/officeDocument/2006/relationships/notesMaster" Target="/ppt/notesMasters/notesMaster1.xml" Id="R97ebd157aac149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7f72960406413b" /><Relationship Type="http://schemas.openxmlformats.org/officeDocument/2006/relationships/notesMaster" Target="/ppt/notesMasters/notesMaster1.xml" Id="R93192bfcc41d431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a070182495411a" /><Relationship Type="http://schemas.openxmlformats.org/officeDocument/2006/relationships/notesMaster" Target="/ppt/notesMasters/notesMaster1.xml" Id="R112809e226e041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6c67f354fb4eca" /><Relationship Type="http://schemas.openxmlformats.org/officeDocument/2006/relationships/notesMaster" Target="/ppt/notesMasters/notesMaster1.xml" Id="Ra1832f884886477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594ded910f49f0" /><Relationship Type="http://schemas.openxmlformats.org/officeDocument/2006/relationships/notesMaster" Target="/ppt/notesMasters/notesMaster1.xml" Id="Rda90beb4a59e415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f8e800b4ff4924" /><Relationship Type="http://schemas.openxmlformats.org/officeDocument/2006/relationships/notesMaster" Target="/ppt/notesMasters/notesMaster1.xml" Id="R73418530e94d416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d527401718a4f45" /><Relationship Type="http://schemas.openxmlformats.org/officeDocument/2006/relationships/notesMaster" Target="/ppt/notesMasters/notesMaster1.xml" Id="Rc587abc8eb9040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8e67ce113504832" /><Relationship Type="http://schemas.openxmlformats.org/officeDocument/2006/relationships/notesMaster" Target="/ppt/notesMasters/notesMaster1.xml" Id="Rdacfa56088ff461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35c4d0a3187428d" /><Relationship Type="http://schemas.openxmlformats.org/officeDocument/2006/relationships/notesMaster" Target="/ppt/notesMasters/notesMaster1.xml" Id="R202bd52c42f440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35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Bonjour. Nous sommes Sandor Genot, Alexis Pham et Nolan Guillemain. Notre projet consiste à reconnaître le style d’un bâtiment à partir d’une image : Art déco, Art nouveau ou Gothique. Nous avons construit les algorithmes en C++, préparé les données, entraîné les modèles puis relié le résultat à une application web locale.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TRANSITION :</a:t>
            </a:r>
          </a:p>
          <a:p xmlns:a="http://schemas.openxmlformats.org/drawingml/2006/main">
            <a:pPr marL="0" indent="0" algn="l">
              <a:spcBef>
                <a:spcPts val="0"/>
              </a:spcBef>
              <a:spcAft>
                <a:spcPts val="0"/>
              </a:spcAft>
              <a:buNone/>
            </a:pPr>
            <a:r>
              <a:t>« Je commence par les contraintes qui ont guidé notre travail.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40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Le but pédagogique était d’implémenter quatre familles de modèles : un modèle linéaire, un perceptron multicouche, un RBF et un SVM. Le cœur est écrit en C++ avec Eigen pour les opérations matricielles. Python sert seulement à préparer les images et à piloter l’interface. Le dataset est volontairement limité, ce qui rend la qualité des données et l’évaluation très importantes.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PERCHE :</a:t>
            </a:r>
          </a:p>
          <a:p xmlns:a="http://schemas.openxmlformats.org/drawingml/2006/main">
            <a:pPr marL="0" indent="0" algn="l">
              <a:spcBef>
                <a:spcPts val="0"/>
              </a:spcBef>
              <a:spcAft>
                <a:spcPts val="0"/>
              </a:spcAft>
              <a:buNone/>
            </a:pPr>
            <a:r>
              <a:t>« Eigen calcule les matrices, mais ne nous fournit pas les algorithmes.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SI LE JURY DEMANDE CE QUE NOUS AVONS RÉELLEMENT APPRIS : aller à la diapositive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30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Nous avons quatre approches complémentaires. Le Perceptron et le SVM utilisés ici produisent des séparations linéaires. Le MLP ajoute une couche cachée et peut apprendre des relations non linéaires. Le RBF compare les exemples à des centres avec une fonction de distance. Cette diversité nous permet de comparer leurs forces et leurs limites sur le même problème.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TRANSITION :</a:t>
            </a:r>
          </a:p>
          <a:p xmlns:a="http://schemas.openxmlformats.org/drawingml/2006/main">
            <a:pPr marL="0" indent="0" algn="l">
              <a:spcBef>
                <a:spcPts val="0"/>
              </a:spcBef>
              <a:spcAft>
                <a:spcPts val="0"/>
              </a:spcAft>
              <a:buNone/>
            </a:pPr>
            <a:r>
              <a:t>« Chaque modèle possède ensuite quelques paramètres que nous devons choisir proprement.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45 secondes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Nous avons volontairement limité le tuning à quelques paramètres compréhensibles. Pour le Perceptron et le SVM : nombre d’epochs, learning rate et, pour le SVM, lambda. Pour le MLP : epochs, learning rate et taille de la couche cachée. Pour le RBF : sigma et nombre de centres. Les candidats sont comparés sur la validation, jamais directement sur le test final.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Le meilleur score d’entraînement n’est pas forcément le meilleur modèle.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SI LE JURY DEMANDE UN EXEMPLE CONCRET : aller aux diapositives 17 à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25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Cette diapositive présente les motivations initiales : rester léger, local et garder le contrôle du fonctionnement. Nous ne prétendons pas qu’un cloud serait toujours trop lent ni que le C++ serait toujours supérieur. Le choix principal vient surtout de la contrainte du sujet : comprendre et implémenter les algorithmes nous-mêmes.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TRANSITION :</a:t>
            </a:r>
          </a:p>
          <a:p xmlns:a="http://schemas.openxmlformats.org/drawingml/2006/main">
            <a:pPr marL="0" indent="0" algn="l">
              <a:spcBef>
                <a:spcPts val="0"/>
              </a:spcBef>
              <a:spcAft>
                <a:spcPts val="0"/>
              </a:spcAft>
              <a:buNone/>
            </a:pPr>
            <a:r>
              <a:t>« Nous avons donc défini trois objectifs concrets.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30 secondes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Notre démarche tient en trois verbes. Construire réellement les quatre modèles dans ml_library. Mesurer avec une séparation entraînement, validation et test. Enfin utiliser les modèles sauvegardés sur de vraies images dans une interface web locale. Cela évite d’avoir une démonstration séparée du code réellement évalué.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Le même moteur C++ sert à l’entraînement et à la prédiction.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30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Le C++ contient le calcul ML compilé. Python apporte une interface simple. Nous restons prudents sur la notion de performance : nous n’avons pas fait de benchmark général contre tous les frameworks. Ce que nous pouvons prouver, c’est que Python n’entraîne pas les modèles et que le calcul de prédiction est bien réalisé par notre code C++.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TRANSITION :</a:t>
            </a:r>
          </a:p>
          <a:p xmlns:a="http://schemas.openxmlformats.org/drawingml/2006/main">
            <a:pPr marL="0" indent="0" algn="l">
              <a:spcBef>
                <a:spcPts val="0"/>
              </a:spcBef>
              <a:spcAft>
                <a:spcPts val="0"/>
              </a:spcAft>
              <a:buNone/>
            </a:pPr>
            <a:r>
              <a:t>« Voici le chemin exact des deux applications.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1 minute</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À gauche se trouve l’entraînement hors ligne. Les images deviennent un CSV, train_cli appelle ml_api puis ml_library, et produit un modèle sauvegardé ainsi qu’un rapport JSON. train_all_models ne fait pas de Machine Learning : il orchestre seulement plusieurs commandes.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droite se trouve l’application web. Le navigateur envoie une image à Flask. Pillow applique le même prétraitement, Flask appelle predict_cli, puis predict_cli charge le modèle avec ml_load et demande une prédiction avec ml_predict.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Flask ne lance jamais train_cli et ne réentraîne jamais le modèle.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SI LE JURY VEUT VOIR LE PARCOURS EN DIRECT : aller à la diapositive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35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Flask est une surcouche pratique autour du moteur. L’utilisateur choisit un modèle puis téléverse une image. Pillow corrige l’orientation, convertit l’image en gris, la redimensionne et la normalise. Ensuite seulement, predict_cli demande la classe au modèle C++. Pillow fait donc du traitement d’image, pas du Machine Learning.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PERCHE :</a:t>
            </a:r>
          </a:p>
          <a:p xmlns:a="http://schemas.openxmlformats.org/drawingml/2006/main">
            <a:pPr marL="0" indent="0" algn="l">
              <a:spcBef>
                <a:spcPts val="0"/>
              </a:spcBef>
              <a:spcAft>
                <a:spcPts val="0"/>
              </a:spcAft>
              <a:buNone/>
            </a:pPr>
            <a:r>
              <a:t>« Nous pouvons suivre chaque étape depuis le navigateur jusqu’à ml_predict.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25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La constitution du dataset a été une difficulté importante. Les images venaient de plusieurs sources et il a fallu retirer les doublons pour définir un dataset canonique. Le CSV est généré à partir de ce dossier dans un ordre stable afin de pouvoir reproduire exactement l’expérience.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SI LE JURY DEMANDE LES DIFFICULTÉS DU PROJET : aller à la diapositive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35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Le dataset final contient 1 852 images : 554 Art déco, 745 Art nouveau et 553 Gothique. Art nouveau est un peu plus représenté. C’est pour cela que nous ne regardons pas uniquement l’accuracy globale : nous utilisons aussi la balanced accuracy et les matrices de confusion.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PERCHE :</a:t>
            </a:r>
          </a:p>
          <a:p xmlns:a="http://schemas.openxmlformats.org/drawingml/2006/main">
            <a:pPr marL="0" indent="0" algn="l">
              <a:spcBef>
                <a:spcPts val="0"/>
              </a:spcBef>
              <a:spcAft>
                <a:spcPts val="0"/>
              </a:spcAft>
              <a:buNone/>
            </a:pPr>
            <a:r>
              <a:t>« Un modèle peut avoir une accuracy correcte tout en ignorant presque une classe.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20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Le graphique reprend la distribution précédente. Il permet de voir immédiatement le léger déséquilibre en faveur d’Art nouveau. Nous avons conservé cette distribution dans les séparations, afin que chaque partie reste représentative.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TRANSITION :</a:t>
            </a:r>
          </a:p>
          <a:p xmlns:a="http://schemas.openxmlformats.org/drawingml/2006/main">
            <a:pPr marL="0" indent="0" algn="l">
              <a:spcBef>
                <a:spcPts val="0"/>
              </a:spcBef>
              <a:spcAft>
                <a:spcPts val="0"/>
              </a:spcAft>
              <a:buNone/>
            </a:pPr>
            <a:r>
              <a:t>« Chaque image doit maintenant devenir un vecteur numérique de taille fixe.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50 secondes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Le pipeline est unique pour le CSV et pour Flask. exif_transpose corrige l’orientation. L’image passe en niveaux de gris, puis elle est redimensionnée en 32 par 32 avec LANCZOS. Les pixels sont divisés par 255 pour obtenir des valeurs entre zéro et un, puis lus ligne par ligne. Trente-deux multiplié par trente-deux donne exactement 1 024 features.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Utiliser exactement le même prétraitement à l’entraînement et en production évite un décalage des données.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25 secondes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Cette diapositive résume les trois opérations : redimensionnement, normalisation et aplatissement. Une précision importante : le texte mentionne des canaux RVB, mais notre implémentation réelle utilise un seul canal en niveaux de gris. C’est bien pour cela que nous obtenons 1 024 valeurs et non 3 072.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TRANSITION :</a:t>
            </a:r>
          </a:p>
          <a:p xmlns:a="http://schemas.openxmlformats.org/drawingml/2006/main">
            <a:pPr marL="0" indent="0" algn="l">
              <a:spcBef>
                <a:spcPts val="0"/>
              </a:spcBef>
              <a:spcAft>
                <a:spcPts val="0"/>
              </a:spcAft>
              <a:buNone/>
            </a:pPr>
            <a:r>
              <a:t>« Nous séparons ensuite les données sans utiliser le test pour choisir les paramètres.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1 minute 5</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Sur les 1 852 images, 370 sont réservées au test final. Les 1 482 autres constituent l’outer train. Pendant le tuning, cet outer train est encore séparé en 1 186 exemples pour apprendre et 296 pour valider les paramètres. Une fois le candidat choisi, le test final est consulté une seule fois.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La seed 42 fixe les tirages aléatoires. Quarante-deux est une valeur arbitraire : elle ne rend pas le modèle meilleur, elle permet simplement de refaire exactement la même expérience.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Choisir les paramètres sur le test serait une fuite de données.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RÉPONSE PRÉPARÉE : rester sur cette diapositive pour expliquer seed et fuite.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50 secondes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Les versions v1 servent de référence. Le Perceptron obtient 52,16 %, le MLP 49,46 %, le RBF 32,16 % et le SVM 50,81 %. Le résultat RBF cache un problème : les 370 exemples du test sont tous prédits Gothique. Ce n’est donc pas seulement une accuracy faible, c’est un modèle dégénéré.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Une accuracy proche de 33 % peut être obtenue en choisissant toujours la même classe.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SI LE JURY DEMANDE LA CAUSE ET LA CORRECTION : aller aux diapositives 18 puis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1 minute</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Pour le MLP, nous avons comparé un petit nombre de configurations. Le graphique montre les scores de validation. La configuration retenue utilise 12 epochs, un learning rate de 0,02 et 32 neurones cachés. Après réentraînement, le MLP v2 atteint 56,76 % sur le test contre 49,46 % pour v1, soit un gain de 7,30 points.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Nous avons cherché un compromis simple, pas effectué une grid search massive.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SI LE JURY DEMANDE POURQUOI CE CANDIDAT : rappeler qu’il est choisi sur la validation et évalué ensuite sur le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1 minute</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Dans un RBF, sigma contrôle la largeur d’influence des centres. Avec 1 024 dimensions et sigma égal à un, les distances rendent presque toutes les activations nulles. Les poids de sortie reçoivent peu d’information et le biais fait gagner la même classe. En augmentant sigma, les centres redeviennent utiles. La zone de validation la plus intéressante se situe autour de quatre à cinq.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Sigma répond à la question : jusqu’à quelle distance un centre influence-t-il un exemple ?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SI LE JURY VEUT LA PREUVE VISUELLE : passer à la diapositive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1 minute</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Une matrice de confusion se lit avec les vraies classes en lignes et les prédictions en colonnes. À gauche, RBF v1, avec 16 centres et sigma un, place tout dans la colonne Gothique. À droite, RBF v2 utilise 96 centres répartis et sigma cinq. Les prédictions couvrent enfin les trois classes. L’accuracy passe de 32,16 à 51,89 %, et la balanced accuracy de 33,33 à 49,20 %.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Nous ne cachons pas l’échec initial : son diagnostic fait partie du résultat du projet.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55 secondes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Le MLP v2 est le meilleur modèle global avec 56,76 % d’accuracy et 54,58 % de balanced accuracy. Nous le présentons donc par défaut dans l’interface. Il reste toutefois limité : son rappel sur Art déco n’est que de 27,10 %. Le projet prouve un pipeline complet et mesuré, mais pas encore un classifieur prêt pour la production.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Pourquoi retenir le MLP malgré cette limite ? Parce qu’il est le meilleur compromis global, tout en affichant clairement ses faiblesses.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SI LE JURY DEMANDE CE QU’IL FAUDRAIT AMÉLIORER : évoquer davantage de données et un prétraitement moins destructeur.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45 secondes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Les cas synthétiques vérifient le comportement attendu des implémentations. Un problème linéaire doit être facile. Le XOR montre la différence entre modèles linéaires et non linéaires. Le cas trois classes vérifie le one-vs-rest. Chaque test sauvegarde aussi le modèle, le recharge et compare les prédictions sur des points jamais vus. Les 100 % affichés ici ne sont pas les performances sur les bâtiments.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Le XOR est un test pédagogique, pas une mesure de qualité sur notre dataset réel.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35 secondes</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Trois résultats sont à retenir. Le MLP v2 atteint notre meilleure accuracy test avec 56,76 %. Le comportement tout Gothique du RBF a été compris puis corrigé. Enfin, l’entraînement, la sauvegarde, le rechargement et l’application web utilisent tous le même noyau C++.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TRANSITION :</a:t>
            </a:r>
          </a:p>
          <a:p xmlns:a="http://schemas.openxmlformats.org/drawingml/2006/main">
            <a:pPr marL="0" indent="0" algn="l">
              <a:spcBef>
                <a:spcPts val="0"/>
              </a:spcBef>
              <a:spcAft>
                <a:spcPts val="0"/>
              </a:spcAft>
              <a:buSzPts val="1200"/>
              <a:buNone/>
            </a:pPr>
            <a:r>
              <a:rPr sz="1200"/>
              <a:t>« Nous allons maintenant le montrer avec deux démonstrations courtes.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2 minutes 30, démonstration comprise</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AVANT LA COMMANDE :</a:t>
            </a:r>
          </a:p>
          <a:p xmlns:a="http://schemas.openxmlformats.org/drawingml/2006/main">
            <a:pPr marL="0" indent="0" algn="l">
              <a:spcBef>
                <a:spcPts val="0"/>
              </a:spcBef>
              <a:spcAft>
                <a:spcPts val="0"/>
              </a:spcAft>
              <a:buSzPts val="1200"/>
              <a:buNone/>
            </a:pPr>
            <a:r>
              <a:rPr sz="1200"/>
              <a:t>« Nous entraînons un Perceptron en direct car il est rapide et permet de montrer le vrai parcours sans faire attendre le jury. Le fichier de sortie est placé dans le dossier temporaire Windows : nous ne remplaçons donc aucun modèle officiel.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COMMENTER DANS LA SORTIE :</a:t>
            </a:r>
          </a:p>
          <a:p xmlns:a="http://schemas.openxmlformats.org/drawingml/2006/main">
            <a:pPr marL="0" indent="0" algn="l">
              <a:spcBef>
                <a:spcPts val="0"/>
              </a:spcBef>
              <a:spcAft>
                <a:spcPts val="0"/>
              </a:spcAft>
              <a:buSzPts val="1200"/>
              <a:buNone/>
            </a:pPr>
            <a:r>
              <a:rPr sz="1200"/>
              <a:t>- 1 852 lignes et 1 024 features ;</a:t>
            </a:r>
          </a:p>
          <a:p xmlns:a="http://schemas.openxmlformats.org/drawingml/2006/main">
            <a:pPr marL="0" indent="0" algn="l">
              <a:spcBef>
                <a:spcPts val="0"/>
              </a:spcBef>
              <a:spcAft>
                <a:spcPts val="0"/>
              </a:spcAft>
              <a:buSzPts val="1200"/>
              <a:buNone/>
            </a:pPr>
            <a:r>
              <a:rPr sz="1200"/>
              <a:t>- paramètres et seed 42 ;</a:t>
            </a:r>
          </a:p>
          <a:p xmlns:a="http://schemas.openxmlformats.org/drawingml/2006/main">
            <a:pPr marL="0" indent="0" algn="l">
              <a:spcBef>
                <a:spcPts val="0"/>
              </a:spcBef>
              <a:spcAft>
                <a:spcPts val="0"/>
              </a:spcAft>
              <a:buSzPts val="1200"/>
              <a:buNone/>
            </a:pPr>
            <a:r>
              <a:rPr sz="1200"/>
              <a:t>- accuracy train et test ;</a:t>
            </a:r>
          </a:p>
          <a:p xmlns:a="http://schemas.openxmlformats.org/drawingml/2006/main">
            <a:pPr marL="0" indent="0" algn="l">
              <a:spcBef>
                <a:spcPts val="0"/>
              </a:spcBef>
              <a:spcAft>
                <a:spcPts val="0"/>
              </a:spcAft>
              <a:buSzPts val="1200"/>
              <a:buNone/>
            </a:pPr>
            <a:r>
              <a:rPr sz="1200"/>
              <a:t>- sauvegarde puis reload accuracy.</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La reload accuracy prouve que le modèle sauvegardé puis rechargé conserve son comportement.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EN CAS DE PROBLÈME : ne pas déboguer longtemps ; montrer la sortie préparée et expliquer la commande.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SzPts val="1200"/>
              <a:buNone/>
            </a:pPr>
            <a:r>
              <a:rPr sz="1200"/>
              <a:t>TEMPS : 2 minutes 30, démonstration comprise</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À DIRE :</a:t>
            </a:r>
          </a:p>
          <a:p xmlns:a="http://schemas.openxmlformats.org/drawingml/2006/main">
            <a:pPr marL="0" indent="0" algn="l">
              <a:spcBef>
                <a:spcPts val="0"/>
              </a:spcBef>
              <a:spcAft>
                <a:spcPts val="0"/>
              </a:spcAft>
              <a:buSzPts val="1200"/>
              <a:buNone/>
            </a:pPr>
            <a:r>
              <a:rPr sz="1200"/>
              <a:t>« Flask lit le manifest et propose les modèles réellement sauvegardés. Nous sélectionnons MLP v2 et téléversons une image. Pillow produit les 1 024 valeurs dans un dossier temporaire. Flask lance predict_cli avec un timeout. predict_cli charge le modèle et renvoie un JSON avec la classe, le score et le type de score. Aucun entraînement n’a lieu ici.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PERCHE :</a:t>
            </a:r>
          </a:p>
          <a:p xmlns:a="http://schemas.openxmlformats.org/drawingml/2006/main">
            <a:pPr marL="0" indent="0" algn="l">
              <a:spcBef>
                <a:spcPts val="0"/>
              </a:spcBef>
              <a:spcAft>
                <a:spcPts val="0"/>
              </a:spcAft>
              <a:buSzPts val="1200"/>
              <a:buNone/>
            </a:pPr>
            <a:r>
              <a:rPr sz="1200"/>
              <a:t>« Nous pouvons suivre la chaîne complète : navigateur, Flask, fichier temporaire, predict_cli, ml_load puis ml_predict. »</a:t>
            </a:r>
          </a:p>
          <a:p xmlns:a="http://schemas.openxmlformats.org/drawingml/2006/main">
            <a:pPr marL="0" indent="0" algn="l">
              <a:spcBef>
                <a:spcPts val="0"/>
              </a:spcBef>
              <a:spcAft>
                <a:spcPts val="0"/>
              </a:spcAft>
              <a:buSzPts val="1200"/>
              <a:buNone/>
            </a:pPr>
            <a:r>
              <a:rPr sz="1200"/>
              <a:t/>
            </a:r>
          </a:p>
          <a:p xmlns:a="http://schemas.openxmlformats.org/drawingml/2006/main">
            <a:pPr marL="0" indent="0" algn="l">
              <a:spcBef>
                <a:spcPts val="0"/>
              </a:spcBef>
              <a:spcAft>
                <a:spcPts val="0"/>
              </a:spcAft>
              <a:buSzPts val="1200"/>
              <a:buNone/>
            </a:pPr>
            <a:r>
              <a:rPr sz="1200"/>
              <a:t>APRÈS LA DÉMO : taper 29 puis Entrée pour aller directement aux questions. Les diapositives 25 à 28 sont des diapositives de secours.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DIAPOSITIVE DE SECOURS — NE PAS LA PRÉSENTER AUTOMATIQUEMENT</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AFFICHER SI LE JURY DEMANDE : « Quel est votre apport technique principal ?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RÉPONSE :</a:t>
            </a:r>
          </a:p>
          <a:p xmlns:a="http://schemas.openxmlformats.org/drawingml/2006/main">
            <a:pPr marL="0" indent="0" algn="l">
              <a:spcBef>
                <a:spcPts val="0"/>
              </a:spcBef>
              <a:spcAft>
                <a:spcPts val="0"/>
              </a:spcAft>
              <a:buNone/>
            </a:pPr>
            <a:r>
              <a:t>« Notre apport principal est l’indépendance du cœur ML : les quatre modèles sont implémentés dans notre bibliothèque et Eigen sert uniquement aux calculs matriciels. Le tuning est également reproductible et documenté. Nous restons prudents sur la notion de performance maximale : nous n’avons pas réalisé de benchmark universel contre les frameworks externes.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POUR REVENIR AUX QUESTIONS : taper 29 puis Entrée.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DIAPOSITIVE DE SECOURS — NE PAS LA PRÉSENTER AUTOMATIQUEMENT</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AFFICHER SI LE JURY DEMANDE : « Qu’avez-vous appris grâce au projet ?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RÉPONSE :</a:t>
            </a:r>
          </a:p>
          <a:p xmlns:a="http://schemas.openxmlformats.org/drawingml/2006/main">
            <a:pPr marL="0" indent="0" algn="l">
              <a:spcBef>
                <a:spcPts val="0"/>
              </a:spcBef>
              <a:spcAft>
                <a:spcPts val="0"/>
              </a:spcAft>
              <a:buNone/>
            </a:pPr>
            <a:r>
              <a:t>« Nous avons mieux compris les calculs matriciels, la descente de gradient, la rétropropagation et le one-vs-rest. Nous avons aussi appris à structurer un projet CMake et à faire communiquer Python avec des exécutables C++. Nous ne revendiquons pas une optimisation SIMD manuelle spécifique si elle n’est pas démontrée : Eigen peut vectoriser certaines opérations en interne.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POUR REVENIR AUX QUESTIONS : taper 29 puis Entrée.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DIAPOSITIVE DE SECOURS — NE PAS LA PRÉSENTER AUTOMATIQUEMENT</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AFFICHER SI LE JURY DEMANDE : « Quelle a été la principale difficulté ?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RÉPONSE :</a:t>
            </a:r>
          </a:p>
          <a:p xmlns:a="http://schemas.openxmlformats.org/drawingml/2006/main">
            <a:pPr marL="0" indent="0" algn="l">
              <a:spcBef>
                <a:spcPts val="0"/>
              </a:spcBef>
              <a:spcAft>
                <a:spcPts val="0"/>
              </a:spcAft>
              <a:buNone/>
            </a:pPr>
            <a:r>
              <a:t>« La première difficulté a été de construire un dataset propre, sans doublon et reproductible. La seconde a été de garder une architecture locale cohérente entre entraînement et web. Enfin, le RBF nous a obligés à analyser les activations au lieu de regarder uniquement l’accuracy. Si nous recommencions, nous fixerions le dataset canonique et le protocole d’évaluation dès le début.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POUR REVENIR AUX QUESTIONS : taper 29 puis Entrée.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DIAPOSITIVE DE SECOURS — NE PAS LA PRÉSENTER AUTOMATIQUEMENT</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AFFICHER SI LE JURY DEMANDE : « Comment pourriez-vous aller plus loin ?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RÉPONSE :</a:t>
            </a:r>
          </a:p>
          <a:p xmlns:a="http://schemas.openxmlformats.org/drawingml/2006/main">
            <a:pPr marL="0" indent="0" algn="l">
              <a:spcBef>
                <a:spcPts val="0"/>
              </a:spcBef>
              <a:spcAft>
                <a:spcPts val="0"/>
              </a:spcAft>
              <a:buNone/>
            </a:pPr>
            <a:r>
              <a:t>« WebAssembly permettrait éventuellement d’exécuter le moteur C++ dans le navigateur. CUDA ou un CNN seraient d’autres pistes pour des images plus complexes. Ce ne sont pas des technologies utilisées dans le rendu actuel. Avant cela, la priorité serait d’améliorer le dataset et le prétraitement, car 32 par 32 en gris supprime beaucoup d’informations.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POUR REVENIR AUX QUESTIONS : taper 29 puis Entrée.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TEMPS : 10 secondes, puis échanges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À DIRE :</a:t>
            </a:r>
          </a:p>
          <a:p xmlns:a="http://schemas.openxmlformats.org/drawingml/2006/main">
            <a:pPr marL="0" indent="0" algn="l">
              <a:spcBef>
                <a:spcPts val="0"/>
              </a:spcBef>
              <a:spcAft>
                <a:spcPts val="0"/>
              </a:spcAft>
              <a:buNone/>
            </a:pPr>
            <a:r>
              <a:t>« Merci pour votre attention. Nous pouvons revenir sur le choix de la seed 42, le protocole sans fuite, le tuning du MLP, la correction du RBF ou le chemin entre Flask et le C++. »</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RACCOURCIS VERS LES RÉPONSES PRÉPARÉES :</a:t>
            </a:r>
          </a:p>
          <a:p xmlns:a="http://schemas.openxmlformats.org/drawingml/2006/main">
            <a:pPr marL="0" indent="0" algn="l">
              <a:spcBef>
                <a:spcPts val="0"/>
              </a:spcBef>
              <a:spcAft>
                <a:spcPts val="0"/>
              </a:spcAft>
              <a:buNone/>
            </a:pPr>
            <a:r>
              <a:t>- architecture entraînement / web : diapositive 8 ;</a:t>
            </a:r>
          </a:p>
          <a:p xmlns:a="http://schemas.openxmlformats.org/drawingml/2006/main">
            <a:pPr marL="0" indent="0" algn="l">
              <a:spcBef>
                <a:spcPts val="0"/>
              </a:spcBef>
              <a:spcAft>
                <a:spcPts val="0"/>
              </a:spcAft>
              <a:buNone/>
            </a:pPr>
            <a:r>
              <a:t>- seed 42 et fuite de données : diapositive 15 ;</a:t>
            </a:r>
          </a:p>
          <a:p xmlns:a="http://schemas.openxmlformats.org/drawingml/2006/main">
            <a:pPr marL="0" indent="0" algn="l">
              <a:spcBef>
                <a:spcPts val="0"/>
              </a:spcBef>
              <a:spcAft>
                <a:spcPts val="0"/>
              </a:spcAft>
              <a:buNone/>
            </a:pPr>
            <a:r>
              <a:t>- RBF tout Gothique : diapositives 18 et 19 ;</a:t>
            </a:r>
          </a:p>
          <a:p xmlns:a="http://schemas.openxmlformats.org/drawingml/2006/main">
            <a:pPr marL="0" indent="0" algn="l">
              <a:spcBef>
                <a:spcPts val="0"/>
              </a:spcBef>
              <a:spcAft>
                <a:spcPts val="0"/>
              </a:spcAft>
              <a:buNone/>
            </a:pPr>
            <a:r>
              <a:t>- choix et limite du MLP : diapositive 20 ;</a:t>
            </a:r>
          </a:p>
          <a:p xmlns:a="http://schemas.openxmlformats.org/drawingml/2006/main">
            <a:pPr marL="0" indent="0" algn="l">
              <a:spcBef>
                <a:spcPts val="0"/>
              </a:spcBef>
              <a:spcAft>
                <a:spcPts val="0"/>
              </a:spcAft>
              <a:buNone/>
            </a:pPr>
            <a:r>
              <a:t>- apport technique : diapositive 25 ;</a:t>
            </a:r>
          </a:p>
          <a:p xmlns:a="http://schemas.openxmlformats.org/drawingml/2006/main">
            <a:pPr marL="0" indent="0" algn="l">
              <a:spcBef>
                <a:spcPts val="0"/>
              </a:spcBef>
              <a:spcAft>
                <a:spcPts val="0"/>
              </a:spcAft>
              <a:buNone/>
            </a:pPr>
            <a:r>
              <a:t>- apprentissages : diapositive 26 ;</a:t>
            </a:r>
          </a:p>
          <a:p xmlns:a="http://schemas.openxmlformats.org/drawingml/2006/main">
            <a:pPr marL="0" indent="0" algn="l">
              <a:spcBef>
                <a:spcPts val="0"/>
              </a:spcBef>
              <a:spcAft>
                <a:spcPts val="0"/>
              </a:spcAft>
              <a:buNone/>
            </a:pPr>
            <a:r>
              <a:t>- difficultés : diapositive 27 ;</a:t>
            </a:r>
          </a:p>
          <a:p xmlns:a="http://schemas.openxmlformats.org/drawingml/2006/main">
            <a:pPr marL="0" indent="0" algn="l">
              <a:spcBef>
                <a:spcPts val="0"/>
              </a:spcBef>
              <a:spcAft>
                <a:spcPts val="0"/>
              </a:spcAft>
              <a:buNone/>
            </a:pPr>
            <a:r>
              <a:t>- perspectives : diapositive 28.</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Pour naviguer dans PowerPoint : taper le numéro de la diapositive puis Entrée.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f0d7bcbe9547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f413961bbd43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27f0eaec3443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9fee73e16042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7b751fec2f44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10aaf0ae4542f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25fc930ebad46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cfc9a371dfe4c3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6be8890faf44fa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ee82bac6f3d402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e457d121b44438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f331084f46645e8"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eb0bc3b2413440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ec52e26885af427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72eb28c311a9411f"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67f3b529fe78492a"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81c8fbe09bf2475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c20ba7c386954033"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43985b3763464ee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a9599bab364c412f"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d725602c041a4750"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6c2779c6421c4e97"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d1a24c90a6414570"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9D34CDE-964D-49AA-B546-6168250C8E1F}"/>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 name="Google Shape;12;p2">
            <a:extLst xmlns:a="http://schemas.openxmlformats.org/drawingml/2006/main">
              <a:ext uri="{FF2B5EF4-FFF2-40B4-BE49-F238E27FC236}">
                <a16:creationId xmlns:a16="http://schemas.microsoft.com/office/drawing/2014/main" id="{89ADB66E-89BC-4090-9019-FE531CDC47F4}"/>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 name="Google Shape;13;p2">
            <a:extLst xmlns:a="http://schemas.openxmlformats.org/drawingml/2006/main">
              <a:ext uri="{FF2B5EF4-FFF2-40B4-BE49-F238E27FC236}">
                <a16:creationId xmlns:a16="http://schemas.microsoft.com/office/drawing/2014/main" id="{932B60A3-1719-4229-9053-677E5F9FA9BF}"/>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 name="Google Shape;14;p2">
            <a:extLst xmlns:a="http://schemas.openxmlformats.org/drawingml/2006/main">
              <a:ext uri="{FF2B5EF4-FFF2-40B4-BE49-F238E27FC236}">
                <a16:creationId xmlns:a16="http://schemas.microsoft.com/office/drawing/2014/main" id="{0B6B5313-8ECE-455D-8DF7-F987F521C197}"/>
              </a:ext>
            </a:extLst>
          </p:cNvPr>
          <p:cNvSpPr>
            <a:spLocks xmlns:a="http://schemas.openxmlformats.org/drawingml/2006/main" noGrp="1"/>
          </p:cNvSpPr>
          <p:nvPr>
            <p:ph type="ctrTitle" idx="0"/>
          </p:nvPr>
        </p:nvSpPr>
        <p:spPr>
          <a:xfrm xmlns:a="http://schemas.openxmlformats.org/drawingml/2006/main">
            <a:off x="729450" y="1322450"/>
            <a:ext cx="7688100" cy="1664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4200"/>
              <a:buNone/>
              <a:defRPr sz="4200"/>
            </a:lvl1pPr>
            <a:lvl2pPr>
              <a:spcBef>
                <a:spcPts val="0"/>
              </a:spcBef>
              <a:spcAft>
                <a:spcPts val="0"/>
              </a:spcAft>
              <a:buSzPts val="4200"/>
              <a:buNone/>
              <a:defRPr sz="4200"/>
            </a:lvl2pPr>
            <a:lvl3pPr>
              <a:spcBef>
                <a:spcPts val="0"/>
              </a:spcBef>
              <a:spcAft>
                <a:spcPts val="0"/>
              </a:spcAft>
              <a:buSzPts val="4200"/>
              <a:buNone/>
              <a:defRPr sz="4200"/>
            </a:lvl3pPr>
            <a:lvl4pPr>
              <a:spcBef>
                <a:spcPts val="0"/>
              </a:spcBef>
              <a:spcAft>
                <a:spcPts val="0"/>
              </a:spcAft>
              <a:buSzPts val="4200"/>
              <a:buNone/>
              <a:defRPr sz="4200"/>
            </a:lvl4pPr>
            <a:lvl5pPr>
              <a:spcBef>
                <a:spcPts val="0"/>
              </a:spcBef>
              <a:spcAft>
                <a:spcPts val="0"/>
              </a:spcAft>
              <a:buSzPts val="4200"/>
              <a:buNone/>
              <a:defRPr sz="4200"/>
            </a:lvl5pPr>
            <a:lvl6pPr>
              <a:spcBef>
                <a:spcPts val="0"/>
              </a:spcBef>
              <a:spcAft>
                <a:spcPts val="0"/>
              </a:spcAft>
              <a:buSzPts val="4200"/>
              <a:buNone/>
              <a:defRPr sz="4200"/>
            </a:lvl6pPr>
            <a:lvl7pPr>
              <a:spcBef>
                <a:spcPts val="0"/>
              </a:spcBef>
              <a:spcAft>
                <a:spcPts val="0"/>
              </a:spcAft>
              <a:buSzPts val="4200"/>
              <a:buNone/>
              <a:defRPr sz="4200"/>
            </a:lvl7pPr>
            <a:lvl8pPr>
              <a:spcBef>
                <a:spcPts val="0"/>
              </a:spcBef>
              <a:spcAft>
                <a:spcPts val="0"/>
              </a:spcAft>
              <a:buSzPts val="4200"/>
              <a:buNone/>
              <a:defRPr sz="4200"/>
            </a:lvl8pPr>
            <a:lvl9pPr>
              <a:spcBef>
                <a:spcPts val="0"/>
              </a:spcBef>
              <a:spcAft>
                <a:spcPts val="0"/>
              </a:spcAft>
              <a:buSzPts val="4200"/>
              <a:buNone/>
              <a:defRPr sz="4200"/>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44B3A14-2C9C-48CD-AF6D-43F0F1B82C51}"/>
              </a:ext>
            </a:extLst>
          </p:cNvPr>
          <p:cNvSpPr>
            <a:spLocks xmlns:a="http://schemas.openxmlformats.org/drawingml/2006/main" noGrp="1"/>
          </p:cNvSpPr>
          <p:nvPr>
            <p:ph type="subTitle" idx="1"/>
          </p:nvPr>
        </p:nvSpPr>
        <p:spPr>
          <a:xfrm xmlns:a="http://schemas.openxmlformats.org/drawingml/2006/main">
            <a:off x="729627" y="3172900"/>
            <a:ext cx="7688100" cy="541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SzPts val="1600"/>
              <a:buNone/>
              <a:defRPr sz="1600"/>
            </a:lvl1pPr>
            <a:lvl2pPr>
              <a:lnSpc>
                <a:spcPct val="100000"/>
              </a:lnSpc>
              <a:spcBef>
                <a:spcPts val="0"/>
              </a:spcBef>
              <a:spcAft>
                <a:spcPts val="0"/>
              </a:spcAft>
              <a:buSzPts val="1600"/>
              <a:buNone/>
              <a:defRPr sz="1600"/>
            </a:lvl2pPr>
            <a:lvl3pPr>
              <a:lnSpc>
                <a:spcPct val="100000"/>
              </a:lnSpc>
              <a:spcBef>
                <a:spcPts val="0"/>
              </a:spcBef>
              <a:spcAft>
                <a:spcPts val="0"/>
              </a:spcAft>
              <a:buSzPts val="1600"/>
              <a:buNone/>
              <a:defRPr sz="1600"/>
            </a:lvl3pPr>
            <a:lvl4pPr>
              <a:lnSpc>
                <a:spcPct val="100000"/>
              </a:lnSpc>
              <a:spcBef>
                <a:spcPts val="0"/>
              </a:spcBef>
              <a:spcAft>
                <a:spcPts val="0"/>
              </a:spcAft>
              <a:buSzPts val="1600"/>
              <a:buNone/>
              <a:defRPr sz="1600"/>
            </a:lvl4pPr>
            <a:lvl5pPr>
              <a:lnSpc>
                <a:spcPct val="100000"/>
              </a:lnSpc>
              <a:spcBef>
                <a:spcPts val="0"/>
              </a:spcBef>
              <a:spcAft>
                <a:spcPts val="0"/>
              </a:spcAft>
              <a:buSzPts val="1600"/>
              <a:buNone/>
              <a:defRPr sz="1600"/>
            </a:lvl5pPr>
            <a:lvl6pPr>
              <a:lnSpc>
                <a:spcPct val="100000"/>
              </a:lnSpc>
              <a:spcBef>
                <a:spcPts val="0"/>
              </a:spcBef>
              <a:spcAft>
                <a:spcPts val="0"/>
              </a:spcAft>
              <a:buSzPts val="1600"/>
              <a:buNone/>
              <a:defRPr sz="1600"/>
            </a:lvl6pPr>
            <a:lvl7pPr>
              <a:lnSpc>
                <a:spcPct val="100000"/>
              </a:lnSpc>
              <a:spcBef>
                <a:spcPts val="0"/>
              </a:spcBef>
              <a:spcAft>
                <a:spcPts val="0"/>
              </a:spcAft>
              <a:buSzPts val="1600"/>
              <a:buNone/>
              <a:defRPr sz="1600"/>
            </a:lvl7pPr>
            <a:lvl8pPr>
              <a:lnSpc>
                <a:spcPct val="100000"/>
              </a:lnSpc>
              <a:spcBef>
                <a:spcPts val="0"/>
              </a:spcBef>
              <a:spcAft>
                <a:spcPts val="0"/>
              </a:spcAft>
              <a:buSzPts val="1600"/>
              <a:buNone/>
              <a:defRPr sz="1600"/>
            </a:lvl8pPr>
            <a:lvl9pPr>
              <a:lnSpc>
                <a:spcPct val="100000"/>
              </a:lnSpc>
              <a:spcBef>
                <a:spcPts val="0"/>
              </a:spcBef>
              <a:spcAft>
                <a:spcPts val="0"/>
              </a:spcAft>
              <a:buSzPts val="1600"/>
              <a:buNone/>
              <a:defRPr sz="1600"/>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27AB24DA-B4CE-4551-9B52-54E4800191C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Section header" type="secHead">
  <p:cSld name="SECTION_HEADER">
    <p:bg>
      <p:bgPr>
        <a:solidFill xmlns:a="http://schemas.openxmlformats.org/drawingml/2006/main">
          <a:schemeClr val="dk1"/>
        </a:solidFill>
      </p:bgPr>
    </p:bg>
    <p:spTree>
      <p:nvGrpSpPr>
        <p:cNvPr id="1" name=""/>
        <p:cNvGrpSpPr/>
        <p:nvPr/>
      </p:nvGrpSpPr>
      <p:grpSpPr>
        <a:xfrm xmlns:a="http://schemas.openxmlformats.org/drawingml/2006/main"/>
      </p:grpSpPr>
      <p:sp>
        <p:nvSpPr>
          <p:cNvPr id="19" name="Google Shape;19;p3">
            <a:extLst xmlns:a="http://schemas.openxmlformats.org/drawingml/2006/main">
              <a:ext uri="{FF2B5EF4-FFF2-40B4-BE49-F238E27FC236}">
                <a16:creationId xmlns:a16="http://schemas.microsoft.com/office/drawing/2014/main" id="{493DA66E-62F1-4A31-B71C-43CCC44B3D04}"/>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 name="Google Shape;20;p3">
            <a:extLst xmlns:a="http://schemas.openxmlformats.org/drawingml/2006/main">
              <a:ext uri="{FF2B5EF4-FFF2-40B4-BE49-F238E27FC236}">
                <a16:creationId xmlns:a16="http://schemas.microsoft.com/office/drawing/2014/main" id="{04F1BFE3-5BB5-47FE-A6CA-C16A73CB4498}"/>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55B77ACE-E58E-4F68-BD50-CE444F62E4D3}"/>
              </a:ext>
            </a:extLst>
          </p:cNvPr>
          <p:cNvSpPr>
            <a:spLocks xmlns:a="http://schemas.openxmlformats.org/drawingml/2006/main" noGrp="1"/>
          </p:cNvSpPr>
          <p:nvPr>
            <p:ph type="title" idx="0"/>
          </p:nvPr>
        </p:nvSpPr>
        <p:spPr>
          <a:xfrm xmlns:a="http://schemas.openxmlformats.org/drawingml/2006/main">
            <a:off x="729450" y="1322450"/>
            <a:ext cx="7688400" cy="151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3600"/>
              <a:buNone/>
              <a:defRPr sz="3600">
                <a:solidFill>
                  <a:schemeClr val="lt1"/>
                </a:solidFill>
              </a:defRPr>
            </a:lvl1pPr>
            <a:lvl2pPr>
              <a:spcBef>
                <a:spcPts val="0"/>
              </a:spcBef>
              <a:spcAft>
                <a:spcPts val="0"/>
              </a:spcAft>
              <a:buClr>
                <a:schemeClr val="lt1"/>
              </a:buClr>
              <a:buSzPts val="3600"/>
              <a:buNone/>
              <a:defRPr sz="3600">
                <a:solidFill>
                  <a:schemeClr val="lt1"/>
                </a:solidFill>
              </a:defRPr>
            </a:lvl2pPr>
            <a:lvl3pPr>
              <a:spcBef>
                <a:spcPts val="0"/>
              </a:spcBef>
              <a:spcAft>
                <a:spcPts val="0"/>
              </a:spcAft>
              <a:buClr>
                <a:schemeClr val="lt1"/>
              </a:buClr>
              <a:buSzPts val="3600"/>
              <a:buNone/>
              <a:defRPr sz="3600">
                <a:solidFill>
                  <a:schemeClr val="lt1"/>
                </a:solidFill>
              </a:defRPr>
            </a:lvl3pPr>
            <a:lvl4pPr>
              <a:spcBef>
                <a:spcPts val="0"/>
              </a:spcBef>
              <a:spcAft>
                <a:spcPts val="0"/>
              </a:spcAft>
              <a:buClr>
                <a:schemeClr val="lt1"/>
              </a:buClr>
              <a:buSzPts val="3600"/>
              <a:buNone/>
              <a:defRPr sz="3600">
                <a:solidFill>
                  <a:schemeClr val="lt1"/>
                </a:solidFill>
              </a:defRPr>
            </a:lvl4pPr>
            <a:lvl5pPr>
              <a:spcBef>
                <a:spcPts val="0"/>
              </a:spcBef>
              <a:spcAft>
                <a:spcPts val="0"/>
              </a:spcAft>
              <a:buClr>
                <a:schemeClr val="lt1"/>
              </a:buClr>
              <a:buSzPts val="3600"/>
              <a:buNone/>
              <a:defRPr sz="3600">
                <a:solidFill>
                  <a:schemeClr val="lt1"/>
                </a:solidFill>
              </a:defRPr>
            </a:lvl5pPr>
            <a:lvl6pPr>
              <a:spcBef>
                <a:spcPts val="0"/>
              </a:spcBef>
              <a:spcAft>
                <a:spcPts val="0"/>
              </a:spcAft>
              <a:buClr>
                <a:schemeClr val="lt1"/>
              </a:buClr>
              <a:buSzPts val="3600"/>
              <a:buNone/>
              <a:defRPr sz="3600">
                <a:solidFill>
                  <a:schemeClr val="lt1"/>
                </a:solidFill>
              </a:defRPr>
            </a:lvl6pPr>
            <a:lvl7pPr>
              <a:spcBef>
                <a:spcPts val="0"/>
              </a:spcBef>
              <a:spcAft>
                <a:spcPts val="0"/>
              </a:spcAft>
              <a:buClr>
                <a:schemeClr val="lt1"/>
              </a:buClr>
              <a:buSzPts val="3600"/>
              <a:buNone/>
              <a:defRPr sz="3600">
                <a:solidFill>
                  <a:schemeClr val="lt1"/>
                </a:solidFill>
              </a:defRPr>
            </a:lvl7pPr>
            <a:lvl8pPr>
              <a:spcBef>
                <a:spcPts val="0"/>
              </a:spcBef>
              <a:spcAft>
                <a:spcPts val="0"/>
              </a:spcAft>
              <a:buClr>
                <a:schemeClr val="lt1"/>
              </a:buClr>
              <a:buSzPts val="3600"/>
              <a:buNone/>
              <a:defRPr sz="3600">
                <a:solidFill>
                  <a:schemeClr val="lt1"/>
                </a:solidFill>
              </a:defRPr>
            </a:lvl8pPr>
            <a:lvl9pPr>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DE721AC5-7C6E-41B4-B31D-B5D59BF59F9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24" name="Google Shape;24;p4">
            <a:extLst xmlns:a="http://schemas.openxmlformats.org/drawingml/2006/main">
              <a:ext uri="{FF2B5EF4-FFF2-40B4-BE49-F238E27FC236}">
                <a16:creationId xmlns:a16="http://schemas.microsoft.com/office/drawing/2014/main" id="{4A173EDA-44FB-44A3-8F80-04B594E5ED1D}"/>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 name="Google Shape;26;p4">
            <a:extLst xmlns:a="http://schemas.openxmlformats.org/drawingml/2006/main">
              <a:ext uri="{FF2B5EF4-FFF2-40B4-BE49-F238E27FC236}">
                <a16:creationId xmlns:a16="http://schemas.microsoft.com/office/drawing/2014/main" id="{08513977-B266-4FFC-9FBE-E86EB4E84793}"/>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 name="Google Shape;27;p4">
            <a:extLst xmlns:a="http://schemas.openxmlformats.org/drawingml/2006/main">
              <a:ext uri="{FF2B5EF4-FFF2-40B4-BE49-F238E27FC236}">
                <a16:creationId xmlns:a16="http://schemas.microsoft.com/office/drawing/2014/main" id="{9FE1B3DE-E07F-40BC-AD87-027C4A65338B}"/>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 name="Google Shape;28;p4">
            <a:extLst xmlns:a="http://schemas.openxmlformats.org/drawingml/2006/main">
              <a:ext uri="{FF2B5EF4-FFF2-40B4-BE49-F238E27FC236}">
                <a16:creationId xmlns:a16="http://schemas.microsoft.com/office/drawing/2014/main" id="{F55BAB14-F450-4440-B56D-15CFAA0D9F7A}"/>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D719CE90-1DBB-4E82-A688-147284C0C020}"/>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EFCA6022-362D-4FD2-B4BC-CBA137D79FC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2E68E2A8-48A3-4651-A9AE-8898EF3F3C5E}"/>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 name="Google Shape;34;p5">
            <a:extLst xmlns:a="http://schemas.openxmlformats.org/drawingml/2006/main">
              <a:ext uri="{FF2B5EF4-FFF2-40B4-BE49-F238E27FC236}">
                <a16:creationId xmlns:a16="http://schemas.microsoft.com/office/drawing/2014/main" id="{BE5DB669-4283-4A8B-82D2-B349156709D5}"/>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 name="Google Shape;35;p5">
            <a:extLst xmlns:a="http://schemas.openxmlformats.org/drawingml/2006/main">
              <a:ext uri="{FF2B5EF4-FFF2-40B4-BE49-F238E27FC236}">
                <a16:creationId xmlns:a16="http://schemas.microsoft.com/office/drawing/2014/main" id="{886E7EB5-5BC9-47A0-A07F-29CB28D7204A}"/>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 name="Google Shape;36;p5">
            <a:extLst xmlns:a="http://schemas.openxmlformats.org/drawingml/2006/main">
              <a:ext uri="{FF2B5EF4-FFF2-40B4-BE49-F238E27FC236}">
                <a16:creationId xmlns:a16="http://schemas.microsoft.com/office/drawing/2014/main" id="{08DD25C9-6EAC-45B3-A822-0C135637B3F3}"/>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31FE51CA-8BDD-4A55-9865-88A454AF4C8B}"/>
              </a:ext>
            </a:extLst>
          </p:cNvPr>
          <p:cNvSpPr>
            <a:spLocks xmlns:a="http://schemas.openxmlformats.org/drawingml/2006/main" noGrp="1"/>
          </p:cNvSpPr>
          <p:nvPr>
            <p:ph type="body" idx="1"/>
          </p:nvPr>
        </p:nvSpPr>
        <p:spPr>
          <a:xfrm xmlns:a="http://schemas.openxmlformats.org/drawingml/2006/main">
            <a:off x="729325" y="2078875"/>
            <a:ext cx="37743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38" name="Google Shape;38;p5">
            <a:extLst xmlns:a="http://schemas.openxmlformats.org/drawingml/2006/main">
              <a:ext uri="{FF2B5EF4-FFF2-40B4-BE49-F238E27FC236}">
                <a16:creationId xmlns:a16="http://schemas.microsoft.com/office/drawing/2014/main" id="{A73FFD74-B98A-4819-B8AC-6F97CE965D34}"/>
              </a:ext>
            </a:extLst>
          </p:cNvPr>
          <p:cNvSpPr>
            <a:spLocks xmlns:a="http://schemas.openxmlformats.org/drawingml/2006/main" noGrp="1"/>
          </p:cNvSpPr>
          <p:nvPr>
            <p:ph type="body" idx="2"/>
          </p:nvPr>
        </p:nvSpPr>
        <p:spPr>
          <a:xfrm xmlns:a="http://schemas.openxmlformats.org/drawingml/2006/main">
            <a:off x="4643604" y="2078875"/>
            <a:ext cx="37743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39" name="Google Shape;39;p5">
            <a:extLst xmlns:a="http://schemas.openxmlformats.org/drawingml/2006/main">
              <a:ext uri="{FF2B5EF4-FFF2-40B4-BE49-F238E27FC236}">
                <a16:creationId xmlns:a16="http://schemas.microsoft.com/office/drawing/2014/main" id="{DECB0338-D2E6-4768-8C5D-15FDF2538980}"/>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41" name="Google Shape;41;p6">
            <a:extLst xmlns:a="http://schemas.openxmlformats.org/drawingml/2006/main">
              <a:ext uri="{FF2B5EF4-FFF2-40B4-BE49-F238E27FC236}">
                <a16:creationId xmlns:a16="http://schemas.microsoft.com/office/drawing/2014/main" id="{D17BD1BA-EF7E-42D7-AD9F-23333F6389E3}"/>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 name="Google Shape;43;p6">
            <a:extLst xmlns:a="http://schemas.openxmlformats.org/drawingml/2006/main">
              <a:ext uri="{FF2B5EF4-FFF2-40B4-BE49-F238E27FC236}">
                <a16:creationId xmlns:a16="http://schemas.microsoft.com/office/drawing/2014/main" id="{C467B2B6-1D22-4802-AD56-10E61C68B3A1}"/>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 name="Google Shape;44;p6">
            <a:extLst xmlns:a="http://schemas.openxmlformats.org/drawingml/2006/main">
              <a:ext uri="{FF2B5EF4-FFF2-40B4-BE49-F238E27FC236}">
                <a16:creationId xmlns:a16="http://schemas.microsoft.com/office/drawing/2014/main" id="{2A49DEBA-A8BF-43D9-93E4-3D0238BEBBBB}"/>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 name="Google Shape;45;p6">
            <a:extLst xmlns:a="http://schemas.openxmlformats.org/drawingml/2006/main">
              <a:ext uri="{FF2B5EF4-FFF2-40B4-BE49-F238E27FC236}">
                <a16:creationId xmlns:a16="http://schemas.microsoft.com/office/drawing/2014/main" id="{D022F9DA-4909-442F-BB33-AFF599BC4763}"/>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B4AFB6F5-F6EF-489D-8F35-6B842A85E3E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24F883C3-54CD-489A-AE70-AA6B61D3840E}"/>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 name="Google Shape;50;p7">
            <a:extLst xmlns:a="http://schemas.openxmlformats.org/drawingml/2006/main">
              <a:ext uri="{FF2B5EF4-FFF2-40B4-BE49-F238E27FC236}">
                <a16:creationId xmlns:a16="http://schemas.microsoft.com/office/drawing/2014/main" id="{D22AA89B-562A-4326-8AA0-265F1F693EF5}"/>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7">
            <a:extLst xmlns:a="http://schemas.openxmlformats.org/drawingml/2006/main">
              <a:ext uri="{FF2B5EF4-FFF2-40B4-BE49-F238E27FC236}">
                <a16:creationId xmlns:a16="http://schemas.microsoft.com/office/drawing/2014/main" id="{3E4AC46B-2FF9-4928-A746-F710EBE27AC9}"/>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 name="Google Shape;52;p7">
            <a:extLst xmlns:a="http://schemas.openxmlformats.org/drawingml/2006/main">
              <a:ext uri="{FF2B5EF4-FFF2-40B4-BE49-F238E27FC236}">
                <a16:creationId xmlns:a16="http://schemas.microsoft.com/office/drawing/2014/main" id="{225DAC30-A618-478F-8841-02E40B72E3E0}"/>
              </a:ext>
            </a:extLst>
          </p:cNvPr>
          <p:cNvSpPr>
            <a:spLocks xmlns:a="http://schemas.openxmlformats.org/drawingml/2006/main" noGrp="1"/>
          </p:cNvSpPr>
          <p:nvPr>
            <p:ph type="title" idx="0"/>
          </p:nvPr>
        </p:nvSpPr>
        <p:spPr>
          <a:xfrm xmlns:a="http://schemas.openxmlformats.org/drawingml/2006/main">
            <a:off x="730000" y="1318650"/>
            <a:ext cx="3300900" cy="1381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53" name="Google Shape;53;p7">
            <a:extLst xmlns:a="http://schemas.openxmlformats.org/drawingml/2006/main">
              <a:ext uri="{FF2B5EF4-FFF2-40B4-BE49-F238E27FC236}">
                <a16:creationId xmlns:a16="http://schemas.microsoft.com/office/drawing/2014/main" id="{E1E3ABBF-F4B3-4400-8DFD-02A42FF77941}"/>
              </a:ext>
            </a:extLst>
          </p:cNvPr>
          <p:cNvSpPr>
            <a:spLocks xmlns:a="http://schemas.openxmlformats.org/drawingml/2006/main" noGrp="1"/>
          </p:cNvSpPr>
          <p:nvPr>
            <p:ph type="body" idx="1"/>
          </p:nvPr>
        </p:nvSpPr>
        <p:spPr>
          <a:xfrm xmlns:a="http://schemas.openxmlformats.org/drawingml/2006/main">
            <a:off x="721225" y="2781725"/>
            <a:ext cx="3300900" cy="1597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54" name="Google Shape;54;p7">
            <a:extLst xmlns:a="http://schemas.openxmlformats.org/drawingml/2006/main">
              <a:ext uri="{FF2B5EF4-FFF2-40B4-BE49-F238E27FC236}">
                <a16:creationId xmlns:a16="http://schemas.microsoft.com/office/drawing/2014/main" id="{F7FF61E4-CB79-4736-8F81-A87CDC86FEA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accent3"/>
        </a:solidFill>
      </p:bgPr>
    </p:bg>
    <p:spTree>
      <p:nvGrpSpPr>
        <p:cNvPr id="1" name=""/>
        <p:cNvGrpSpPr/>
        <p:nvPr/>
      </p:nvGrpSpPr>
      <p:grpSpPr>
        <a:xfrm xmlns:a="http://schemas.openxmlformats.org/drawingml/2006/main"/>
      </p:grpSpPr>
      <p:sp>
        <p:nvSpPr>
          <p:cNvPr id="57" name="Google Shape;57;p8">
            <a:extLst xmlns:a="http://schemas.openxmlformats.org/drawingml/2006/main">
              <a:ext uri="{FF2B5EF4-FFF2-40B4-BE49-F238E27FC236}">
                <a16:creationId xmlns:a16="http://schemas.microsoft.com/office/drawing/2014/main" id="{6C92C178-0BFE-4DD4-82FB-D6174FF52022}"/>
              </a:ext>
            </a:extLst>
          </p:cNvPr>
          <p:cNvSpPr>
            <a:spLocks xmlns:a="http://schemas.openxmlformats.org/drawingml/2006/main" noGrp="1"/>
          </p:cNvSpPr>
          <p:nvPr/>
        </p:nvSpPr>
        <p:spPr>
          <a:xfrm xmlns:a="http://schemas.openxmlformats.org/drawingml/2006/main" rot="-5400000" flipH="0" flipV="0">
            <a:off x="1380898" y="3708142"/>
            <a:ext cx="17655" cy="967801"/>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 name="Google Shape;58;p8">
            <a:extLst xmlns:a="http://schemas.openxmlformats.org/drawingml/2006/main">
              <a:ext uri="{FF2B5EF4-FFF2-40B4-BE49-F238E27FC236}">
                <a16:creationId xmlns:a16="http://schemas.microsoft.com/office/drawing/2014/main" id="{AA16CA74-61F8-485A-AA8C-5FE97BDEFC2C}"/>
              </a:ext>
            </a:extLst>
          </p:cNvPr>
          <p:cNvSpPr>
            <a:spLocks xmlns:a="http://schemas.openxmlformats.org/drawingml/2006/main" noGrp="1"/>
          </p:cNvSpPr>
          <p:nvPr/>
        </p:nvSpPr>
        <p:spPr>
          <a:xfrm xmlns:a="http://schemas.openxmlformats.org/drawingml/2006/main" rot="-5400000" flipH="0" flipV="0">
            <a:off x="1009571" y="3704050"/>
            <a:ext cx="17655" cy="975984"/>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 name="Google Shape;59;p8">
            <a:extLst xmlns:a="http://schemas.openxmlformats.org/drawingml/2006/main">
              <a:ext uri="{FF2B5EF4-FFF2-40B4-BE49-F238E27FC236}">
                <a16:creationId xmlns:a16="http://schemas.microsoft.com/office/drawing/2014/main" id="{E553C6C7-3DE2-4EC6-8BAE-3835B5A4C1B9}"/>
              </a:ext>
            </a:extLst>
          </p:cNvPr>
          <p:cNvSpPr>
            <a:spLocks xmlns:a="http://schemas.openxmlformats.org/drawingml/2006/main" noGrp="1"/>
          </p:cNvSpPr>
          <p:nvPr>
            <p:ph type="title" idx="0"/>
          </p:nvPr>
        </p:nvSpPr>
        <p:spPr>
          <a:xfrm xmlns:a="http://schemas.openxmlformats.org/drawingml/2006/main">
            <a:off x="729450" y="864300"/>
            <a:ext cx="7021200" cy="29850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Clr>
                <a:schemeClr val="lt1"/>
              </a:buClr>
              <a:buSzPts val="3600"/>
              <a:buNone/>
              <a:defRPr sz="3600">
                <a:solidFill>
                  <a:schemeClr val="lt1"/>
                </a:solidFill>
              </a:defRPr>
            </a:lvl1pPr>
            <a:lvl2pPr>
              <a:spcBef>
                <a:spcPts val="0"/>
              </a:spcBef>
              <a:spcAft>
                <a:spcPts val="0"/>
              </a:spcAft>
              <a:buClr>
                <a:schemeClr val="lt1"/>
              </a:buClr>
              <a:buSzPts val="3600"/>
              <a:buNone/>
              <a:defRPr sz="3600">
                <a:solidFill>
                  <a:schemeClr val="lt1"/>
                </a:solidFill>
              </a:defRPr>
            </a:lvl2pPr>
            <a:lvl3pPr>
              <a:spcBef>
                <a:spcPts val="0"/>
              </a:spcBef>
              <a:spcAft>
                <a:spcPts val="0"/>
              </a:spcAft>
              <a:buClr>
                <a:schemeClr val="lt1"/>
              </a:buClr>
              <a:buSzPts val="3600"/>
              <a:buNone/>
              <a:defRPr sz="3600">
                <a:solidFill>
                  <a:schemeClr val="lt1"/>
                </a:solidFill>
              </a:defRPr>
            </a:lvl3pPr>
            <a:lvl4pPr>
              <a:spcBef>
                <a:spcPts val="0"/>
              </a:spcBef>
              <a:spcAft>
                <a:spcPts val="0"/>
              </a:spcAft>
              <a:buClr>
                <a:schemeClr val="lt1"/>
              </a:buClr>
              <a:buSzPts val="3600"/>
              <a:buNone/>
              <a:defRPr sz="3600">
                <a:solidFill>
                  <a:schemeClr val="lt1"/>
                </a:solidFill>
              </a:defRPr>
            </a:lvl4pPr>
            <a:lvl5pPr>
              <a:spcBef>
                <a:spcPts val="0"/>
              </a:spcBef>
              <a:spcAft>
                <a:spcPts val="0"/>
              </a:spcAft>
              <a:buClr>
                <a:schemeClr val="lt1"/>
              </a:buClr>
              <a:buSzPts val="3600"/>
              <a:buNone/>
              <a:defRPr sz="3600">
                <a:solidFill>
                  <a:schemeClr val="lt1"/>
                </a:solidFill>
              </a:defRPr>
            </a:lvl5pPr>
            <a:lvl6pPr>
              <a:spcBef>
                <a:spcPts val="0"/>
              </a:spcBef>
              <a:spcAft>
                <a:spcPts val="0"/>
              </a:spcAft>
              <a:buClr>
                <a:schemeClr val="lt1"/>
              </a:buClr>
              <a:buSzPts val="3600"/>
              <a:buNone/>
              <a:defRPr sz="3600">
                <a:solidFill>
                  <a:schemeClr val="lt1"/>
                </a:solidFill>
              </a:defRPr>
            </a:lvl6pPr>
            <a:lvl7pPr>
              <a:spcBef>
                <a:spcPts val="0"/>
              </a:spcBef>
              <a:spcAft>
                <a:spcPts val="0"/>
              </a:spcAft>
              <a:buClr>
                <a:schemeClr val="lt1"/>
              </a:buClr>
              <a:buSzPts val="3600"/>
              <a:buNone/>
              <a:defRPr sz="3600">
                <a:solidFill>
                  <a:schemeClr val="lt1"/>
                </a:solidFill>
              </a:defRPr>
            </a:lvl7pPr>
            <a:lvl8pPr>
              <a:spcBef>
                <a:spcPts val="0"/>
              </a:spcBef>
              <a:spcAft>
                <a:spcPts val="0"/>
              </a:spcAft>
              <a:buClr>
                <a:schemeClr val="lt1"/>
              </a:buClr>
              <a:buSzPts val="3600"/>
              <a:buNone/>
              <a:defRPr sz="3600">
                <a:solidFill>
                  <a:schemeClr val="lt1"/>
                </a:solidFill>
              </a:defRPr>
            </a:lvl8pPr>
            <a:lvl9pPr>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60" name="Google Shape;60;p8">
            <a:extLst xmlns:a="http://schemas.openxmlformats.org/drawingml/2006/main">
              <a:ext uri="{FF2B5EF4-FFF2-40B4-BE49-F238E27FC236}">
                <a16:creationId xmlns:a16="http://schemas.microsoft.com/office/drawing/2014/main" id="{A9A2044E-E6CA-463E-A41C-19A7C9B6B65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62" name="Google Shape;62;p9">
            <a:extLst xmlns:a="http://schemas.openxmlformats.org/drawingml/2006/main">
              <a:ext uri="{FF2B5EF4-FFF2-40B4-BE49-F238E27FC236}">
                <a16:creationId xmlns:a16="http://schemas.microsoft.com/office/drawing/2014/main" id="{3C3CFCAA-65F9-49CD-99E1-4C42C26445B1}"/>
              </a:ext>
            </a:extLst>
          </p:cNvPr>
          <p:cNvSpPr>
            <a:spLocks xmlns:a="http://schemas.openxmlformats.org/drawingml/2006/main" noGrp="1"/>
          </p:cNvSpPr>
          <p:nvPr/>
        </p:nvSpPr>
        <p:spPr>
          <a:xfrm xmlns:a="http://schemas.openxmlformats.org/drawingml/2006/main">
            <a:off x="0" y="0"/>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 name="Google Shape;64;p9">
            <a:extLst xmlns:a="http://schemas.openxmlformats.org/drawingml/2006/main">
              <a:ext uri="{FF2B5EF4-FFF2-40B4-BE49-F238E27FC236}">
                <a16:creationId xmlns:a16="http://schemas.microsoft.com/office/drawing/2014/main" id="{C55ED4FD-FF26-4CDE-A500-5FF8210103CD}"/>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 name="Google Shape;65;p9">
            <a:extLst xmlns:a="http://schemas.openxmlformats.org/drawingml/2006/main">
              <a:ext uri="{FF2B5EF4-FFF2-40B4-BE49-F238E27FC236}">
                <a16:creationId xmlns:a16="http://schemas.microsoft.com/office/drawing/2014/main" id="{2F08DFBC-840C-43A0-8E55-3ED43FCB30CE}"/>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6" name="Google Shape;66;p9">
            <a:extLst xmlns:a="http://schemas.openxmlformats.org/drawingml/2006/main">
              <a:ext uri="{FF2B5EF4-FFF2-40B4-BE49-F238E27FC236}">
                <a16:creationId xmlns:a16="http://schemas.microsoft.com/office/drawing/2014/main" id="{606E1AAB-C6D7-4942-AA2A-E25FC9BAB3D0}"/>
              </a:ext>
            </a:extLst>
          </p:cNvPr>
          <p:cNvSpPr>
            <a:spLocks xmlns:a="http://schemas.openxmlformats.org/drawingml/2006/main" noGrp="1"/>
          </p:cNvSpPr>
          <p:nvPr>
            <p:ph type="title" idx="0"/>
          </p:nvPr>
        </p:nvSpPr>
        <p:spPr>
          <a:xfrm xmlns:a="http://schemas.openxmlformats.org/drawingml/2006/main">
            <a:off x="730000" y="1318650"/>
            <a:ext cx="3300900" cy="1687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67" name="Google Shape;67;p9">
            <a:extLst xmlns:a="http://schemas.openxmlformats.org/drawingml/2006/main">
              <a:ext uri="{FF2B5EF4-FFF2-40B4-BE49-F238E27FC236}">
                <a16:creationId xmlns:a16="http://schemas.microsoft.com/office/drawing/2014/main" id="{4425C855-BA53-47F3-92BE-52023262C158}"/>
              </a:ext>
            </a:extLst>
          </p:cNvPr>
          <p:cNvSpPr>
            <a:spLocks xmlns:a="http://schemas.openxmlformats.org/drawingml/2006/main" noGrp="1"/>
          </p:cNvSpPr>
          <p:nvPr>
            <p:ph type="subTitle" idx="1"/>
          </p:nvPr>
        </p:nvSpPr>
        <p:spPr>
          <a:xfrm xmlns:a="http://schemas.openxmlformats.org/drawingml/2006/main">
            <a:off x="724950" y="3161525"/>
            <a:ext cx="3300900" cy="7590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SzPts val="1600"/>
              <a:buNone/>
              <a:defRPr sz="1600"/>
            </a:lvl1pPr>
            <a:lvl2pPr>
              <a:lnSpc>
                <a:spcPct val="100000"/>
              </a:lnSpc>
              <a:spcBef>
                <a:spcPts val="0"/>
              </a:spcBef>
              <a:spcAft>
                <a:spcPts val="0"/>
              </a:spcAft>
              <a:buSzPts val="1600"/>
              <a:buNone/>
              <a:defRPr sz="1600"/>
            </a:lvl2pPr>
            <a:lvl3pPr>
              <a:lnSpc>
                <a:spcPct val="100000"/>
              </a:lnSpc>
              <a:spcBef>
                <a:spcPts val="0"/>
              </a:spcBef>
              <a:spcAft>
                <a:spcPts val="0"/>
              </a:spcAft>
              <a:buSzPts val="1600"/>
              <a:buNone/>
              <a:defRPr sz="1600"/>
            </a:lvl3pPr>
            <a:lvl4pPr>
              <a:lnSpc>
                <a:spcPct val="100000"/>
              </a:lnSpc>
              <a:spcBef>
                <a:spcPts val="0"/>
              </a:spcBef>
              <a:spcAft>
                <a:spcPts val="0"/>
              </a:spcAft>
              <a:buSzPts val="1600"/>
              <a:buNone/>
              <a:defRPr sz="1600"/>
            </a:lvl4pPr>
            <a:lvl5pPr>
              <a:lnSpc>
                <a:spcPct val="100000"/>
              </a:lnSpc>
              <a:spcBef>
                <a:spcPts val="0"/>
              </a:spcBef>
              <a:spcAft>
                <a:spcPts val="0"/>
              </a:spcAft>
              <a:buSzPts val="1600"/>
              <a:buNone/>
              <a:defRPr sz="1600"/>
            </a:lvl5pPr>
            <a:lvl6pPr>
              <a:lnSpc>
                <a:spcPct val="100000"/>
              </a:lnSpc>
              <a:spcBef>
                <a:spcPts val="0"/>
              </a:spcBef>
              <a:spcAft>
                <a:spcPts val="0"/>
              </a:spcAft>
              <a:buSzPts val="1600"/>
              <a:buNone/>
              <a:defRPr sz="1600"/>
            </a:lvl6pPr>
            <a:lvl7pPr>
              <a:lnSpc>
                <a:spcPct val="100000"/>
              </a:lnSpc>
              <a:spcBef>
                <a:spcPts val="0"/>
              </a:spcBef>
              <a:spcAft>
                <a:spcPts val="0"/>
              </a:spcAft>
              <a:buSzPts val="1600"/>
              <a:buNone/>
              <a:defRPr sz="1600"/>
            </a:lvl7pPr>
            <a:lvl8pPr>
              <a:lnSpc>
                <a:spcPct val="100000"/>
              </a:lnSpc>
              <a:spcBef>
                <a:spcPts val="0"/>
              </a:spcBef>
              <a:spcAft>
                <a:spcPts val="0"/>
              </a:spcAft>
              <a:buSzPts val="1600"/>
              <a:buNone/>
              <a:defRPr sz="1600"/>
            </a:lvl8pPr>
            <a:lvl9pPr>
              <a:lnSpc>
                <a:spcPct val="100000"/>
              </a:lnSpc>
              <a:spcBef>
                <a:spcPts val="0"/>
              </a:spcBef>
              <a:spcAft>
                <a:spcPts val="0"/>
              </a:spcAft>
              <a:buSzPts val="1600"/>
              <a:buNone/>
              <a:defRPr sz="1600"/>
            </a:lvl9pPr>
          </a:lstStyle>
          <a:p xmlns:a="http://schemas.openxmlformats.org/drawingml/2006/main"/>
        </p:txBody>
      </p:sp>
      <p:sp>
        <p:nvSpPr>
          <p:cNvPr id="68" name="Google Shape;68;p9">
            <a:extLst xmlns:a="http://schemas.openxmlformats.org/drawingml/2006/main">
              <a:ext uri="{FF2B5EF4-FFF2-40B4-BE49-F238E27FC236}">
                <a16:creationId xmlns:a16="http://schemas.microsoft.com/office/drawing/2014/main" id="{D83A9F84-2D65-41A6-9BCA-C3444BEB61EC}"/>
              </a:ext>
            </a:extLst>
          </p:cNvPr>
          <p:cNvSpPr>
            <a:spLocks xmlns:a="http://schemas.openxmlformats.org/drawingml/2006/main" noGrp="1"/>
          </p:cNvSpPr>
          <p:nvPr>
            <p:ph type="body" idx="2"/>
          </p:nvPr>
        </p:nvSpPr>
        <p:spPr>
          <a:xfrm xmlns:a="http://schemas.openxmlformats.org/drawingml/2006/main">
            <a:off x="5174225" y="1352625"/>
            <a:ext cx="3374400" cy="3025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69" name="Google Shape;69;p9">
            <a:extLst xmlns:a="http://schemas.openxmlformats.org/drawingml/2006/main">
              <a:ext uri="{FF2B5EF4-FFF2-40B4-BE49-F238E27FC236}">
                <a16:creationId xmlns:a16="http://schemas.microsoft.com/office/drawing/2014/main" id="{786F9FE3-2544-4A95-957A-D8ADEC4F3B1B}"/>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71" name="Google Shape;71;p10">
            <a:extLst xmlns:a="http://schemas.openxmlformats.org/drawingml/2006/main">
              <a:ext uri="{FF2B5EF4-FFF2-40B4-BE49-F238E27FC236}">
                <a16:creationId xmlns:a16="http://schemas.microsoft.com/office/drawing/2014/main" id="{7E8056CE-2609-4064-AEE4-A1BE58972187}"/>
              </a:ext>
            </a:extLst>
          </p:cNvPr>
          <p:cNvSpPr>
            <a:spLocks xmlns:a="http://schemas.openxmlformats.org/drawingml/2006/main" noGrp="1"/>
          </p:cNvSpPr>
          <p:nvPr>
            <p:ph type="body" idx="1"/>
          </p:nvPr>
        </p:nvSpPr>
        <p:spPr>
          <a:xfrm xmlns:a="http://schemas.openxmlformats.org/drawingml/2006/main">
            <a:off x="724950" y="4372551"/>
            <a:ext cx="7697400" cy="4605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300"/>
              <a:buNone/>
              <a:defRPr/>
            </a:lvl1pPr>
          </a:lstStyle>
          <a:p xmlns:a="http://schemas.openxmlformats.org/drawingml/2006/main"/>
        </p:txBody>
      </p:sp>
      <p:sp>
        <p:nvSpPr>
          <p:cNvPr id="72" name="Google Shape;72;p10">
            <a:extLst xmlns:a="http://schemas.openxmlformats.org/drawingml/2006/main">
              <a:ext uri="{FF2B5EF4-FFF2-40B4-BE49-F238E27FC236}">
                <a16:creationId xmlns:a16="http://schemas.microsoft.com/office/drawing/2014/main" id="{9421CF67-B92A-4CD2-A1CF-6CD6A8DC20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Big number">
  <p:cSld name="BIG_NUMBER">
    <p:bg>
      <p:bgPr>
        <a:solidFill xmlns:a="http://schemas.openxmlformats.org/drawingml/2006/main">
          <a:schemeClr val="dk1"/>
        </a:solidFill>
      </p:bgPr>
    </p:bg>
    <p:spTree>
      <p:nvGrpSpPr>
        <p:cNvPr id="1" name=""/>
        <p:cNvGrpSpPr/>
        <p:nvPr/>
      </p:nvGrpSpPr>
      <p:grpSpPr>
        <a:xfrm xmlns:a="http://schemas.openxmlformats.org/drawingml/2006/main"/>
      </p:grpSpPr>
      <p:sp>
        <p:nvSpPr>
          <p:cNvPr id="75" name="Google Shape;75;p11">
            <a:extLst xmlns:a="http://schemas.openxmlformats.org/drawingml/2006/main">
              <a:ext uri="{FF2B5EF4-FFF2-40B4-BE49-F238E27FC236}">
                <a16:creationId xmlns:a16="http://schemas.microsoft.com/office/drawing/2014/main" id="{7FE0EEA1-634C-495E-9525-029F9BC5D4D5}"/>
              </a:ext>
            </a:extLst>
          </p:cNvPr>
          <p:cNvSpPr>
            <a:spLocks xmlns:a="http://schemas.openxmlformats.org/drawingml/2006/main" noGrp="1"/>
          </p:cNvSpPr>
          <p:nvPr/>
        </p:nvSpPr>
        <p:spPr>
          <a:xfrm xmlns:a="http://schemas.openxmlformats.org/drawingml/2006/main" rot="-5400000" flipH="0" flipV="0">
            <a:off x="1380898" y="3708142"/>
            <a:ext cx="17655" cy="967801"/>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6" name="Google Shape;76;p11">
            <a:extLst xmlns:a="http://schemas.openxmlformats.org/drawingml/2006/main">
              <a:ext uri="{FF2B5EF4-FFF2-40B4-BE49-F238E27FC236}">
                <a16:creationId xmlns:a16="http://schemas.microsoft.com/office/drawing/2014/main" id="{66CB30FD-E3E1-47B1-9D9C-E78C4F83A97F}"/>
              </a:ext>
            </a:extLst>
          </p:cNvPr>
          <p:cNvSpPr>
            <a:spLocks xmlns:a="http://schemas.openxmlformats.org/drawingml/2006/main" noGrp="1"/>
          </p:cNvSpPr>
          <p:nvPr/>
        </p:nvSpPr>
        <p:spPr>
          <a:xfrm xmlns:a="http://schemas.openxmlformats.org/drawingml/2006/main" rot="-5400000" flipH="0" flipV="0">
            <a:off x="1009571" y="3704050"/>
            <a:ext cx="17655" cy="975984"/>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7" name="Google Shape;77;p11">
            <a:extLst xmlns:a="http://schemas.openxmlformats.org/drawingml/2006/main">
              <a:ext uri="{FF2B5EF4-FFF2-40B4-BE49-F238E27FC236}">
                <a16:creationId xmlns:a16="http://schemas.microsoft.com/office/drawing/2014/main" id="{77CB30FB-4B42-4022-AA4B-C92961BCCE71}"/>
              </a:ext>
            </a:extLst>
          </p:cNvPr>
          <p:cNvSpPr>
            <a:spLocks xmlns:a="http://schemas.openxmlformats.org/drawingml/2006/main" noGrp="1"/>
          </p:cNvSpPr>
          <p:nvPr>
            <p:ph type="title" idx="0" hasCustomPrompt="1"/>
          </p:nvPr>
        </p:nvSpPr>
        <p:spPr>
          <a:xfrm xmlns:a="http://schemas.openxmlformats.org/drawingml/2006/main">
            <a:off x="729450" y="733950"/>
            <a:ext cx="7688400" cy="1244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8000"/>
              <a:buNone/>
              <a:defRPr sz="8000">
                <a:solidFill>
                  <a:schemeClr val="lt1"/>
                </a:solidFill>
              </a:defRPr>
            </a:lvl1pPr>
            <a:lvl2pPr>
              <a:spcBef>
                <a:spcPts val="0"/>
              </a:spcBef>
              <a:spcAft>
                <a:spcPts val="0"/>
              </a:spcAft>
              <a:buClr>
                <a:schemeClr val="lt1"/>
              </a:buClr>
              <a:buSzPts val="8000"/>
              <a:buNone/>
              <a:defRPr sz="8000">
                <a:solidFill>
                  <a:schemeClr val="lt1"/>
                </a:solidFill>
              </a:defRPr>
            </a:lvl2pPr>
            <a:lvl3pPr>
              <a:spcBef>
                <a:spcPts val="0"/>
              </a:spcBef>
              <a:spcAft>
                <a:spcPts val="0"/>
              </a:spcAft>
              <a:buClr>
                <a:schemeClr val="lt1"/>
              </a:buClr>
              <a:buSzPts val="8000"/>
              <a:buNone/>
              <a:defRPr sz="8000">
                <a:solidFill>
                  <a:schemeClr val="lt1"/>
                </a:solidFill>
              </a:defRPr>
            </a:lvl3pPr>
            <a:lvl4pPr>
              <a:spcBef>
                <a:spcPts val="0"/>
              </a:spcBef>
              <a:spcAft>
                <a:spcPts val="0"/>
              </a:spcAft>
              <a:buClr>
                <a:schemeClr val="lt1"/>
              </a:buClr>
              <a:buSzPts val="8000"/>
              <a:buNone/>
              <a:defRPr sz="8000">
                <a:solidFill>
                  <a:schemeClr val="lt1"/>
                </a:solidFill>
              </a:defRPr>
            </a:lvl4pPr>
            <a:lvl5pPr>
              <a:spcBef>
                <a:spcPts val="0"/>
              </a:spcBef>
              <a:spcAft>
                <a:spcPts val="0"/>
              </a:spcAft>
              <a:buClr>
                <a:schemeClr val="lt1"/>
              </a:buClr>
              <a:buSzPts val="8000"/>
              <a:buNone/>
              <a:defRPr sz="8000">
                <a:solidFill>
                  <a:schemeClr val="lt1"/>
                </a:solidFill>
              </a:defRPr>
            </a:lvl5pPr>
            <a:lvl6pPr>
              <a:spcBef>
                <a:spcPts val="0"/>
              </a:spcBef>
              <a:spcAft>
                <a:spcPts val="0"/>
              </a:spcAft>
              <a:buClr>
                <a:schemeClr val="lt1"/>
              </a:buClr>
              <a:buSzPts val="8000"/>
              <a:buNone/>
              <a:defRPr sz="8000">
                <a:solidFill>
                  <a:schemeClr val="lt1"/>
                </a:solidFill>
              </a:defRPr>
            </a:lvl6pPr>
            <a:lvl7pPr>
              <a:spcBef>
                <a:spcPts val="0"/>
              </a:spcBef>
              <a:spcAft>
                <a:spcPts val="0"/>
              </a:spcAft>
              <a:buClr>
                <a:schemeClr val="lt1"/>
              </a:buClr>
              <a:buSzPts val="8000"/>
              <a:buNone/>
              <a:defRPr sz="8000">
                <a:solidFill>
                  <a:schemeClr val="lt1"/>
                </a:solidFill>
              </a:defRPr>
            </a:lvl7pPr>
            <a:lvl8pPr>
              <a:spcBef>
                <a:spcPts val="0"/>
              </a:spcBef>
              <a:spcAft>
                <a:spcPts val="0"/>
              </a:spcAft>
              <a:buClr>
                <a:schemeClr val="lt1"/>
              </a:buClr>
              <a:buSzPts val="8000"/>
              <a:buNone/>
              <a:defRPr sz="8000">
                <a:solidFill>
                  <a:schemeClr val="lt1"/>
                </a:solidFill>
              </a:defRPr>
            </a:lvl8pPr>
            <a:lvl9pPr>
              <a:spcBef>
                <a:spcPts val="0"/>
              </a:spcBef>
              <a:spcAft>
                <a:spcPts val="0"/>
              </a:spcAft>
              <a:buClr>
                <a:schemeClr val="lt1"/>
              </a:buClr>
              <a:buSzPts val="8000"/>
              <a:buNone/>
              <a:defRPr sz="8000">
                <a:solidFill>
                  <a:schemeClr val="lt1"/>
                </a:solidFill>
              </a:defRPr>
            </a:lvl9pPr>
          </a:lstStyle>
          <a:p xmlns:a="http://schemas.openxmlformats.org/drawingml/2006/main">
            <a:r>
              <a:t>xx%</a:t>
            </a:r>
          </a:p>
        </p:txBody>
      </p:sp>
      <p:sp>
        <p:nvSpPr>
          <p:cNvPr id="78" name="Google Shape;78;p11">
            <a:extLst xmlns:a="http://schemas.openxmlformats.org/drawingml/2006/main">
              <a:ext uri="{FF2B5EF4-FFF2-40B4-BE49-F238E27FC236}">
                <a16:creationId xmlns:a16="http://schemas.microsoft.com/office/drawing/2014/main" id="{EFC0FFC4-A6E3-442D-865E-E38A75C6149D}"/>
              </a:ext>
            </a:extLst>
          </p:cNvPr>
          <p:cNvSpPr>
            <a:spLocks xmlns:a="http://schemas.openxmlformats.org/drawingml/2006/main" noGrp="1"/>
          </p:cNvSpPr>
          <p:nvPr>
            <p:ph type="body" idx="1"/>
          </p:nvPr>
        </p:nvSpPr>
        <p:spPr>
          <a:xfrm xmlns:a="http://schemas.openxmlformats.org/drawingml/2006/main">
            <a:off x="729450" y="2272888"/>
            <a:ext cx="7688400" cy="1580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Clr>
                <a:schemeClr val="lt1"/>
              </a:buClr>
              <a:buSzPts val="1300"/>
              <a:buChar char="●"/>
              <a:defRPr>
                <a:solidFill>
                  <a:schemeClr val="lt1"/>
                </a:solidFill>
              </a:defRPr>
            </a:lvl1pPr>
            <a:lvl2pPr marL="914400" indent="-298450">
              <a:spcBef>
                <a:spcPts val="0"/>
              </a:spcBef>
              <a:spcAft>
                <a:spcPts val="0"/>
              </a:spcAft>
              <a:buClr>
                <a:schemeClr val="lt1"/>
              </a:buClr>
              <a:buSzPts val="1100"/>
              <a:buChar char="○"/>
              <a:defRPr>
                <a:solidFill>
                  <a:schemeClr val="lt1"/>
                </a:solidFill>
              </a:defRPr>
            </a:lvl2pPr>
            <a:lvl3pPr marL="1371600" indent="-298450">
              <a:spcBef>
                <a:spcPts val="0"/>
              </a:spcBef>
              <a:spcAft>
                <a:spcPts val="0"/>
              </a:spcAft>
              <a:buClr>
                <a:schemeClr val="lt1"/>
              </a:buClr>
              <a:buSzPts val="1100"/>
              <a:buChar char="■"/>
              <a:defRPr>
                <a:solidFill>
                  <a:schemeClr val="lt1"/>
                </a:solidFill>
              </a:defRPr>
            </a:lvl3pPr>
            <a:lvl4pPr marL="1828800" indent="-298450">
              <a:spcBef>
                <a:spcPts val="0"/>
              </a:spcBef>
              <a:spcAft>
                <a:spcPts val="0"/>
              </a:spcAft>
              <a:buClr>
                <a:schemeClr val="lt1"/>
              </a:buClr>
              <a:buSzPts val="1100"/>
              <a:buChar char="●"/>
              <a:defRPr>
                <a:solidFill>
                  <a:schemeClr val="lt1"/>
                </a:solidFill>
              </a:defRPr>
            </a:lvl4pPr>
            <a:lvl5pPr marL="2286000" indent="-298450">
              <a:spcBef>
                <a:spcPts val="0"/>
              </a:spcBef>
              <a:spcAft>
                <a:spcPts val="0"/>
              </a:spcAft>
              <a:buClr>
                <a:schemeClr val="lt1"/>
              </a:buClr>
              <a:buSzPts val="1100"/>
              <a:buChar char="○"/>
              <a:defRPr>
                <a:solidFill>
                  <a:schemeClr val="lt1"/>
                </a:solidFill>
              </a:defRPr>
            </a:lvl5pPr>
            <a:lvl6pPr marL="2743200" indent="-298450">
              <a:spcBef>
                <a:spcPts val="0"/>
              </a:spcBef>
              <a:spcAft>
                <a:spcPts val="0"/>
              </a:spcAft>
              <a:buClr>
                <a:schemeClr val="lt1"/>
              </a:buClr>
              <a:buSzPts val="1100"/>
              <a:buChar char="■"/>
              <a:defRPr>
                <a:solidFill>
                  <a:schemeClr val="lt1"/>
                </a:solidFill>
              </a:defRPr>
            </a:lvl6pPr>
            <a:lvl7pPr marL="3200400" indent="-298450">
              <a:spcBef>
                <a:spcPts val="0"/>
              </a:spcBef>
              <a:spcAft>
                <a:spcPts val="0"/>
              </a:spcAft>
              <a:buClr>
                <a:schemeClr val="lt1"/>
              </a:buClr>
              <a:buSzPts val="1100"/>
              <a:buChar char="●"/>
              <a:defRPr>
                <a:solidFill>
                  <a:schemeClr val="lt1"/>
                </a:solidFill>
              </a:defRPr>
            </a:lvl7pPr>
            <a:lvl8pPr marL="3657600" indent="-298450">
              <a:spcBef>
                <a:spcPts val="0"/>
              </a:spcBef>
              <a:spcAft>
                <a:spcPts val="0"/>
              </a:spcAft>
              <a:buClr>
                <a:schemeClr val="lt1"/>
              </a:buClr>
              <a:buSzPts val="1100"/>
              <a:buChar char="○"/>
              <a:defRPr>
                <a:solidFill>
                  <a:schemeClr val="lt1"/>
                </a:solidFill>
              </a:defRPr>
            </a:lvl8pPr>
            <a:lvl9pPr marL="4114800" indent="-298450">
              <a:spcBef>
                <a:spcPts val="0"/>
              </a:spcBef>
              <a:spcAft>
                <a:spcPts val="0"/>
              </a:spcAft>
              <a:buClr>
                <a:schemeClr val="lt1"/>
              </a:buClr>
              <a:buSzPts val="1100"/>
              <a:buChar char="■"/>
              <a:defRPr>
                <a:solidFill>
                  <a:schemeClr val="lt1"/>
                </a:solidFill>
              </a:defRPr>
            </a:lvl9pPr>
          </a:lstStyle>
          <a:p xmlns:a="http://schemas.openxmlformats.org/drawingml/2006/main"/>
        </p:txBody>
      </p:sp>
      <p:sp>
        <p:nvSpPr>
          <p:cNvPr id="79" name="Google Shape;79;p11">
            <a:extLst xmlns:a="http://schemas.openxmlformats.org/drawingml/2006/main">
              <a:ext uri="{FF2B5EF4-FFF2-40B4-BE49-F238E27FC236}">
                <a16:creationId xmlns:a16="http://schemas.microsoft.com/office/drawing/2014/main" id="{6E481D1D-9D3B-4587-9163-E3470DC3CF5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81" name="Google Shape;81;p12">
            <a:extLst xmlns:a="http://schemas.openxmlformats.org/drawingml/2006/main">
              <a:ext uri="{FF2B5EF4-FFF2-40B4-BE49-F238E27FC236}">
                <a16:creationId xmlns:a16="http://schemas.microsoft.com/office/drawing/2014/main" id="{7B05F383-F375-44E2-AB06-AC97656E4F1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matchingName="Titre et corps (g3f4bc13307b_6_0)">
  <p:cSld name="Titre et corps (g3f4bc13307b_6_0)">
    <p:spTree>
      <p:nvGrpSpPr>
        <p:cNvPr id="1" name=""/>
        <p:cNvGrpSpPr/>
        <p:nvPr/>
      </p:nvGrpSpPr>
      <p:grpSpPr>
        <a:xfrm xmlns:a="http://schemas.openxmlformats.org/drawingml/2006/main"/>
      </p:grpSpPr>
      <p:sp>
        <p:nvSpPr>
          <p:cNvPr id="83" name="Google Shape;83;p13">
            <a:extLst xmlns:a="http://schemas.openxmlformats.org/drawingml/2006/main">
              <a:ext uri="{FF2B5EF4-FFF2-40B4-BE49-F238E27FC236}">
                <a16:creationId xmlns:a16="http://schemas.microsoft.com/office/drawing/2014/main" id="{AFC6F4D7-3962-4FB3-865E-248F01B0086A}"/>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84" name="Google Shape;84;p13">
            <a:extLst xmlns:a="http://schemas.openxmlformats.org/drawingml/2006/main">
              <a:ext uri="{FF2B5EF4-FFF2-40B4-BE49-F238E27FC236}">
                <a16:creationId xmlns:a16="http://schemas.microsoft.com/office/drawing/2014/main" id="{A5F3C886-09F9-4E67-867F-568FFE633446}"/>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85" name="Google Shape;85;p13">
            <a:extLst xmlns:a="http://schemas.openxmlformats.org/drawingml/2006/main">
              <a:ext uri="{FF2B5EF4-FFF2-40B4-BE49-F238E27FC236}">
                <a16:creationId xmlns:a16="http://schemas.microsoft.com/office/drawing/2014/main" id="{7E88F2DF-0DAF-4E43-9F01-981AD544A9C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3.xml><?xml version="1.0" encoding="utf-8"?>
<p:sldLayout xmlns:p="http://schemas.openxmlformats.org/presentationml/2006/main" matchingName="Titre et corps (g3f4bc13307b_13_0)">
  <p:cSld name="Titre et corps (g3f4bc13307b_13_0)">
    <p:spTree>
      <p:nvGrpSpPr>
        <p:cNvPr id="1" name=""/>
        <p:cNvGrpSpPr/>
        <p:nvPr/>
      </p:nvGrpSpPr>
      <p:grpSpPr>
        <a:xfrm xmlns:a="http://schemas.openxmlformats.org/drawingml/2006/main"/>
      </p:grpSpPr>
      <p:sp>
        <p:nvSpPr>
          <p:cNvPr id="87" name="Google Shape;87;p14">
            <a:extLst xmlns:a="http://schemas.openxmlformats.org/drawingml/2006/main">
              <a:ext uri="{FF2B5EF4-FFF2-40B4-BE49-F238E27FC236}">
                <a16:creationId xmlns:a16="http://schemas.microsoft.com/office/drawing/2014/main" id="{DB86BA93-FA38-4CB7-B50E-4586E031E027}"/>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88" name="Google Shape;88;p14">
            <a:extLst xmlns:a="http://schemas.openxmlformats.org/drawingml/2006/main">
              <a:ext uri="{FF2B5EF4-FFF2-40B4-BE49-F238E27FC236}">
                <a16:creationId xmlns:a16="http://schemas.microsoft.com/office/drawing/2014/main" id="{90A8DE99-EA76-4045-A14D-7F45D70CD325}"/>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89" name="Google Shape;89;p14">
            <a:extLst xmlns:a="http://schemas.openxmlformats.org/drawingml/2006/main">
              <a:ext uri="{FF2B5EF4-FFF2-40B4-BE49-F238E27FC236}">
                <a16:creationId xmlns:a16="http://schemas.microsoft.com/office/drawing/2014/main" id="{1D44ED06-DAF2-4F35-9A67-0BC6101A8984}"/>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4.xml><?xml version="1.0" encoding="utf-8"?>
<p:sldLayout xmlns:p="http://schemas.openxmlformats.org/presentationml/2006/main" matchingName="Titre et corps (g3f4bc13307b_20_0)">
  <p:cSld name="Titre et corps (g3f4bc13307b_20_0)">
    <p:spTree>
      <p:nvGrpSpPr>
        <p:cNvPr id="1" name=""/>
        <p:cNvGrpSpPr/>
        <p:nvPr/>
      </p:nvGrpSpPr>
      <p:grpSpPr>
        <a:xfrm xmlns:a="http://schemas.openxmlformats.org/drawingml/2006/main"/>
      </p:grpSpPr>
      <p:sp>
        <p:nvSpPr>
          <p:cNvPr id="91" name="Google Shape;91;p15">
            <a:extLst xmlns:a="http://schemas.openxmlformats.org/drawingml/2006/main">
              <a:ext uri="{FF2B5EF4-FFF2-40B4-BE49-F238E27FC236}">
                <a16:creationId xmlns:a16="http://schemas.microsoft.com/office/drawing/2014/main" id="{4F04DF1F-CBAD-46B4-872E-F298329991A8}"/>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92" name="Google Shape;92;p15">
            <a:extLst xmlns:a="http://schemas.openxmlformats.org/drawingml/2006/main">
              <a:ext uri="{FF2B5EF4-FFF2-40B4-BE49-F238E27FC236}">
                <a16:creationId xmlns:a16="http://schemas.microsoft.com/office/drawing/2014/main" id="{6A8106F3-B3E7-4C72-BEEA-0A56DCA13E9F}"/>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93" name="Google Shape;93;p15">
            <a:extLst xmlns:a="http://schemas.openxmlformats.org/drawingml/2006/main">
              <a:ext uri="{FF2B5EF4-FFF2-40B4-BE49-F238E27FC236}">
                <a16:creationId xmlns:a16="http://schemas.microsoft.com/office/drawing/2014/main" id="{6A0DB427-E44E-45FD-808D-F578F6A3BC7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5.xml><?xml version="1.0" encoding="utf-8"?>
<p:sldLayout xmlns:p="http://schemas.openxmlformats.org/presentationml/2006/main" matchingName="Titre et corps (g3f4bc13307b_30_0)">
  <p:cSld name="Titre et corps (g3f4bc13307b_30_0)">
    <p:spTree>
      <p:nvGrpSpPr>
        <p:cNvPr id="1" name=""/>
        <p:cNvGrpSpPr/>
        <p:nvPr/>
      </p:nvGrpSpPr>
      <p:grpSpPr>
        <a:xfrm xmlns:a="http://schemas.openxmlformats.org/drawingml/2006/main"/>
      </p:grpSpPr>
      <p:sp>
        <p:nvSpPr>
          <p:cNvPr id="95" name="Google Shape;95;p16">
            <a:extLst xmlns:a="http://schemas.openxmlformats.org/drawingml/2006/main">
              <a:ext uri="{FF2B5EF4-FFF2-40B4-BE49-F238E27FC236}">
                <a16:creationId xmlns:a16="http://schemas.microsoft.com/office/drawing/2014/main" id="{28EC7A92-F16C-4034-8E80-768C4DEADDCD}"/>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96" name="Google Shape;96;p16">
            <a:extLst xmlns:a="http://schemas.openxmlformats.org/drawingml/2006/main">
              <a:ext uri="{FF2B5EF4-FFF2-40B4-BE49-F238E27FC236}">
                <a16:creationId xmlns:a16="http://schemas.microsoft.com/office/drawing/2014/main" id="{270747E0-26A5-4521-AFBE-31F02EF9427F}"/>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97" name="Google Shape;97;p16">
            <a:extLst xmlns:a="http://schemas.openxmlformats.org/drawingml/2006/main">
              <a:ext uri="{FF2B5EF4-FFF2-40B4-BE49-F238E27FC236}">
                <a16:creationId xmlns:a16="http://schemas.microsoft.com/office/drawing/2014/main" id="{2299BC0B-A7E6-4610-927A-203E27D5873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6.xml><?xml version="1.0" encoding="utf-8"?>
<p:sldLayout xmlns:p="http://schemas.openxmlformats.org/presentationml/2006/main" matchingName="Titre et corps (g3f4bc13307b_38_0)">
  <p:cSld name="Titre et corps (g3f4bc13307b_38_0)">
    <p:spTree>
      <p:nvGrpSpPr>
        <p:cNvPr id="1" name=""/>
        <p:cNvGrpSpPr/>
        <p:nvPr/>
      </p:nvGrpSpPr>
      <p:grpSpPr>
        <a:xfrm xmlns:a="http://schemas.openxmlformats.org/drawingml/2006/main"/>
      </p:grpSpPr>
      <p:sp>
        <p:nvSpPr>
          <p:cNvPr id="99" name="Google Shape;99;p17">
            <a:extLst xmlns:a="http://schemas.openxmlformats.org/drawingml/2006/main">
              <a:ext uri="{FF2B5EF4-FFF2-40B4-BE49-F238E27FC236}">
                <a16:creationId xmlns:a16="http://schemas.microsoft.com/office/drawing/2014/main" id="{D3036913-5C20-466F-ADB5-1A46E6CA7854}"/>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00" name="Google Shape;100;p17">
            <a:extLst xmlns:a="http://schemas.openxmlformats.org/drawingml/2006/main">
              <a:ext uri="{FF2B5EF4-FFF2-40B4-BE49-F238E27FC236}">
                <a16:creationId xmlns:a16="http://schemas.microsoft.com/office/drawing/2014/main" id="{20220B14-1748-4EE7-B27C-42B91149CA9B}"/>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101" name="Google Shape;101;p17">
            <a:extLst xmlns:a="http://schemas.openxmlformats.org/drawingml/2006/main">
              <a:ext uri="{FF2B5EF4-FFF2-40B4-BE49-F238E27FC236}">
                <a16:creationId xmlns:a16="http://schemas.microsoft.com/office/drawing/2014/main" id="{BBA0C0FB-CE0A-4C5A-B81C-B39D38F41E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7.xml><?xml version="1.0" encoding="utf-8"?>
<p:sldLayout xmlns:p="http://schemas.openxmlformats.org/presentationml/2006/main" matchingName="Titre et corps (g3f4bd3cad57_19_0)">
  <p:cSld name="Titre et corps (g3f4bd3cad57_19_0)">
    <p:spTree>
      <p:nvGrpSpPr>
        <p:cNvPr id="1" name=""/>
        <p:cNvGrpSpPr/>
        <p:nvPr/>
      </p:nvGrpSpPr>
      <p:grpSpPr>
        <a:xfrm xmlns:a="http://schemas.openxmlformats.org/drawingml/2006/main"/>
      </p:grpSpPr>
      <p:sp>
        <p:nvSpPr>
          <p:cNvPr id="103" name="Google Shape;103;p18">
            <a:extLst xmlns:a="http://schemas.openxmlformats.org/drawingml/2006/main">
              <a:ext uri="{FF2B5EF4-FFF2-40B4-BE49-F238E27FC236}">
                <a16:creationId xmlns:a16="http://schemas.microsoft.com/office/drawing/2014/main" id="{6882F6CB-7DFB-434B-9C17-052C228C3725}"/>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04" name="Google Shape;104;p18">
            <a:extLst xmlns:a="http://schemas.openxmlformats.org/drawingml/2006/main">
              <a:ext uri="{FF2B5EF4-FFF2-40B4-BE49-F238E27FC236}">
                <a16:creationId xmlns:a16="http://schemas.microsoft.com/office/drawing/2014/main" id="{19F01C48-7CD6-4454-AA16-DEE4B3D661DB}"/>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105" name="Google Shape;105;p18">
            <a:extLst xmlns:a="http://schemas.openxmlformats.org/drawingml/2006/main">
              <a:ext uri="{FF2B5EF4-FFF2-40B4-BE49-F238E27FC236}">
                <a16:creationId xmlns:a16="http://schemas.microsoft.com/office/drawing/2014/main" id="{0AC334D6-EE82-4ABD-BE0F-EF61F548CAF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8.xml><?xml version="1.0" encoding="utf-8"?>
<p:sldLayout xmlns:p="http://schemas.openxmlformats.org/presentationml/2006/main" matchingName="Titre et corps (g3f39e086993_52_0)">
  <p:cSld name="Titre et corps (g3f39e086993_52_0)">
    <p:spTree>
      <p:nvGrpSpPr>
        <p:cNvPr id="1" name=""/>
        <p:cNvGrpSpPr/>
        <p:nvPr/>
      </p:nvGrpSpPr>
      <p:grpSpPr>
        <a:xfrm xmlns:a="http://schemas.openxmlformats.org/drawingml/2006/main"/>
      </p:grpSpPr>
      <p:sp>
        <p:nvSpPr>
          <p:cNvPr id="107" name="Google Shape;107;p19">
            <a:extLst xmlns:a="http://schemas.openxmlformats.org/drawingml/2006/main">
              <a:ext uri="{FF2B5EF4-FFF2-40B4-BE49-F238E27FC236}">
                <a16:creationId xmlns:a16="http://schemas.microsoft.com/office/drawing/2014/main" id="{7A95734B-7538-43FA-A32E-5B69AC8AE202}"/>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08" name="Google Shape;108;p19">
            <a:extLst xmlns:a="http://schemas.openxmlformats.org/drawingml/2006/main">
              <a:ext uri="{FF2B5EF4-FFF2-40B4-BE49-F238E27FC236}">
                <a16:creationId xmlns:a16="http://schemas.microsoft.com/office/drawing/2014/main" id="{11579C5F-FC5A-4836-A0E7-E62F613D9CFE}"/>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109" name="Google Shape;109;p19">
            <a:extLst xmlns:a="http://schemas.openxmlformats.org/drawingml/2006/main">
              <a:ext uri="{FF2B5EF4-FFF2-40B4-BE49-F238E27FC236}">
                <a16:creationId xmlns:a16="http://schemas.microsoft.com/office/drawing/2014/main" id="{29AD7E0D-3880-481F-8287-5B52AF86FDA0}"/>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9.xml><?xml version="1.0" encoding="utf-8"?>
<p:sldLayout xmlns:p="http://schemas.openxmlformats.org/presentationml/2006/main" matchingName="Titre uniquement (g3f3aeb22515_27_0)">
  <p:cSld name="Titre uniquement (g3f3aeb22515_27_0)">
    <p:spTree>
      <p:nvGrpSpPr>
        <p:cNvPr id="1" name=""/>
        <p:cNvGrpSpPr/>
        <p:nvPr/>
      </p:nvGrpSpPr>
      <p:grpSpPr>
        <a:xfrm xmlns:a="http://schemas.openxmlformats.org/drawingml/2006/main"/>
      </p:grpSpPr>
      <p:sp>
        <p:nvSpPr>
          <p:cNvPr id="111" name="Google Shape;111;p20">
            <a:extLst xmlns:a="http://schemas.openxmlformats.org/drawingml/2006/main">
              <a:ext uri="{FF2B5EF4-FFF2-40B4-BE49-F238E27FC236}">
                <a16:creationId xmlns:a16="http://schemas.microsoft.com/office/drawing/2014/main" id="{7D29F4A2-0659-4E12-91AE-7686AE691E26}"/>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12" name="Google Shape;112;p20">
            <a:extLst xmlns:a="http://schemas.openxmlformats.org/drawingml/2006/main">
              <a:ext uri="{FF2B5EF4-FFF2-40B4-BE49-F238E27FC236}">
                <a16:creationId xmlns:a16="http://schemas.microsoft.com/office/drawing/2014/main" id="{75F2F791-292A-4170-8AB3-21F4ADD821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0.xml><?xml version="1.0" encoding="utf-8"?>
<p:sldLayout xmlns:p="http://schemas.openxmlformats.org/presentationml/2006/main" matchingName="Titre uniquement (g3f3aeb22515_98_0)">
  <p:cSld name="Titre uniquement (g3f3aeb22515_98_0)">
    <p:spTree>
      <p:nvGrpSpPr>
        <p:cNvPr id="1" name=""/>
        <p:cNvGrpSpPr/>
        <p:nvPr/>
      </p:nvGrpSpPr>
      <p:grpSpPr>
        <a:xfrm xmlns:a="http://schemas.openxmlformats.org/drawingml/2006/main"/>
      </p:grpSpPr>
      <p:sp>
        <p:nvSpPr>
          <p:cNvPr id="114" name="Google Shape;114;p21">
            <a:extLst xmlns:a="http://schemas.openxmlformats.org/drawingml/2006/main">
              <a:ext uri="{FF2B5EF4-FFF2-40B4-BE49-F238E27FC236}">
                <a16:creationId xmlns:a16="http://schemas.microsoft.com/office/drawing/2014/main" id="{7454E956-5074-4F78-8129-9DDB59216E5B}"/>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15" name="Google Shape;115;p21">
            <a:extLst xmlns:a="http://schemas.openxmlformats.org/drawingml/2006/main">
              <a:ext uri="{FF2B5EF4-FFF2-40B4-BE49-F238E27FC236}">
                <a16:creationId xmlns:a16="http://schemas.microsoft.com/office/drawing/2014/main" id="{EE7B1594-58E2-4682-8E26-E7EA24B96C2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1.xml><?xml version="1.0" encoding="utf-8"?>
<p:sldLayout xmlns:p="http://schemas.openxmlformats.org/presentationml/2006/main" matchingName="Titre uniquement (g3f3aeb22515_105_0)">
  <p:cSld name="Titre uniquement (g3f3aeb22515_105_0)">
    <p:spTree>
      <p:nvGrpSpPr>
        <p:cNvPr id="1" name=""/>
        <p:cNvGrpSpPr/>
        <p:nvPr/>
      </p:nvGrpSpPr>
      <p:grpSpPr>
        <a:xfrm xmlns:a="http://schemas.openxmlformats.org/drawingml/2006/main"/>
      </p:grpSpPr>
      <p:sp>
        <p:nvSpPr>
          <p:cNvPr id="117" name="Google Shape;117;p22">
            <a:extLst xmlns:a="http://schemas.openxmlformats.org/drawingml/2006/main">
              <a:ext uri="{FF2B5EF4-FFF2-40B4-BE49-F238E27FC236}">
                <a16:creationId xmlns:a16="http://schemas.microsoft.com/office/drawing/2014/main" id="{B98BF1D0-3A2B-4AD5-B888-B54E27D4C241}"/>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18" name="Google Shape;118;p22">
            <a:extLst xmlns:a="http://schemas.openxmlformats.org/drawingml/2006/main">
              <a:ext uri="{FF2B5EF4-FFF2-40B4-BE49-F238E27FC236}">
                <a16:creationId xmlns:a16="http://schemas.microsoft.com/office/drawing/2014/main" id="{6B94C11C-B027-4EA4-AC4A-F28CBC9AB04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2.xml><?xml version="1.0" encoding="utf-8"?>
<p:sldLayout xmlns:p="http://schemas.openxmlformats.org/presentationml/2006/main" matchingName="Diapositive de titre (g3f3aeb22515_154_0)">
  <p:cSld name="Diapositive de titre (g3f3aeb22515_154_0)">
    <p:bg>
      <p:bgPr>
        <a:solidFill xmlns:a="http://schemas.openxmlformats.org/drawingml/2006/main">
          <a:schemeClr val="lt2"/>
        </a:solidFill>
      </p:bgPr>
    </p:bg>
    <p:spTree>
      <p:nvGrpSpPr>
        <p:cNvPr id="1" name=""/>
        <p:cNvGrpSpPr/>
        <p:nvPr/>
      </p:nvGrpSpPr>
      <p:grpSpPr>
        <a:xfrm xmlns:a="http://schemas.openxmlformats.org/drawingml/2006/main"/>
      </p:grpSpPr>
      <p:sp>
        <p:nvSpPr>
          <p:cNvPr id="120" name="Google Shape;120;p23">
            <a:extLst xmlns:a="http://schemas.openxmlformats.org/drawingml/2006/main">
              <a:ext uri="{FF2B5EF4-FFF2-40B4-BE49-F238E27FC236}">
                <a16:creationId xmlns:a16="http://schemas.microsoft.com/office/drawing/2014/main" id="{BEE0926C-68D2-4ACE-B150-E7AB7738F90C}"/>
              </a:ext>
            </a:extLst>
          </p:cNvPr>
          <p:cNvSpPr>
            <a:spLocks xmlns:a="http://schemas.openxmlformats.org/drawingml/2006/main" noGrp="1"/>
          </p:cNvSpPr>
          <p:nvPr>
            <p:ph type="ctrTitle" idx="0"/>
          </p:nvPr>
        </p:nvSpPr>
        <p:spPr>
          <a:xfrm xmlns:a="http://schemas.openxmlformats.org/drawingml/2006/main">
            <a:off x="729450" y="1322450"/>
            <a:ext cx="7688100" cy="1664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4200"/>
              <a:buNone/>
              <a:defRPr sz="4200"/>
            </a:lvl1pPr>
            <a:lvl2pPr>
              <a:spcBef>
                <a:spcPts val="0"/>
              </a:spcBef>
              <a:spcAft>
                <a:spcPts val="0"/>
              </a:spcAft>
              <a:buSzPts val="4200"/>
              <a:buNone/>
              <a:defRPr sz="4200"/>
            </a:lvl2pPr>
            <a:lvl3pPr>
              <a:spcBef>
                <a:spcPts val="0"/>
              </a:spcBef>
              <a:spcAft>
                <a:spcPts val="0"/>
              </a:spcAft>
              <a:buSzPts val="4200"/>
              <a:buNone/>
              <a:defRPr sz="4200"/>
            </a:lvl3pPr>
            <a:lvl4pPr>
              <a:spcBef>
                <a:spcPts val="0"/>
              </a:spcBef>
              <a:spcAft>
                <a:spcPts val="0"/>
              </a:spcAft>
              <a:buSzPts val="4200"/>
              <a:buNone/>
              <a:defRPr sz="4200"/>
            </a:lvl4pPr>
            <a:lvl5pPr>
              <a:spcBef>
                <a:spcPts val="0"/>
              </a:spcBef>
              <a:spcAft>
                <a:spcPts val="0"/>
              </a:spcAft>
              <a:buSzPts val="4200"/>
              <a:buNone/>
              <a:defRPr sz="4200"/>
            </a:lvl5pPr>
            <a:lvl6pPr>
              <a:spcBef>
                <a:spcPts val="0"/>
              </a:spcBef>
              <a:spcAft>
                <a:spcPts val="0"/>
              </a:spcAft>
              <a:buSzPts val="4200"/>
              <a:buNone/>
              <a:defRPr sz="4200"/>
            </a:lvl6pPr>
            <a:lvl7pPr>
              <a:spcBef>
                <a:spcPts val="0"/>
              </a:spcBef>
              <a:spcAft>
                <a:spcPts val="0"/>
              </a:spcAft>
              <a:buSzPts val="4200"/>
              <a:buNone/>
              <a:defRPr sz="4200"/>
            </a:lvl7pPr>
            <a:lvl8pPr>
              <a:spcBef>
                <a:spcPts val="0"/>
              </a:spcBef>
              <a:spcAft>
                <a:spcPts val="0"/>
              </a:spcAft>
              <a:buSzPts val="4200"/>
              <a:buNone/>
              <a:defRPr sz="4200"/>
            </a:lvl8pPr>
            <a:lvl9pPr>
              <a:spcBef>
                <a:spcPts val="0"/>
              </a:spcBef>
              <a:spcAft>
                <a:spcPts val="0"/>
              </a:spcAft>
              <a:buSzPts val="4200"/>
              <a:buNone/>
              <a:defRPr sz="4200"/>
            </a:lvl9pPr>
          </a:lstStyle>
          <a:p xmlns:a="http://schemas.openxmlformats.org/drawingml/2006/main"/>
        </p:txBody>
      </p:sp>
      <p:sp>
        <p:nvSpPr>
          <p:cNvPr id="121" name="Google Shape;121;p23">
            <a:extLst xmlns:a="http://schemas.openxmlformats.org/drawingml/2006/main">
              <a:ext uri="{FF2B5EF4-FFF2-40B4-BE49-F238E27FC236}">
                <a16:creationId xmlns:a16="http://schemas.microsoft.com/office/drawing/2014/main" id="{268E7F4B-3EBA-4FBF-976B-9A57E002BB07}"/>
              </a:ext>
            </a:extLst>
          </p:cNvPr>
          <p:cNvSpPr>
            <a:spLocks xmlns:a="http://schemas.openxmlformats.org/drawingml/2006/main" noGrp="1"/>
          </p:cNvSpPr>
          <p:nvPr>
            <p:ph type="subTitle" idx="1"/>
          </p:nvPr>
        </p:nvSpPr>
        <p:spPr>
          <a:xfrm xmlns:a="http://schemas.openxmlformats.org/drawingml/2006/main">
            <a:off x="729627" y="3172900"/>
            <a:ext cx="7688100" cy="541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SzPts val="1600"/>
              <a:buNone/>
              <a:defRPr sz="1600"/>
            </a:lvl1pPr>
            <a:lvl2pPr>
              <a:lnSpc>
                <a:spcPct val="100000"/>
              </a:lnSpc>
              <a:spcBef>
                <a:spcPts val="0"/>
              </a:spcBef>
              <a:spcAft>
                <a:spcPts val="0"/>
              </a:spcAft>
              <a:buSzPts val="1600"/>
              <a:buNone/>
              <a:defRPr sz="1600"/>
            </a:lvl2pPr>
            <a:lvl3pPr>
              <a:lnSpc>
                <a:spcPct val="100000"/>
              </a:lnSpc>
              <a:spcBef>
                <a:spcPts val="0"/>
              </a:spcBef>
              <a:spcAft>
                <a:spcPts val="0"/>
              </a:spcAft>
              <a:buSzPts val="1600"/>
              <a:buNone/>
              <a:defRPr sz="1600"/>
            </a:lvl3pPr>
            <a:lvl4pPr>
              <a:lnSpc>
                <a:spcPct val="100000"/>
              </a:lnSpc>
              <a:spcBef>
                <a:spcPts val="0"/>
              </a:spcBef>
              <a:spcAft>
                <a:spcPts val="0"/>
              </a:spcAft>
              <a:buSzPts val="1600"/>
              <a:buNone/>
              <a:defRPr sz="1600"/>
            </a:lvl4pPr>
            <a:lvl5pPr>
              <a:lnSpc>
                <a:spcPct val="100000"/>
              </a:lnSpc>
              <a:spcBef>
                <a:spcPts val="0"/>
              </a:spcBef>
              <a:spcAft>
                <a:spcPts val="0"/>
              </a:spcAft>
              <a:buSzPts val="1600"/>
              <a:buNone/>
              <a:defRPr sz="1600"/>
            </a:lvl5pPr>
            <a:lvl6pPr>
              <a:lnSpc>
                <a:spcPct val="100000"/>
              </a:lnSpc>
              <a:spcBef>
                <a:spcPts val="0"/>
              </a:spcBef>
              <a:spcAft>
                <a:spcPts val="0"/>
              </a:spcAft>
              <a:buSzPts val="1600"/>
              <a:buNone/>
              <a:defRPr sz="1600"/>
            </a:lvl6pPr>
            <a:lvl7pPr>
              <a:lnSpc>
                <a:spcPct val="100000"/>
              </a:lnSpc>
              <a:spcBef>
                <a:spcPts val="0"/>
              </a:spcBef>
              <a:spcAft>
                <a:spcPts val="0"/>
              </a:spcAft>
              <a:buSzPts val="1600"/>
              <a:buNone/>
              <a:defRPr sz="1600"/>
            </a:lvl7pPr>
            <a:lvl8pPr>
              <a:lnSpc>
                <a:spcPct val="100000"/>
              </a:lnSpc>
              <a:spcBef>
                <a:spcPts val="0"/>
              </a:spcBef>
              <a:spcAft>
                <a:spcPts val="0"/>
              </a:spcAft>
              <a:buSzPts val="1600"/>
              <a:buNone/>
              <a:defRPr sz="1600"/>
            </a:lvl8pPr>
            <a:lvl9pPr>
              <a:lnSpc>
                <a:spcPct val="100000"/>
              </a:lnSpc>
              <a:spcBef>
                <a:spcPts val="0"/>
              </a:spcBef>
              <a:spcAft>
                <a:spcPts val="0"/>
              </a:spcAft>
              <a:buSzPts val="1600"/>
              <a:buNone/>
              <a:defRPr sz="1600"/>
            </a:lvl9pPr>
          </a:lstStyle>
          <a:p xmlns:a="http://schemas.openxmlformats.org/drawingml/2006/main"/>
        </p:txBody>
      </p:sp>
      <p:sp>
        <p:nvSpPr>
          <p:cNvPr id="122" name="Google Shape;122;p23">
            <a:extLst xmlns:a="http://schemas.openxmlformats.org/drawingml/2006/main">
              <a:ext uri="{FF2B5EF4-FFF2-40B4-BE49-F238E27FC236}">
                <a16:creationId xmlns:a16="http://schemas.microsoft.com/office/drawing/2014/main" id="{FBE94A5B-55F2-4BB4-B2CE-EC6DEC114440}"/>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3.xml><?xml version="1.0" encoding="utf-8"?>
<p:sldLayout xmlns:p="http://schemas.openxmlformats.org/presentationml/2006/main" matchingName="Titre et corps (g3f3aeb22515_164_0)">
  <p:cSld name="Titre et corps (g3f3aeb22515_164_0)">
    <p:spTree>
      <p:nvGrpSpPr>
        <p:cNvPr id="1" name=""/>
        <p:cNvGrpSpPr/>
        <p:nvPr/>
      </p:nvGrpSpPr>
      <p:grpSpPr>
        <a:xfrm xmlns:a="http://schemas.openxmlformats.org/drawingml/2006/main"/>
      </p:grpSpPr>
      <p:sp>
        <p:nvSpPr>
          <p:cNvPr id="124" name="Google Shape;124;p24">
            <a:extLst xmlns:a="http://schemas.openxmlformats.org/drawingml/2006/main">
              <a:ext uri="{FF2B5EF4-FFF2-40B4-BE49-F238E27FC236}">
                <a16:creationId xmlns:a16="http://schemas.microsoft.com/office/drawing/2014/main" id="{A24049C0-A503-4841-AAA6-0D98E4138381}"/>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600"/>
              <a:buNone/>
              <a:defRPr sz="2600"/>
            </a:lvl1pPr>
            <a:lvl2pPr>
              <a:spcBef>
                <a:spcPts val="0"/>
              </a:spcBef>
              <a:spcAft>
                <a:spcPts val="0"/>
              </a:spcAft>
              <a:buSzPts val="2600"/>
              <a:buNone/>
              <a:defRPr sz="2600"/>
            </a:lvl2pPr>
            <a:lvl3pPr>
              <a:spcBef>
                <a:spcPts val="0"/>
              </a:spcBef>
              <a:spcAft>
                <a:spcPts val="0"/>
              </a:spcAft>
              <a:buSzPts val="2600"/>
              <a:buNone/>
              <a:defRPr sz="2600"/>
            </a:lvl3pPr>
            <a:lvl4pPr>
              <a:spcBef>
                <a:spcPts val="0"/>
              </a:spcBef>
              <a:spcAft>
                <a:spcPts val="0"/>
              </a:spcAft>
              <a:buSzPts val="2600"/>
              <a:buNone/>
              <a:defRPr sz="2600"/>
            </a:lvl4pPr>
            <a:lvl5pPr>
              <a:spcBef>
                <a:spcPts val="0"/>
              </a:spcBef>
              <a:spcAft>
                <a:spcPts val="0"/>
              </a:spcAft>
              <a:buSzPts val="2600"/>
              <a:buNone/>
              <a:defRPr sz="2600"/>
            </a:lvl5pPr>
            <a:lvl6pPr>
              <a:spcBef>
                <a:spcPts val="0"/>
              </a:spcBef>
              <a:spcAft>
                <a:spcPts val="0"/>
              </a:spcAft>
              <a:buSzPts val="2600"/>
              <a:buNone/>
              <a:defRPr sz="2600"/>
            </a:lvl6pPr>
            <a:lvl7pPr>
              <a:spcBef>
                <a:spcPts val="0"/>
              </a:spcBef>
              <a:spcAft>
                <a:spcPts val="0"/>
              </a:spcAft>
              <a:buSzPts val="2600"/>
              <a:buNone/>
              <a:defRPr sz="2600"/>
            </a:lvl7pPr>
            <a:lvl8pPr>
              <a:spcBef>
                <a:spcPts val="0"/>
              </a:spcBef>
              <a:spcAft>
                <a:spcPts val="0"/>
              </a:spcAft>
              <a:buSzPts val="2600"/>
              <a:buNone/>
              <a:defRPr sz="2600"/>
            </a:lvl8pPr>
            <a:lvl9pPr>
              <a:spcBef>
                <a:spcPts val="0"/>
              </a:spcBef>
              <a:spcAft>
                <a:spcPts val="0"/>
              </a:spcAft>
              <a:buSzPts val="2600"/>
              <a:buNone/>
              <a:defRPr sz="2600"/>
            </a:lvl9pPr>
          </a:lstStyle>
          <a:p xmlns:a="http://schemas.openxmlformats.org/drawingml/2006/main"/>
        </p:txBody>
      </p:sp>
      <p:sp>
        <p:nvSpPr>
          <p:cNvPr id="125" name="Google Shape;125;p24">
            <a:extLst xmlns:a="http://schemas.openxmlformats.org/drawingml/2006/main">
              <a:ext uri="{FF2B5EF4-FFF2-40B4-BE49-F238E27FC236}">
                <a16:creationId xmlns:a16="http://schemas.microsoft.com/office/drawing/2014/main" id="{C2D0F874-6F69-41A6-9685-622BE8F07261}"/>
              </a:ext>
            </a:extLst>
          </p:cNvPr>
          <p:cNvSpPr>
            <a:spLocks xmlns:a="http://schemas.openxmlformats.org/drawingml/2006/main" noGrp="1"/>
          </p:cNvSpPr>
          <p:nvPr>
            <p:ph type="body" idx="1"/>
          </p:nvPr>
        </p:nvSpPr>
        <p:spPr>
          <a:xfrm xmlns:a="http://schemas.openxmlformats.org/drawingml/2006/main">
            <a:off x="729450" y="2078875"/>
            <a:ext cx="7688700" cy="2261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126" name="Google Shape;126;p24">
            <a:extLst xmlns:a="http://schemas.openxmlformats.org/drawingml/2006/main">
              <a:ext uri="{FF2B5EF4-FFF2-40B4-BE49-F238E27FC236}">
                <a16:creationId xmlns:a16="http://schemas.microsoft.com/office/drawing/2014/main" id="{11882750-8992-4F10-B18C-C67CFDB693F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f8cad3d4c54e9c" /><Relationship Type="http://schemas.openxmlformats.org/officeDocument/2006/relationships/slideLayout" Target="/ppt/slideLayouts/slideLayout1.xml" Id="R528188239e354632" /><Relationship Type="http://schemas.openxmlformats.org/officeDocument/2006/relationships/slideLayout" Target="/ppt/slideLayouts/slideLayout2.xml" Id="R27ef44a4ec324903" /><Relationship Type="http://schemas.openxmlformats.org/officeDocument/2006/relationships/slideLayout" Target="/ppt/slideLayouts/slideLayout3.xml" Id="R1451264cf1074713" /><Relationship Type="http://schemas.openxmlformats.org/officeDocument/2006/relationships/slideLayout" Target="/ppt/slideLayouts/slideLayout4.xml" Id="R223bbbc219d4475c" /><Relationship Type="http://schemas.openxmlformats.org/officeDocument/2006/relationships/slideLayout" Target="/ppt/slideLayouts/slideLayout5.xml" Id="R7d829e3cb5bb461d" /><Relationship Type="http://schemas.openxmlformats.org/officeDocument/2006/relationships/slideLayout" Target="/ppt/slideLayouts/slideLayout6.xml" Id="Rdef5f0a82cf847fb" /><Relationship Type="http://schemas.openxmlformats.org/officeDocument/2006/relationships/slideLayout" Target="/ppt/slideLayouts/slideLayout7.xml" Id="R582b685add92447a" /><Relationship Type="http://schemas.openxmlformats.org/officeDocument/2006/relationships/slideLayout" Target="/ppt/slideLayouts/slideLayout8.xml" Id="R8721de73032647e9" /><Relationship Type="http://schemas.openxmlformats.org/officeDocument/2006/relationships/slideLayout" Target="/ppt/slideLayouts/slideLayout9.xml" Id="Ree20acfe6f2a475c" /><Relationship Type="http://schemas.openxmlformats.org/officeDocument/2006/relationships/slideLayout" Target="/ppt/slideLayouts/slideLayout10.xml" Id="R90252c514d254ecb" /><Relationship Type="http://schemas.openxmlformats.org/officeDocument/2006/relationships/slideLayout" Target="/ppt/slideLayouts/slideLayout11.xml" Id="R5c3d00d98daa45f5" /><Relationship Type="http://schemas.openxmlformats.org/officeDocument/2006/relationships/slideLayout" Target="/ppt/slideLayouts/slideLayout12.xml" Id="R7bee4ca688ec44ba" /><Relationship Type="http://schemas.openxmlformats.org/officeDocument/2006/relationships/slideLayout" Target="/ppt/slideLayouts/slideLayout13.xml" Id="R66ad2a9058f24cf2" /><Relationship Type="http://schemas.openxmlformats.org/officeDocument/2006/relationships/slideLayout" Target="/ppt/slideLayouts/slideLayout14.xml" Id="R186cfae2bcfa4cac" /><Relationship Type="http://schemas.openxmlformats.org/officeDocument/2006/relationships/slideLayout" Target="/ppt/slideLayouts/slideLayout15.xml" Id="R1589090976664113" /><Relationship Type="http://schemas.openxmlformats.org/officeDocument/2006/relationships/slideLayout" Target="/ppt/slideLayouts/slideLayout16.xml" Id="R0b867fdba9dd4a46" /><Relationship Type="http://schemas.openxmlformats.org/officeDocument/2006/relationships/slideLayout" Target="/ppt/slideLayouts/slideLayout17.xml" Id="Rb7b01fcd42ab4e5d" /><Relationship Type="http://schemas.openxmlformats.org/officeDocument/2006/relationships/slideLayout" Target="/ppt/slideLayouts/slideLayout18.xml" Id="R130795cc1bd447df" /><Relationship Type="http://schemas.openxmlformats.org/officeDocument/2006/relationships/slideLayout" Target="/ppt/slideLayouts/slideLayout19.xml" Id="R9d0c68aa41a6448a" /><Relationship Type="http://schemas.openxmlformats.org/officeDocument/2006/relationships/slideLayout" Target="/ppt/slideLayouts/slideLayout20.xml" Id="R13148dfb5b544f92" /><Relationship Type="http://schemas.openxmlformats.org/officeDocument/2006/relationships/slideLayout" Target="/ppt/slideLayouts/slideLayout21.xml" Id="R3c75b050797a41c5" /><Relationship Type="http://schemas.openxmlformats.org/officeDocument/2006/relationships/slideLayout" Target="/ppt/slideLayouts/slideLayout22.xml" Id="R2cc2aaee2ac64e52" /><Relationship Type="http://schemas.openxmlformats.org/officeDocument/2006/relationships/slideLayout" Target="/ppt/slideLayouts/slideLayout23.xml" Id="R4dc94fffe529463c" /></Relationships>
</file>

<file path=ppt/slideMasters/slideMaster1.xml><?xml version="1.0" encoding="utf-8"?>
<p:sldMaster xmlns:p="http://schemas.openxmlformats.org/presentationml/2006/main">
  <p:cSld name="streamline">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A09E6FC0-11B0-43E8-9A6B-D52D5EA6060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2"/>
              </a:buClr>
              <a:buSzPts val="2800"/>
              <a:buFont typeface="Raleway"/>
              <a:buNone/>
              <a:defRPr sz="2800" b="1">
                <a:solidFill>
                  <a:schemeClr val="dk2"/>
                </a:solidFill>
                <a:latin typeface="Raleway"/>
                <a:ea typeface="Raleway"/>
                <a:cs typeface="Raleway"/>
              </a:defRPr>
            </a:lvl1pPr>
            <a:lvl2pPr>
              <a:spcBef>
                <a:spcPts val="0"/>
              </a:spcBef>
              <a:spcAft>
                <a:spcPts val="0"/>
              </a:spcAft>
              <a:buClr>
                <a:schemeClr val="dk2"/>
              </a:buClr>
              <a:buSzPts val="2800"/>
              <a:buFont typeface="Raleway"/>
              <a:buNone/>
              <a:defRPr sz="2800" b="1">
                <a:solidFill>
                  <a:schemeClr val="dk2"/>
                </a:solidFill>
                <a:latin typeface="Raleway"/>
                <a:ea typeface="Raleway"/>
                <a:cs typeface="Raleway"/>
              </a:defRPr>
            </a:lvl2pPr>
            <a:lvl3pPr>
              <a:spcBef>
                <a:spcPts val="0"/>
              </a:spcBef>
              <a:spcAft>
                <a:spcPts val="0"/>
              </a:spcAft>
              <a:buClr>
                <a:schemeClr val="dk2"/>
              </a:buClr>
              <a:buSzPts val="2800"/>
              <a:buFont typeface="Raleway"/>
              <a:buNone/>
              <a:defRPr sz="2800" b="1">
                <a:solidFill>
                  <a:schemeClr val="dk2"/>
                </a:solidFill>
                <a:latin typeface="Raleway"/>
                <a:ea typeface="Raleway"/>
                <a:cs typeface="Raleway"/>
              </a:defRPr>
            </a:lvl3pPr>
            <a:lvl4pPr>
              <a:spcBef>
                <a:spcPts val="0"/>
              </a:spcBef>
              <a:spcAft>
                <a:spcPts val="0"/>
              </a:spcAft>
              <a:buClr>
                <a:schemeClr val="dk2"/>
              </a:buClr>
              <a:buSzPts val="2800"/>
              <a:buFont typeface="Raleway"/>
              <a:buNone/>
              <a:defRPr sz="2800" b="1">
                <a:solidFill>
                  <a:schemeClr val="dk2"/>
                </a:solidFill>
                <a:latin typeface="Raleway"/>
                <a:ea typeface="Raleway"/>
                <a:cs typeface="Raleway"/>
              </a:defRPr>
            </a:lvl4pPr>
            <a:lvl5pPr>
              <a:spcBef>
                <a:spcPts val="0"/>
              </a:spcBef>
              <a:spcAft>
                <a:spcPts val="0"/>
              </a:spcAft>
              <a:buClr>
                <a:schemeClr val="dk2"/>
              </a:buClr>
              <a:buSzPts val="2800"/>
              <a:buFont typeface="Raleway"/>
              <a:buNone/>
              <a:defRPr sz="2800" b="1">
                <a:solidFill>
                  <a:schemeClr val="dk2"/>
                </a:solidFill>
                <a:latin typeface="Raleway"/>
                <a:ea typeface="Raleway"/>
                <a:cs typeface="Raleway"/>
              </a:defRPr>
            </a:lvl5pPr>
            <a:lvl6pPr>
              <a:spcBef>
                <a:spcPts val="0"/>
              </a:spcBef>
              <a:spcAft>
                <a:spcPts val="0"/>
              </a:spcAft>
              <a:buClr>
                <a:schemeClr val="dk2"/>
              </a:buClr>
              <a:buSzPts val="2800"/>
              <a:buFont typeface="Raleway"/>
              <a:buNone/>
              <a:defRPr sz="2800" b="1">
                <a:solidFill>
                  <a:schemeClr val="dk2"/>
                </a:solidFill>
                <a:latin typeface="Raleway"/>
                <a:ea typeface="Raleway"/>
                <a:cs typeface="Raleway"/>
              </a:defRPr>
            </a:lvl6pPr>
            <a:lvl7pPr>
              <a:spcBef>
                <a:spcPts val="0"/>
              </a:spcBef>
              <a:spcAft>
                <a:spcPts val="0"/>
              </a:spcAft>
              <a:buClr>
                <a:schemeClr val="dk2"/>
              </a:buClr>
              <a:buSzPts val="2800"/>
              <a:buFont typeface="Raleway"/>
              <a:buNone/>
              <a:defRPr sz="2800" b="1">
                <a:solidFill>
                  <a:schemeClr val="dk2"/>
                </a:solidFill>
                <a:latin typeface="Raleway"/>
                <a:ea typeface="Raleway"/>
                <a:cs typeface="Raleway"/>
              </a:defRPr>
            </a:lvl7pPr>
            <a:lvl8pPr>
              <a:spcBef>
                <a:spcPts val="0"/>
              </a:spcBef>
              <a:spcAft>
                <a:spcPts val="0"/>
              </a:spcAft>
              <a:buClr>
                <a:schemeClr val="dk2"/>
              </a:buClr>
              <a:buSzPts val="2800"/>
              <a:buFont typeface="Raleway"/>
              <a:buNone/>
              <a:defRPr sz="2800" b="1">
                <a:solidFill>
                  <a:schemeClr val="dk2"/>
                </a:solidFill>
                <a:latin typeface="Raleway"/>
                <a:ea typeface="Raleway"/>
                <a:cs typeface="Raleway"/>
              </a:defRPr>
            </a:lvl8pPr>
            <a:lvl9pPr>
              <a:spcBef>
                <a:spcPts val="0"/>
              </a:spcBef>
              <a:spcAft>
                <a:spcPts val="0"/>
              </a:spcAft>
              <a:buClr>
                <a:schemeClr val="dk2"/>
              </a:buClr>
              <a:buSzPts val="2800"/>
              <a:buFont typeface="Raleway"/>
              <a:buNone/>
              <a:defRPr sz="2800" b="1">
                <a:solidFill>
                  <a:schemeClr val="dk2"/>
                </a:solidFill>
                <a:latin typeface="Raleway"/>
                <a:ea typeface="Raleway"/>
                <a:cs typeface="Raleway"/>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8C9383A-45ED-43DA-BF88-F663A65EF5E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defRPr>
            </a:lvl1pPr>
            <a:lvl2pPr marL="9144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2pPr>
            <a:lvl3pPr marL="13716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3pPr>
            <a:lvl4pPr marL="18288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4pPr>
            <a:lvl5pPr marL="22860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5pPr>
            <a:lvl6pPr marL="27432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6pPr>
            <a:lvl7pPr marL="32004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7pPr>
            <a:lvl8pPr marL="36576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8pPr>
            <a:lvl9pPr marL="4114800"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B16B52ED-E630-4B3D-8EE3-C23AA4235B6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accent1"/>
                </a:solidFill>
                <a:latin typeface="Lato"/>
                <a:ea typeface="Lato"/>
                <a:cs typeface="Lato"/>
              </a:defRPr>
            </a:lvl1pPr>
            <a:lvl2pPr algn="r">
              <a:buNone/>
              <a:defRPr sz="1000">
                <a:solidFill>
                  <a:schemeClr val="accent1"/>
                </a:solidFill>
                <a:latin typeface="Lato"/>
                <a:ea typeface="Lato"/>
                <a:cs typeface="Lato"/>
              </a:defRPr>
            </a:lvl2pPr>
            <a:lvl3pPr algn="r">
              <a:buNone/>
              <a:defRPr sz="1000">
                <a:solidFill>
                  <a:schemeClr val="accent1"/>
                </a:solidFill>
                <a:latin typeface="Lato"/>
                <a:ea typeface="Lato"/>
                <a:cs typeface="Lato"/>
              </a:defRPr>
            </a:lvl3pPr>
            <a:lvl4pPr algn="r">
              <a:buNone/>
              <a:defRPr sz="1000">
                <a:solidFill>
                  <a:schemeClr val="accent1"/>
                </a:solidFill>
                <a:latin typeface="Lato"/>
                <a:ea typeface="Lato"/>
                <a:cs typeface="Lato"/>
              </a:defRPr>
            </a:lvl4pPr>
            <a:lvl5pPr algn="r">
              <a:buNone/>
              <a:defRPr sz="1000">
                <a:solidFill>
                  <a:schemeClr val="accent1"/>
                </a:solidFill>
                <a:latin typeface="Lato"/>
                <a:ea typeface="Lato"/>
                <a:cs typeface="Lato"/>
              </a:defRPr>
            </a:lvl5pPr>
            <a:lvl6pPr algn="r">
              <a:buNone/>
              <a:defRPr sz="1000">
                <a:solidFill>
                  <a:schemeClr val="accent1"/>
                </a:solidFill>
                <a:latin typeface="Lato"/>
                <a:ea typeface="Lato"/>
                <a:cs typeface="Lato"/>
              </a:defRPr>
            </a:lvl6pPr>
            <a:lvl7pPr algn="r">
              <a:buNone/>
              <a:defRPr sz="1000">
                <a:solidFill>
                  <a:schemeClr val="accent1"/>
                </a:solidFill>
                <a:latin typeface="Lato"/>
                <a:ea typeface="Lato"/>
                <a:cs typeface="Lato"/>
              </a:defRPr>
            </a:lvl7pPr>
            <a:lvl8pPr algn="r">
              <a:buNone/>
              <a:defRPr sz="1000">
                <a:solidFill>
                  <a:schemeClr val="accent1"/>
                </a:solidFill>
                <a:latin typeface="Lato"/>
                <a:ea typeface="Lato"/>
                <a:cs typeface="Lato"/>
              </a:defRPr>
            </a:lvl8pPr>
            <a:lvl9pPr algn="r">
              <a:buNone/>
              <a:defRPr sz="1000">
                <a:solidFill>
                  <a:schemeClr val="accent1"/>
                </a:solidFill>
                <a:latin typeface="Lato"/>
                <a:ea typeface="Lato"/>
                <a:cs typeface="Lato"/>
              </a:defRPr>
            </a:lvl9pPr>
          </a:lstStyle>
          <a:p xmlns:a="http://schemas.openxmlformats.org/drawingml/2006/main">
            <a:pPr mar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28188239e354632"/>
    <p:sldLayoutId xmlns:r="http://schemas.openxmlformats.org/officeDocument/2006/relationships" id="2147483650" r:id="R27ef44a4ec324903"/>
    <p:sldLayoutId xmlns:r="http://schemas.openxmlformats.org/officeDocument/2006/relationships" id="2147483651" r:id="R1451264cf1074713"/>
    <p:sldLayoutId xmlns:r="http://schemas.openxmlformats.org/officeDocument/2006/relationships" id="2147483652" r:id="R223bbbc219d4475c"/>
    <p:sldLayoutId xmlns:r="http://schemas.openxmlformats.org/officeDocument/2006/relationships" id="2147483653" r:id="R7d829e3cb5bb461d"/>
    <p:sldLayoutId xmlns:r="http://schemas.openxmlformats.org/officeDocument/2006/relationships" id="2147483654" r:id="Rdef5f0a82cf847fb"/>
    <p:sldLayoutId xmlns:r="http://schemas.openxmlformats.org/officeDocument/2006/relationships" id="2147483655" r:id="R582b685add92447a"/>
    <p:sldLayoutId xmlns:r="http://schemas.openxmlformats.org/officeDocument/2006/relationships" id="2147483656" r:id="R8721de73032647e9"/>
    <p:sldLayoutId xmlns:r="http://schemas.openxmlformats.org/officeDocument/2006/relationships" id="2147483657" r:id="Ree20acfe6f2a475c"/>
    <p:sldLayoutId xmlns:r="http://schemas.openxmlformats.org/officeDocument/2006/relationships" id="2147483658" r:id="R90252c514d254ecb"/>
    <p:sldLayoutId xmlns:r="http://schemas.openxmlformats.org/officeDocument/2006/relationships" id="2147483659" r:id="R5c3d00d98daa45f5"/>
    <p:sldLayoutId xmlns:r="http://schemas.openxmlformats.org/officeDocument/2006/relationships" id="2147483660" r:id="R7bee4ca688ec44ba"/>
    <p:sldLayoutId xmlns:r="http://schemas.openxmlformats.org/officeDocument/2006/relationships" id="2147483661" r:id="R66ad2a9058f24cf2"/>
    <p:sldLayoutId xmlns:r="http://schemas.openxmlformats.org/officeDocument/2006/relationships" id="2147483662" r:id="R186cfae2bcfa4cac"/>
    <p:sldLayoutId xmlns:r="http://schemas.openxmlformats.org/officeDocument/2006/relationships" id="2147483663" r:id="R1589090976664113"/>
    <p:sldLayoutId xmlns:r="http://schemas.openxmlformats.org/officeDocument/2006/relationships" id="2147483664" r:id="R0b867fdba9dd4a46"/>
    <p:sldLayoutId xmlns:r="http://schemas.openxmlformats.org/officeDocument/2006/relationships" id="2147483665" r:id="Rb7b01fcd42ab4e5d"/>
    <p:sldLayoutId xmlns:r="http://schemas.openxmlformats.org/officeDocument/2006/relationships" id="2147483666" r:id="R130795cc1bd447df"/>
    <p:sldLayoutId xmlns:r="http://schemas.openxmlformats.org/officeDocument/2006/relationships" id="2147483667" r:id="R9d0c68aa41a6448a"/>
    <p:sldLayoutId xmlns:r="http://schemas.openxmlformats.org/officeDocument/2006/relationships" id="2147483668" r:id="R13148dfb5b544f92"/>
    <p:sldLayoutId xmlns:r="http://schemas.openxmlformats.org/officeDocument/2006/relationships" id="2147483669" r:id="R3c75b050797a41c5"/>
    <p:sldLayoutId xmlns:r="http://schemas.openxmlformats.org/officeDocument/2006/relationships" id="2147483670" r:id="R2cc2aaee2ac64e52"/>
    <p:sldLayoutId xmlns:r="http://schemas.openxmlformats.org/officeDocument/2006/relationships" id="2147483671" r:id="R4dc94fffe529463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2.xml" Id="R9d0093ab1bf6430e" /><Relationship Type="http://schemas.openxmlformats.org/officeDocument/2006/relationships/image" Target="/ppt/media/image.jpeg" Id="R921994c7b49c4fbf" /><Relationship Type="http://schemas.openxmlformats.org/officeDocument/2006/relationships/image" Target="/ppt/media/image.png" Id="R2b20f610a69d4584" /><Relationship Type="http://schemas.openxmlformats.org/officeDocument/2006/relationships/image" Target="/ppt/media/image2.png" Id="R65faa0036bcb4729" /><Relationship Type="http://schemas.openxmlformats.org/officeDocument/2006/relationships/notesSlide" Target="/ppt/notesSlides/notesSlide1.xml" Id="R0147b53e24144e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3.xml" Id="R25955df72b7e43b0" /><Relationship Type="http://schemas.openxmlformats.org/officeDocument/2006/relationships/notesSlide" Target="/ppt/notesSlides/notesSlide2.xml" Id="R1dcc89ddd45745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6.xml" Id="R5d471679d3884761" /><Relationship Type="http://schemas.openxmlformats.org/officeDocument/2006/relationships/notesSlide" Target="/ppt/notesSlides/notesSlide3.xml" Id="Rf047441b490649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d5b11d73fef049a2" /><Relationship Type="http://schemas.openxmlformats.org/officeDocument/2006/relationships/notesSlide" Target="/ppt/notesSlides/notesSlide4.xml" Id="R4c195066d01649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8.xml" Id="Rd9fe04e6da314afa" /><Relationship Type="http://schemas.openxmlformats.org/officeDocument/2006/relationships/notesSlide" Target="/ppt/notesSlides/notesSlide5.xml" Id="Re1889c1d3c5d40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3.xml" Id="R2abea46d1de64aaf" /><Relationship Type="http://schemas.openxmlformats.org/officeDocument/2006/relationships/notesSlide" Target="/ppt/notesSlides/notesSlide6.xml" Id="R80272ba1c45545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69ca294559b94427" /><Relationship Type="http://schemas.openxmlformats.org/officeDocument/2006/relationships/notesSlide" Target="/ppt/notesSlides/notesSlide7.xml" Id="Re60aa643039544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44ee7346161049ed" /><Relationship Type="http://schemas.openxmlformats.org/officeDocument/2006/relationships/notesSlide" Target="/ppt/notesSlides/notesSlide8.xml" Id="Rfdb0f97a31aa43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b9003fb314964139" /><Relationship Type="http://schemas.openxmlformats.org/officeDocument/2006/relationships/notesSlide" Target="/ppt/notesSlides/notesSlide9.xml" Id="R75d97c15f6704f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4.xml" Id="Red8fc4a1fee7472c" /><Relationship Type="http://schemas.openxmlformats.org/officeDocument/2006/relationships/notesSlide" Target="/ppt/notesSlides/notesSlide10.xml" Id="R28644e321f7740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5.xml" Id="Rce355ae566b846ee" /><Relationship Type="http://schemas.openxmlformats.org/officeDocument/2006/relationships/notesSlide" Target="/ppt/notesSlides/notesSlide11.xml" Id="Rfc83699a0c2f4a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c97c1b7ff4d6492f" /><Relationship Type="http://schemas.openxmlformats.org/officeDocument/2006/relationships/image" Target="/ppt/media/image3.png" Id="R64af0cae617144a4" /><Relationship Type="http://schemas.openxmlformats.org/officeDocument/2006/relationships/notesSlide" Target="/ppt/notesSlides/notesSlide12.xml" Id="R4859ebcfe89b4f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3a070b243cd243bf" /><Relationship Type="http://schemas.openxmlformats.org/officeDocument/2006/relationships/image" Target="/ppt/media/image4.png" Id="R18c76b3e742b4e99" /><Relationship Type="http://schemas.openxmlformats.org/officeDocument/2006/relationships/notesSlide" Target="/ppt/notesSlides/notesSlide13.xml" Id="R21440c4aa1d348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d32bf84623d746e3" /><Relationship Type="http://schemas.openxmlformats.org/officeDocument/2006/relationships/notesSlide" Target="/ppt/notesSlides/notesSlide14.xml" Id="R822bc96a40a64a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3.xml" Id="R20ce24fdd832439b" /><Relationship Type="http://schemas.openxmlformats.org/officeDocument/2006/relationships/notesSlide" Target="/ppt/notesSlides/notesSlide15.xml" Id="Rc43d2be4628b47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08f9ac5603ed4cb5" /><Relationship Type="http://schemas.openxmlformats.org/officeDocument/2006/relationships/image" Target="/ppt/media/image5.png" Id="Ra1bbdadbb3744099" /><Relationship Type="http://schemas.openxmlformats.org/officeDocument/2006/relationships/notesSlide" Target="/ppt/notesSlides/notesSlide16.xml" Id="R7a8c2e44d989443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0.xml" Id="Re253f600e7494948" /><Relationship Type="http://schemas.openxmlformats.org/officeDocument/2006/relationships/image" Target="/ppt/media/image6.png" Id="Rd840c34b91da42a1" /><Relationship Type="http://schemas.openxmlformats.org/officeDocument/2006/relationships/notesSlide" Target="/ppt/notesSlides/notesSlide17.xml" Id="R590c14fd4314473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1.xml" Id="Rcfbe006cf0034c34" /><Relationship Type="http://schemas.openxmlformats.org/officeDocument/2006/relationships/image" Target="/ppt/media/image7.png" Id="R07cdcdaefeee4f14" /><Relationship Type="http://schemas.openxmlformats.org/officeDocument/2006/relationships/image" Target="/ppt/media/image8.png" Id="R7d560a238f1442b1" /><Relationship Type="http://schemas.openxmlformats.org/officeDocument/2006/relationships/notesSlide" Target="/ppt/notesSlides/notesSlide18.xml" Id="R1cadae2567544a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df6349e682c74726" /><Relationship Type="http://schemas.openxmlformats.org/officeDocument/2006/relationships/image" Target="/ppt/media/image9.png" Id="Rae5ae5b384ba42ce" /><Relationship Type="http://schemas.openxmlformats.org/officeDocument/2006/relationships/image" Target="/ppt/media/image10.png" Id="R516de380fdf9449d" /><Relationship Type="http://schemas.openxmlformats.org/officeDocument/2006/relationships/notesSlide" Target="/ppt/notesSlides/notesSlide19.xml" Id="R146dabe8300146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5.xml" Id="R536af6b221d44035" /><Relationship Type="http://schemas.openxmlformats.org/officeDocument/2006/relationships/image" Target="/ppt/media/image11.png" Id="R7a5b81e5d86a44f9" /><Relationship Type="http://schemas.openxmlformats.org/officeDocument/2006/relationships/notesSlide" Target="/ppt/notesSlides/notesSlide20.xml" Id="R3b8bd410f89b4e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5.xml" Id="Rc6f38922a5a84dfa" /><Relationship Type="http://schemas.openxmlformats.org/officeDocument/2006/relationships/image" Target="/ppt/media/image12.png" Id="R479ca33b8a27462d" /><Relationship Type="http://schemas.openxmlformats.org/officeDocument/2006/relationships/notesSlide" Target="/ppt/notesSlides/notesSlide21.xml" Id="R1c455a5d7ca840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3.xml" Id="Rb35a30466dea4206" /><Relationship Type="http://schemas.openxmlformats.org/officeDocument/2006/relationships/notesSlide" Target="/ppt/notesSlides/notesSlide22.xml" Id="R6368c197c4924c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3b9caf61b89e46ba" /><Relationship Type="http://schemas.openxmlformats.org/officeDocument/2006/relationships/notesSlide" Target="/ppt/notesSlides/notesSlide23.xml" Id="R6b2fe402275d4e3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9.xml" Id="R7d8f1d83e6184bfb" /><Relationship Type="http://schemas.openxmlformats.org/officeDocument/2006/relationships/notesSlide" Target="/ppt/notesSlides/notesSlide24.xml" Id="Rf9ede996e0b6477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5.xml" Id="Rd33369ede77f4db0" /><Relationship Type="http://schemas.openxmlformats.org/officeDocument/2006/relationships/notesSlide" Target="/ppt/notesSlides/notesSlide25.xml" Id="R43ebcd02f7584e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602a6e1fca9a4563" /><Relationship Type="http://schemas.openxmlformats.org/officeDocument/2006/relationships/notesSlide" Target="/ppt/notesSlides/notesSlide26.xml" Id="R596fcef886e74e8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5.xml" Id="R0923a56912f7411d" /><Relationship Type="http://schemas.openxmlformats.org/officeDocument/2006/relationships/notesSlide" Target="/ppt/notesSlides/notesSlide27.xml" Id="R9e0f92d1d57843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7.xml" Id="R6632338113a74747" /><Relationship Type="http://schemas.openxmlformats.org/officeDocument/2006/relationships/notesSlide" Target="/ppt/notesSlides/notesSlide28.xml" Id="Rdbe69f0d6f8c4d5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3dc33a37f0cd4e7b" /><Relationship Type="http://schemas.openxmlformats.org/officeDocument/2006/relationships/image" Target="/ppt/media/image2.jpeg" Id="Rc35a510d12f7444b" /><Relationship Type="http://schemas.openxmlformats.org/officeDocument/2006/relationships/notesSlide" Target="/ppt/notesSlides/notesSlide29.xml" Id="Rd844d654861f4ee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31" name="Google Shape;131;p25">
            <a:extLst xmlns:a="http://schemas.openxmlformats.org/drawingml/2006/main">
              <a:ext uri="{FF2B5EF4-FFF2-40B4-BE49-F238E27FC236}">
                <a16:creationId xmlns:a16="http://schemas.microsoft.com/office/drawing/2014/main" id="{A1504853-1CDC-4807-B4B9-29400023E27A}"/>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3" name="Google Shape;133;p25">
            <a:extLst xmlns:a="http://schemas.openxmlformats.org/drawingml/2006/main">
              <a:ext uri="{FF2B5EF4-FFF2-40B4-BE49-F238E27FC236}">
                <a16:creationId xmlns:a16="http://schemas.microsoft.com/office/drawing/2014/main" id="{3583A8C8-6CFC-4CBD-9032-B6A15687658C}"/>
              </a:ext>
            </a:extLst>
          </p:cNvPr>
          <p:cNvSpPr>
            <a:spLocks xmlns:a="http://schemas.openxmlformats.org/drawingml/2006/main" noGrp="1"/>
          </p:cNvSpPr>
          <p:nvPr/>
        </p:nvSpPr>
        <p:spPr>
          <a:xfrm xmlns:a="http://schemas.openxmlformats.org/drawingml/2006/main" rot="0" flipH="0" flipV="0">
            <a:off x="723900" y="762000"/>
            <a:ext cx="381000" cy="47700"/>
          </a:xfrm>
          <a:prstGeom xmlns:a="http://schemas.openxmlformats.org/drawingml/2006/main" prst="rect">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4" name="Google Shape;134;p25">
            <a:extLst xmlns:a="http://schemas.openxmlformats.org/drawingml/2006/main">
              <a:ext uri="{FF2B5EF4-FFF2-40B4-BE49-F238E27FC236}">
                <a16:creationId xmlns:a16="http://schemas.microsoft.com/office/drawing/2014/main" id="{51EDB8CF-C7A5-4783-8908-BB5E3BC5AFF6}"/>
              </a:ext>
            </a:extLst>
          </p:cNvPr>
          <p:cNvSpPr>
            <a:spLocks xmlns:a="http://schemas.openxmlformats.org/drawingml/2006/main" noGrp="1"/>
          </p:cNvSpPr>
          <p:nvPr/>
        </p:nvSpPr>
        <p:spPr>
          <a:xfrm xmlns:a="http://schemas.openxmlformats.org/drawingml/2006/main" rot="0" flipH="0" flipV="0">
            <a:off x="1104900" y="762000"/>
            <a:ext cx="381000" cy="47700"/>
          </a:xfrm>
          <a:prstGeom xmlns:a="http://schemas.openxmlformats.org/drawingml/2006/main" prst="rect">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5" name="Google Shape;135;p25">
            <a:extLst xmlns:a="http://schemas.openxmlformats.org/drawingml/2006/main">
              <a:ext uri="{FF2B5EF4-FFF2-40B4-BE49-F238E27FC236}">
                <a16:creationId xmlns:a16="http://schemas.microsoft.com/office/drawing/2014/main" id="{C11B20E3-2E57-4735-BEAC-B9C795451F9B}"/>
              </a:ext>
            </a:extLst>
          </p:cNvPr>
          <p:cNvSpPr>
            <a:spLocks xmlns:a="http://schemas.openxmlformats.org/drawingml/2006/main" noGrp="1"/>
          </p:cNvSpPr>
          <p:nvPr/>
        </p:nvSpPr>
        <p:spPr>
          <a:xfrm xmlns:a="http://schemas.openxmlformats.org/drawingml/2006/main">
            <a:off x="723900" y="952500"/>
            <a:ext cx="7696200" cy="104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3600" b="1">
                <a:solidFill>
                  <a:srgbClr val="1A1A1A"/>
                </a:solidFill>
                <a:latin typeface="Raleway"/>
                <a:ea typeface="Raleway"/>
                <a:cs typeface="Raleway"/>
              </a:rPr>
              <a:t>Projet Annuel 3 Big Data 2026</a:t>
            </a:r>
          </a:p>
          <a:p xmlns:a="http://schemas.openxmlformats.org/drawingml/2006/main">
            <a:pPr marL="0" indent="0" algn="l">
              <a:spcBef>
                <a:spcPts val="375"/>
              </a:spcBef>
              <a:spcAft>
                <a:spcPts val="0"/>
              </a:spcAft>
              <a:buNone/>
            </a:pPr>
            <a:r>
              <a:rPr sz="1600" b="0">
                <a:solidFill>
                  <a:srgbClr val="1A9988"/>
                </a:solidFill>
                <a:latin typeface="Raleway SemiBold"/>
                <a:ea typeface="Raleway SemiBold"/>
                <a:cs typeface="Raleway SemiBold"/>
              </a:rPr>
              <a:t>Classification de styles architecturaux</a:t>
            </a:r>
          </a:p>
        </p:txBody>
      </p:sp>
      <p:sp>
        <p:nvSpPr>
          <p:cNvPr id="137" name="Google Shape;137;p25">
            <a:extLst xmlns:a="http://schemas.openxmlformats.org/drawingml/2006/main">
              <a:ext uri="{FF2B5EF4-FFF2-40B4-BE49-F238E27FC236}">
                <a16:creationId xmlns:a16="http://schemas.microsoft.com/office/drawing/2014/main" id="{DEF9763F-1B83-425B-B968-CB04D3FA8A0D}"/>
              </a:ext>
            </a:extLst>
          </p:cNvPr>
          <p:cNvSpPr>
            <a:spLocks xmlns:a="http://schemas.openxmlformats.org/drawingml/2006/main" noGrp="1"/>
          </p:cNvSpPr>
          <p:nvPr/>
        </p:nvSpPr>
        <p:spPr>
          <a:xfrm xmlns:a="http://schemas.openxmlformats.org/drawingml/2006/main" rot="0" flipH="0" flipV="0">
            <a:off x="723900" y="2095500"/>
            <a:ext cx="76962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8" name="Google Shape;138;p25">
            <a:extLst xmlns:a="http://schemas.openxmlformats.org/drawingml/2006/main">
              <a:ext uri="{FF2B5EF4-FFF2-40B4-BE49-F238E27FC236}">
                <a16:creationId xmlns:a16="http://schemas.microsoft.com/office/drawing/2014/main" id="{6C556BEF-AFB4-41D8-B800-C363C6337014}"/>
              </a:ext>
            </a:extLst>
          </p:cNvPr>
          <p:cNvSpPr>
            <a:spLocks xmlns:a="http://schemas.openxmlformats.org/drawingml/2006/main" noGrp="1"/>
          </p:cNvSpPr>
          <p:nvPr/>
        </p:nvSpPr>
        <p:spPr>
          <a:xfrm xmlns:a="http://schemas.openxmlformats.org/drawingml/2006/main" rot="0" flipH="0" flipV="0">
            <a:off x="723900" y="2095500"/>
            <a:ext cx="76962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9" name="Google Shape;139;p25">
            <a:extLst xmlns:a="http://schemas.openxmlformats.org/drawingml/2006/main">
              <a:ext uri="{FF2B5EF4-FFF2-40B4-BE49-F238E27FC236}">
                <a16:creationId xmlns:a16="http://schemas.microsoft.com/office/drawing/2014/main" id="{2377803C-04F5-488A-9671-2AFFEF7B3A26}"/>
              </a:ext>
            </a:extLst>
          </p:cNvPr>
          <p:cNvSpPr>
            <a:spLocks xmlns:a="http://schemas.openxmlformats.org/drawingml/2006/main" noGrp="1"/>
          </p:cNvSpPr>
          <p:nvPr/>
        </p:nvSpPr>
        <p:spPr>
          <a:xfrm xmlns:a="http://schemas.openxmlformats.org/drawingml/2006/main" rot="0" flipH="0" flipV="0">
            <a:off x="914400" y="2247900"/>
            <a:ext cx="7315200" cy="66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a:solidFill>
                  <a:srgbClr val="EB5600"/>
                </a:solidFill>
                <a:latin typeface="Raleway"/>
                <a:ea typeface="Raleway"/>
                <a:cs typeface="Raleway"/>
              </a:rPr>
              <a:t>Objectif du projet</a:t>
            </a:r>
          </a:p>
          <a:p xmlns:a="http://schemas.openxmlformats.org/drawingml/2006/main">
            <a:pPr marL="0" indent="0" algn="l">
              <a:spcBef>
                <a:spcPts val="300"/>
              </a:spcBef>
              <a:spcAft>
                <a:spcPts val="0"/>
              </a:spcAft>
              <a:buNone/>
            </a:pPr>
            <a:r>
              <a:rPr sz="1200" b="0">
                <a:solidFill>
                  <a:srgbClr val="595959"/>
                </a:solidFill>
                <a:latin typeface="Lato"/>
                <a:ea typeface="Lato"/>
                <a:cs typeface="Lato"/>
              </a:rPr>
              <a:t>Implémenter et utiliser des modèles et algorithmes simples relatifs au Machine Learning, combiner le tout dans un cas pratique réel.</a:t>
            </a:r>
          </a:p>
        </p:txBody>
      </p:sp>
      <p:pic>
        <p:nvPicPr>
          <p:cNvPr id="161" name="Google Shape;141;p25"/>
          <p:cNvPicPr>
            <a:picLocks xmlns:a="http://schemas.openxmlformats.org/drawingml/2006/main" noChangeAspect="1"/>
          </p:cNvPicPr>
          <p:nvPr/>
        </p:nvPicPr>
        <p:blipFill rotWithShape="1">
          <a:blip xmlns:r="http://schemas.openxmlformats.org/officeDocument/2006/relationships" xmlns:a="http://schemas.openxmlformats.org/drawingml/2006/main" r:embed="R921994c7b49c4fbf">
            <a:alphaModFix/>
          </a:blip>
          <a:srcRect xmlns:a="http://schemas.openxmlformats.org/drawingml/2006/main" l="12503" t="0" r="12495" b="0"/>
          <a:stretch xmlns:a="http://schemas.openxmlformats.org/drawingml/2006/main"/>
        </p:blipFill>
        <p:spPr>
          <a:xfrm xmlns:a="http://schemas.openxmlformats.org/drawingml/2006/main" rot="0" flipH="0" flipV="0">
            <a:off x="723900" y="3333750"/>
            <a:ext cx="571500" cy="571500"/>
          </a:xfrm>
          <a:prstGeom xmlns:a="http://schemas.openxmlformats.org/drawingml/2006/main" prst="roundRect">
            <a:avLst>
              <a:gd name="adj" fmla="val 50000"/>
            </a:avLst>
          </a:prstGeom>
          <a:ln xmlns:a="http://schemas.openxmlformats.org/drawingml/2006/main">
            <a:noFill/>
          </a:ln>
        </p:spPr>
      </p:pic>
      <p:sp>
        <p:nvSpPr>
          <p:cNvPr id="142" name="Google Shape;142;p25">
            <a:extLst xmlns:a="http://schemas.openxmlformats.org/drawingml/2006/main">
              <a:ext uri="{FF2B5EF4-FFF2-40B4-BE49-F238E27FC236}">
                <a16:creationId xmlns:a16="http://schemas.microsoft.com/office/drawing/2014/main" id="{1FEC1356-645E-4E26-ADF0-13CAADAE5D97}"/>
              </a:ext>
            </a:extLst>
          </p:cNvPr>
          <p:cNvSpPr>
            <a:spLocks xmlns:a="http://schemas.openxmlformats.org/drawingml/2006/main" noGrp="1"/>
          </p:cNvSpPr>
          <p:nvPr/>
        </p:nvSpPr>
        <p:spPr>
          <a:xfrm xmlns:a="http://schemas.openxmlformats.org/drawingml/2006/main" rot="0" flipH="0" flipV="0">
            <a:off x="1390650" y="3333750"/>
            <a:ext cx="11430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a:solidFill>
                  <a:srgbClr val="1A1A1A"/>
                </a:solidFill>
                <a:latin typeface="Raleway"/>
                <a:ea typeface="Raleway"/>
                <a:cs typeface="Raleway"/>
              </a:rPr>
              <a:t>Sandor GENOT</a:t>
            </a:r>
          </a:p>
        </p:txBody>
      </p:sp>
      <p:pic>
        <p:nvPicPr>
          <p:cNvPr id="163" name="Google Shape;143;p25"/>
          <p:cNvPicPr>
            <a:picLocks xmlns:a="http://schemas.openxmlformats.org/drawingml/2006/main" noChangeAspect="1"/>
          </p:cNvPicPr>
          <p:nvPr/>
        </p:nvPicPr>
        <p:blipFill rotWithShape="1">
          <a:blip xmlns:r="http://schemas.openxmlformats.org/officeDocument/2006/relationships" xmlns:a="http://schemas.openxmlformats.org/drawingml/2006/main" r:embed="R2b20f610a69d4584">
            <a:alphaModFix/>
          </a:blip>
          <a:srcRect xmlns:a="http://schemas.openxmlformats.org/drawingml/2006/main" l="0" t="11557" r="0" b="11549"/>
          <a:stretch xmlns:a="http://schemas.openxmlformats.org/drawingml/2006/main"/>
        </p:blipFill>
        <p:spPr>
          <a:xfrm xmlns:a="http://schemas.openxmlformats.org/drawingml/2006/main" rot="0" flipH="0" flipV="0">
            <a:off x="2724150" y="3333750"/>
            <a:ext cx="571500" cy="571500"/>
          </a:xfrm>
          <a:prstGeom xmlns:a="http://schemas.openxmlformats.org/drawingml/2006/main" prst="roundRect">
            <a:avLst>
              <a:gd name="adj" fmla="val 50000"/>
            </a:avLst>
          </a:prstGeom>
          <a:ln xmlns:a="http://schemas.openxmlformats.org/drawingml/2006/main">
            <a:noFill/>
          </a:ln>
        </p:spPr>
      </p:pic>
      <p:sp>
        <p:nvSpPr>
          <p:cNvPr id="144" name="Google Shape;144;p25">
            <a:extLst xmlns:a="http://schemas.openxmlformats.org/drawingml/2006/main">
              <a:ext uri="{FF2B5EF4-FFF2-40B4-BE49-F238E27FC236}">
                <a16:creationId xmlns:a16="http://schemas.microsoft.com/office/drawing/2014/main" id="{84827EF7-A91A-44C4-A461-9A7D1E88A5BB}"/>
              </a:ext>
            </a:extLst>
          </p:cNvPr>
          <p:cNvSpPr>
            <a:spLocks xmlns:a="http://schemas.openxmlformats.org/drawingml/2006/main" noGrp="1"/>
          </p:cNvSpPr>
          <p:nvPr/>
        </p:nvSpPr>
        <p:spPr>
          <a:xfrm xmlns:a="http://schemas.openxmlformats.org/drawingml/2006/main" rot="0" flipH="0" flipV="0">
            <a:off x="3390900" y="3333750"/>
            <a:ext cx="11430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a:solidFill>
                  <a:srgbClr val="1A1A1A"/>
                </a:solidFill>
                <a:latin typeface="Raleway"/>
                <a:ea typeface="Raleway"/>
                <a:cs typeface="Raleway"/>
              </a:rPr>
              <a:t>Alexis PHAM</a:t>
            </a:r>
          </a:p>
        </p:txBody>
      </p:sp>
      <p:pic>
        <p:nvPicPr>
          <p:cNvPr id="165" name="Google Shape;145;p25"/>
          <p:cNvPicPr>
            <a:picLocks xmlns:a="http://schemas.openxmlformats.org/drawingml/2006/main" noChangeAspect="1"/>
          </p:cNvPicPr>
          <p:nvPr/>
        </p:nvPicPr>
        <p:blipFill rotWithShape="1">
          <a:blip xmlns:r="http://schemas.openxmlformats.org/officeDocument/2006/relationships" xmlns:a="http://schemas.openxmlformats.org/drawingml/2006/main" r:embed="R65faa0036bcb4729">
            <a:alphaModFix/>
          </a:blip>
          <a:srcRect xmlns:a="http://schemas.openxmlformats.org/drawingml/2006/main" l="0" t="10717" r="0" b="10710"/>
          <a:stretch xmlns:a="http://schemas.openxmlformats.org/drawingml/2006/main"/>
        </p:blipFill>
        <p:spPr>
          <a:xfrm xmlns:a="http://schemas.openxmlformats.org/drawingml/2006/main" rot="0" flipH="0" flipV="0">
            <a:off x="4724400" y="3333750"/>
            <a:ext cx="571500" cy="571500"/>
          </a:xfrm>
          <a:prstGeom xmlns:a="http://schemas.openxmlformats.org/drawingml/2006/main" prst="roundRect">
            <a:avLst>
              <a:gd name="adj" fmla="val 50000"/>
            </a:avLst>
          </a:prstGeom>
          <a:ln xmlns:a="http://schemas.openxmlformats.org/drawingml/2006/main">
            <a:noFill/>
          </a:ln>
        </p:spPr>
      </p:pic>
      <p:sp>
        <p:nvSpPr>
          <p:cNvPr id="146" name="Google Shape;146;p25">
            <a:extLst xmlns:a="http://schemas.openxmlformats.org/drawingml/2006/main">
              <a:ext uri="{FF2B5EF4-FFF2-40B4-BE49-F238E27FC236}">
                <a16:creationId xmlns:a16="http://schemas.microsoft.com/office/drawing/2014/main" id="{949C5758-A54C-4542-BF2A-6AB1A3C5FA9B}"/>
              </a:ext>
            </a:extLst>
          </p:cNvPr>
          <p:cNvSpPr>
            <a:spLocks xmlns:a="http://schemas.openxmlformats.org/drawingml/2006/main" noGrp="1"/>
          </p:cNvSpPr>
          <p:nvPr/>
        </p:nvSpPr>
        <p:spPr>
          <a:xfrm xmlns:a="http://schemas.openxmlformats.org/drawingml/2006/main" rot="0" flipH="0" flipV="0">
            <a:off x="5391150" y="3333750"/>
            <a:ext cx="1333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a:solidFill>
                  <a:srgbClr val="1A1A1A"/>
                </a:solidFill>
                <a:latin typeface="Raleway"/>
                <a:ea typeface="Raleway"/>
                <a:cs typeface="Raleway"/>
              </a:rPr>
              <a:t>Nolan GUILLEMAIN</a:t>
            </a:r>
          </a:p>
        </p:txBody>
      </p:sp>
      <p:sp>
        <p:nvSpPr>
          <p:cNvPr id="148" name="Google Shape;148;p25">
            <a:extLst xmlns:a="http://schemas.openxmlformats.org/drawingml/2006/main">
              <a:ext uri="{FF2B5EF4-FFF2-40B4-BE49-F238E27FC236}">
                <a16:creationId xmlns:a16="http://schemas.microsoft.com/office/drawing/2014/main" id="{BEB65B0F-9619-4355-A3A7-5CBC7C39BF24}"/>
              </a:ext>
            </a:extLst>
          </p:cNvPr>
          <p:cNvSpPr>
            <a:spLocks xmlns:a="http://schemas.openxmlformats.org/drawingml/2006/main" noGrp="1"/>
          </p:cNvSpPr>
          <p:nvPr/>
        </p:nvSpPr>
        <p:spPr>
          <a:xfrm xmlns:a="http://schemas.openxmlformats.org/drawingml/2006/main" rot="0" flipH="0" flipV="0">
            <a:off x="6819900" y="3190875"/>
            <a:ext cx="1600200" cy="857400"/>
          </a:xfrm>
          <a:prstGeom xmlns:a="http://schemas.openxmlformats.org/drawingml/2006/main" prst="roundRect">
            <a:avLst>
              <a:gd name="adj" fmla="val 8888"/>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9" name="Google Shape;149;p25">
            <a:extLst xmlns:a="http://schemas.openxmlformats.org/drawingml/2006/main">
              <a:ext uri="{FF2B5EF4-FFF2-40B4-BE49-F238E27FC236}">
                <a16:creationId xmlns:a16="http://schemas.microsoft.com/office/drawing/2014/main" id="{A1CCF367-ECB5-44CD-8FE1-245CBBD19F10}"/>
              </a:ext>
            </a:extLst>
          </p:cNvPr>
          <p:cNvSpPr>
            <a:spLocks xmlns:a="http://schemas.openxmlformats.org/drawingml/2006/main" noGrp="1"/>
          </p:cNvSpPr>
          <p:nvPr/>
        </p:nvSpPr>
        <p:spPr>
          <a:xfrm xmlns:a="http://schemas.openxmlformats.org/drawingml/2006/main" rot="0" flipH="0" flipV="0">
            <a:off x="6819900" y="3190875"/>
            <a:ext cx="1600200" cy="381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0" name="Google Shape;150;p25">
            <a:extLst xmlns:a="http://schemas.openxmlformats.org/drawingml/2006/main">
              <a:ext uri="{FF2B5EF4-FFF2-40B4-BE49-F238E27FC236}">
                <a16:creationId xmlns:a16="http://schemas.microsoft.com/office/drawing/2014/main" id="{7368A112-BD3B-4DBF-9021-4D492A8A2B08}"/>
              </a:ext>
            </a:extLst>
          </p:cNvPr>
          <p:cNvSpPr>
            <a:spLocks xmlns:a="http://schemas.openxmlformats.org/drawingml/2006/main" noGrp="1"/>
          </p:cNvSpPr>
          <p:nvPr/>
        </p:nvSpPr>
        <p:spPr>
          <a:xfrm xmlns:a="http://schemas.openxmlformats.org/drawingml/2006/main" rot="0" flipH="0" flipV="0">
            <a:off x="6953250" y="3305175"/>
            <a:ext cx="1333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600">
                <a:solidFill>
                  <a:srgbClr val="1A9988"/>
                </a:solidFill>
                <a:latin typeface="Material Icons"/>
                <a:ea typeface="Material Icons"/>
                <a:cs typeface="Material Icons"/>
              </a:rPr>
              <a:t>school</a:t>
            </a:r>
          </a:p>
          <a:p xmlns:a="http://schemas.openxmlformats.org/drawingml/2006/main">
            <a:pPr marL="0" indent="0" algn="l">
              <a:spcBef>
                <a:spcPts val="150"/>
              </a:spcBef>
              <a:spcAft>
                <a:spcPts val="0"/>
              </a:spcAft>
              <a:buNone/>
            </a:pPr>
            <a:r>
              <a:rPr sz="800" b="1">
                <a:solidFill>
                  <a:srgbClr val="595959"/>
                </a:solidFill>
                <a:latin typeface="Raleway"/>
                <a:ea typeface="Raleway"/>
                <a:cs typeface="Raleway"/>
              </a:rPr>
              <a:t>Enseignant</a:t>
            </a:r>
          </a:p>
          <a:p xmlns:a="http://schemas.openxmlformats.org/drawingml/2006/main">
            <a:pPr marL="0" indent="0" algn="l">
              <a:spcBef>
                <a:spcPts val="75"/>
              </a:spcBef>
              <a:spcAft>
                <a:spcPts val="0"/>
              </a:spcAft>
              <a:buNone/>
            </a:pPr>
            <a:r>
              <a:rPr sz="1100" b="1">
                <a:solidFill>
                  <a:srgbClr val="1A1A1A"/>
                </a:solidFill>
                <a:latin typeface="Raleway"/>
                <a:ea typeface="Raleway"/>
                <a:cs typeface="Raleway"/>
              </a:rPr>
              <a:t>Nicolas VIDAL</a:t>
            </a:r>
          </a:p>
        </p:txBody>
      </p:sp>
    </p:spTree>
    <p:extLst>
      <p:ext uri="{BB962C8B-B14F-4D97-AF65-F5344CB8AC3E}">
        <p14:creationId xmlns:p14="http://schemas.microsoft.com/office/powerpoint/2010/main" val="21219463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55" name="Google Shape;155;p26">
            <a:extLst xmlns:a="http://schemas.openxmlformats.org/drawingml/2006/main">
              <a:ext uri="{FF2B5EF4-FFF2-40B4-BE49-F238E27FC236}">
                <a16:creationId xmlns:a16="http://schemas.microsoft.com/office/drawing/2014/main" id="{F7EE8330-4C31-43BD-A229-DAA81084D942}"/>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7" name="Google Shape;157;p26">
            <a:extLst xmlns:a="http://schemas.openxmlformats.org/drawingml/2006/main">
              <a:ext uri="{FF2B5EF4-FFF2-40B4-BE49-F238E27FC236}">
                <a16:creationId xmlns:a16="http://schemas.microsoft.com/office/drawing/2014/main" id="{820A1AD8-E7B5-4EE0-B472-C179FD81B49B}"/>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8" name="Google Shape;158;p26">
            <a:extLst xmlns:a="http://schemas.openxmlformats.org/drawingml/2006/main">
              <a:ext uri="{FF2B5EF4-FFF2-40B4-BE49-F238E27FC236}">
                <a16:creationId xmlns:a16="http://schemas.microsoft.com/office/drawing/2014/main" id="{0B45F6DD-A9CC-4944-ABE7-61064DD747BD}"/>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9" name="Google Shape;159;p26">
            <a:extLst xmlns:a="http://schemas.openxmlformats.org/drawingml/2006/main">
              <a:ext uri="{FF2B5EF4-FFF2-40B4-BE49-F238E27FC236}">
                <a16:creationId xmlns:a16="http://schemas.microsoft.com/office/drawing/2014/main" id="{2D670630-23EF-4F40-8267-BE0CEEAE9DFE}"/>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Contexte</a:t>
            </a:r>
          </a:p>
        </p:txBody>
      </p:sp>
      <p:sp>
        <p:nvSpPr>
          <p:cNvPr id="161" name="Google Shape;161;p26">
            <a:extLst xmlns:a="http://schemas.openxmlformats.org/drawingml/2006/main">
              <a:ext uri="{FF2B5EF4-FFF2-40B4-BE49-F238E27FC236}">
                <a16:creationId xmlns:a16="http://schemas.microsoft.com/office/drawing/2014/main" id="{8454ACB7-DBB3-4FEF-997C-C75651F87ACA}"/>
              </a:ext>
            </a:extLst>
          </p:cNvPr>
          <p:cNvSpPr>
            <a:spLocks xmlns:a="http://schemas.openxmlformats.org/drawingml/2006/main" noGrp="1"/>
          </p:cNvSpPr>
          <p:nvPr/>
        </p:nvSpPr>
        <p:spPr>
          <a:xfrm xmlns:a="http://schemas.openxmlformats.org/drawingml/2006/main" rot="0" flipH="0" flipV="0">
            <a:off x="723900"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2" name="Google Shape;162;p26">
            <a:extLst xmlns:a="http://schemas.openxmlformats.org/drawingml/2006/main">
              <a:ext uri="{FF2B5EF4-FFF2-40B4-BE49-F238E27FC236}">
                <a16:creationId xmlns:a16="http://schemas.microsoft.com/office/drawing/2014/main" id="{C5B4C404-894B-4632-B2B3-C933AA405EAA}"/>
              </a:ext>
            </a:extLst>
          </p:cNvPr>
          <p:cNvSpPr>
            <a:spLocks xmlns:a="http://schemas.openxmlformats.org/drawingml/2006/main" noGrp="1"/>
          </p:cNvSpPr>
          <p:nvPr/>
        </p:nvSpPr>
        <p:spPr>
          <a:xfrm xmlns:a="http://schemas.openxmlformats.org/drawingml/2006/main" rot="0" flipH="0" flipV="0">
            <a:off x="723900" y="2000250"/>
            <a:ext cx="2381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3" name="Google Shape;163;p26">
            <a:extLst xmlns:a="http://schemas.openxmlformats.org/drawingml/2006/main">
              <a:ext uri="{FF2B5EF4-FFF2-40B4-BE49-F238E27FC236}">
                <a16:creationId xmlns:a16="http://schemas.microsoft.com/office/drawing/2014/main" id="{E6DC8141-671D-4568-BF5E-71DAE479A2C8}"/>
              </a:ext>
            </a:extLst>
          </p:cNvPr>
          <p:cNvSpPr>
            <a:spLocks xmlns:a="http://schemas.openxmlformats.org/drawingml/2006/main" noGrp="1"/>
          </p:cNvSpPr>
          <p:nvPr/>
        </p:nvSpPr>
        <p:spPr>
          <a:xfrm xmlns:a="http://schemas.openxmlformats.org/drawingml/2006/main" rot="0" flipH="0" flipV="0">
            <a:off x="866775" y="2143125"/>
            <a:ext cx="20955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1A9988"/>
                </a:solidFill>
                <a:latin typeface="Material Icons"/>
                <a:ea typeface="Material Icons"/>
                <a:cs typeface="Material Icons"/>
              </a:rPr>
              <a:t>track_changes</a:t>
            </a:r>
          </a:p>
          <a:p xmlns:a="http://schemas.openxmlformats.org/drawingml/2006/main">
            <a:pPr marL="0" indent="0" algn="l">
              <a:spcBef>
                <a:spcPts val="750"/>
              </a:spcBef>
              <a:spcAft>
                <a:spcPts val="0"/>
              </a:spcAft>
              <a:buNone/>
            </a:pPr>
            <a:r>
              <a:rPr sz="1500" b="1">
                <a:solidFill>
                  <a:srgbClr val="1A1A1A"/>
                </a:solidFill>
                <a:latin typeface="Raleway"/>
                <a:ea typeface="Raleway"/>
                <a:cs typeface="Raleway"/>
              </a:rPr>
              <a:t>1. Objectif</a:t>
            </a:r>
          </a:p>
          <a:p xmlns:a="http://schemas.openxmlformats.org/drawingml/2006/main">
            <a:pPr marL="0" indent="0" algn="l">
              <a:spcBef>
                <a:spcPts val="600"/>
              </a:spcBef>
              <a:spcAft>
                <a:spcPts val="0"/>
              </a:spcAft>
              <a:buNone/>
            </a:pPr>
            <a:r>
              <a:rPr sz="1100" b="0">
                <a:solidFill>
                  <a:srgbClr val="595959"/>
                </a:solidFill>
                <a:latin typeface="Lato"/>
                <a:ea typeface="Lato"/>
                <a:cs typeface="Lato"/>
              </a:rPr>
              <a:t>Développer « from scratch » des algorithmes de Machine Learning (Modèle linéaire, PMC, RBF, SVM) et les expérimenter pour optimiser les prédictions.</a:t>
            </a:r>
          </a:p>
        </p:txBody>
      </p:sp>
      <p:sp>
        <p:nvSpPr>
          <p:cNvPr id="165" name="Google Shape;165;p26">
            <a:extLst xmlns:a="http://schemas.openxmlformats.org/drawingml/2006/main">
              <a:ext uri="{FF2B5EF4-FFF2-40B4-BE49-F238E27FC236}">
                <a16:creationId xmlns:a16="http://schemas.microsoft.com/office/drawing/2014/main" id="{87471696-8B96-480E-A017-F28A8B0694C9}"/>
              </a:ext>
            </a:extLst>
          </p:cNvPr>
          <p:cNvSpPr>
            <a:spLocks xmlns:a="http://schemas.openxmlformats.org/drawingml/2006/main" noGrp="1"/>
          </p:cNvSpPr>
          <p:nvPr/>
        </p:nvSpPr>
        <p:spPr>
          <a:xfrm xmlns:a="http://schemas.openxmlformats.org/drawingml/2006/main" rot="0" flipH="0" flipV="0">
            <a:off x="3381375"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6" name="Google Shape;166;p26">
            <a:extLst xmlns:a="http://schemas.openxmlformats.org/drawingml/2006/main">
              <a:ext uri="{FF2B5EF4-FFF2-40B4-BE49-F238E27FC236}">
                <a16:creationId xmlns:a16="http://schemas.microsoft.com/office/drawing/2014/main" id="{96E689A3-2FDA-49A6-8A5C-9AA344CEA2A3}"/>
              </a:ext>
            </a:extLst>
          </p:cNvPr>
          <p:cNvSpPr>
            <a:spLocks xmlns:a="http://schemas.openxmlformats.org/drawingml/2006/main" noGrp="1"/>
          </p:cNvSpPr>
          <p:nvPr/>
        </p:nvSpPr>
        <p:spPr>
          <a:xfrm xmlns:a="http://schemas.openxmlformats.org/drawingml/2006/main" rot="0" flipH="0" flipV="0">
            <a:off x="3381375" y="2000250"/>
            <a:ext cx="23814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7" name="Google Shape;167;p26">
            <a:extLst xmlns:a="http://schemas.openxmlformats.org/drawingml/2006/main">
              <a:ext uri="{FF2B5EF4-FFF2-40B4-BE49-F238E27FC236}">
                <a16:creationId xmlns:a16="http://schemas.microsoft.com/office/drawing/2014/main" id="{57FED484-F3F9-458A-BEF9-621D9B77C848}"/>
              </a:ext>
            </a:extLst>
          </p:cNvPr>
          <p:cNvSpPr>
            <a:spLocks xmlns:a="http://schemas.openxmlformats.org/drawingml/2006/main" noGrp="1"/>
          </p:cNvSpPr>
          <p:nvPr/>
        </p:nvSpPr>
        <p:spPr>
          <a:xfrm xmlns:a="http://schemas.openxmlformats.org/drawingml/2006/main" rot="0" flipH="0" flipV="0">
            <a:off x="3524250" y="2143125"/>
            <a:ext cx="20955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EB5600"/>
                </a:solidFill>
                <a:latin typeface="Material Icons"/>
                <a:ea typeface="Material Icons"/>
                <a:cs typeface="Material Icons"/>
              </a:rPr>
              <a:t>settings</a:t>
            </a:r>
          </a:p>
          <a:p xmlns:a="http://schemas.openxmlformats.org/drawingml/2006/main">
            <a:pPr marL="0" indent="0" algn="l">
              <a:spcBef>
                <a:spcPts val="750"/>
              </a:spcBef>
              <a:spcAft>
                <a:spcPts val="0"/>
              </a:spcAft>
              <a:buNone/>
            </a:pPr>
            <a:r>
              <a:rPr sz="1500" b="1">
                <a:solidFill>
                  <a:srgbClr val="1A1A1A"/>
                </a:solidFill>
                <a:latin typeface="Raleway"/>
                <a:ea typeface="Raleway"/>
                <a:cs typeface="Raleway"/>
              </a:rPr>
              <a:t>2. Contraintes</a:t>
            </a:r>
          </a:p>
          <a:p xmlns:a="http://schemas.openxmlformats.org/drawingml/2006/main">
            <a:pPr marL="0" indent="0" algn="l">
              <a:spcBef>
                <a:spcPts val="600"/>
              </a:spcBef>
              <a:spcAft>
                <a:spcPts val="0"/>
              </a:spcAft>
              <a:buNone/>
            </a:pPr>
            <a:r>
              <a:rPr sz="1100" b="0">
                <a:solidFill>
                  <a:srgbClr val="595959"/>
                </a:solidFill>
                <a:latin typeface="Lato"/>
                <a:ea typeface="Lato"/>
                <a:cs typeface="Lato"/>
              </a:rPr>
              <a:t>Implémentation requise en C/C++ (avec EIGEN) sous forme de bibliothèque dynamique, pilotée et manipulée par des scripts Python.</a:t>
            </a:r>
          </a:p>
        </p:txBody>
      </p:sp>
      <p:sp>
        <p:nvSpPr>
          <p:cNvPr id="169" name="Google Shape;169;p26">
            <a:extLst xmlns:a="http://schemas.openxmlformats.org/drawingml/2006/main">
              <a:ext uri="{FF2B5EF4-FFF2-40B4-BE49-F238E27FC236}">
                <a16:creationId xmlns:a16="http://schemas.microsoft.com/office/drawing/2014/main" id="{36337800-2342-4D33-AE02-C9A1815B027C}"/>
              </a:ext>
            </a:extLst>
          </p:cNvPr>
          <p:cNvSpPr>
            <a:spLocks xmlns:a="http://schemas.openxmlformats.org/drawingml/2006/main" noGrp="1"/>
          </p:cNvSpPr>
          <p:nvPr/>
        </p:nvSpPr>
        <p:spPr>
          <a:xfrm xmlns:a="http://schemas.openxmlformats.org/drawingml/2006/main" rot="0" flipH="0" flipV="0">
            <a:off x="6038850"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0" name="Google Shape;170;p26">
            <a:extLst xmlns:a="http://schemas.openxmlformats.org/drawingml/2006/main">
              <a:ext uri="{FF2B5EF4-FFF2-40B4-BE49-F238E27FC236}">
                <a16:creationId xmlns:a16="http://schemas.microsoft.com/office/drawing/2014/main" id="{E1001D3C-70E6-4624-A9D6-D85864886A2E}"/>
              </a:ext>
            </a:extLst>
          </p:cNvPr>
          <p:cNvSpPr>
            <a:spLocks xmlns:a="http://schemas.openxmlformats.org/drawingml/2006/main" noGrp="1"/>
          </p:cNvSpPr>
          <p:nvPr/>
        </p:nvSpPr>
        <p:spPr>
          <a:xfrm xmlns:a="http://schemas.openxmlformats.org/drawingml/2006/main" rot="0" flipH="0" flipV="0">
            <a:off x="6038850" y="2000250"/>
            <a:ext cx="2381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1" name="Google Shape;171;p26">
            <a:extLst xmlns:a="http://schemas.openxmlformats.org/drawingml/2006/main">
              <a:ext uri="{FF2B5EF4-FFF2-40B4-BE49-F238E27FC236}">
                <a16:creationId xmlns:a16="http://schemas.microsoft.com/office/drawing/2014/main" id="{D48BD8F8-16C8-4F28-BE46-B22960D6207A}"/>
              </a:ext>
            </a:extLst>
          </p:cNvPr>
          <p:cNvSpPr>
            <a:spLocks xmlns:a="http://schemas.openxmlformats.org/drawingml/2006/main" noGrp="1"/>
          </p:cNvSpPr>
          <p:nvPr/>
        </p:nvSpPr>
        <p:spPr>
          <a:xfrm xmlns:a="http://schemas.openxmlformats.org/drawingml/2006/main" rot="0" flipH="0" flipV="0">
            <a:off x="6181725" y="2143125"/>
            <a:ext cx="20955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1A9988"/>
                </a:solidFill>
                <a:latin typeface="Material Icons"/>
                <a:ea typeface="Material Icons"/>
                <a:cs typeface="Material Icons"/>
              </a:rPr>
              <a:t>photo_library</a:t>
            </a:r>
          </a:p>
          <a:p xmlns:a="http://schemas.openxmlformats.org/drawingml/2006/main">
            <a:pPr marL="0" indent="0" algn="l">
              <a:spcBef>
                <a:spcPts val="750"/>
              </a:spcBef>
              <a:spcAft>
                <a:spcPts val="0"/>
              </a:spcAft>
              <a:buNone/>
            </a:pPr>
            <a:r>
              <a:rPr sz="1500" b="1">
                <a:solidFill>
                  <a:srgbClr val="1A1A1A"/>
                </a:solidFill>
                <a:latin typeface="Raleway"/>
                <a:ea typeface="Raleway"/>
                <a:cs typeface="Raleway"/>
              </a:rPr>
              <a:t>3. Dataset</a:t>
            </a:r>
          </a:p>
          <a:p xmlns:a="http://schemas.openxmlformats.org/drawingml/2006/main">
            <a:pPr marL="0" indent="0" algn="l">
              <a:spcBef>
                <a:spcPts val="600"/>
              </a:spcBef>
              <a:spcAft>
                <a:spcPts val="0"/>
              </a:spcAft>
              <a:buNone/>
            </a:pPr>
            <a:r>
              <a:rPr sz="1100" b="0">
                <a:solidFill>
                  <a:srgbClr val="595959"/>
                </a:solidFill>
                <a:latin typeface="Lato"/>
                <a:ea typeface="Lato"/>
                <a:cs typeface="Lato"/>
              </a:rPr>
              <a:t>Classification d’images de styles architecturaux (Art nouveau, Art déco, Gothique) à partir d'un volume de données restreint.</a:t>
            </a:r>
          </a:p>
        </p:txBody>
      </p:sp>
    </p:spTree>
    <p:extLst>
      <p:ext uri="{BB962C8B-B14F-4D97-AF65-F5344CB8AC3E}">
        <p14:creationId xmlns:p14="http://schemas.microsoft.com/office/powerpoint/2010/main" val="25425969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76" name="Google Shape;176;p27">
            <a:extLst xmlns:a="http://schemas.openxmlformats.org/drawingml/2006/main">
              <a:ext uri="{FF2B5EF4-FFF2-40B4-BE49-F238E27FC236}">
                <a16:creationId xmlns:a16="http://schemas.microsoft.com/office/drawing/2014/main" id="{66ADBCE1-C3AE-4FF2-B9D3-C70DEBC5213C}"/>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8" name="Google Shape;178;p27">
            <a:extLst xmlns:a="http://schemas.openxmlformats.org/drawingml/2006/main">
              <a:ext uri="{FF2B5EF4-FFF2-40B4-BE49-F238E27FC236}">
                <a16:creationId xmlns:a16="http://schemas.microsoft.com/office/drawing/2014/main" id="{D5C81B0C-84F1-4D1E-A1DC-16660526A1E2}"/>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9" name="Google Shape;179;p27">
            <a:extLst xmlns:a="http://schemas.openxmlformats.org/drawingml/2006/main">
              <a:ext uri="{FF2B5EF4-FFF2-40B4-BE49-F238E27FC236}">
                <a16:creationId xmlns:a16="http://schemas.microsoft.com/office/drawing/2014/main" id="{5D1CDF75-CD31-4575-9453-75F5B4F2910E}"/>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0" name="Google Shape;180;p27">
            <a:extLst xmlns:a="http://schemas.openxmlformats.org/drawingml/2006/main">
              <a:ext uri="{FF2B5EF4-FFF2-40B4-BE49-F238E27FC236}">
                <a16:creationId xmlns:a16="http://schemas.microsoft.com/office/drawing/2014/main" id="{0E726A98-F36B-4546-AAB4-FE392A73A771}"/>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Contexte</a:t>
            </a:r>
          </a:p>
        </p:txBody>
      </p:sp>
      <p:sp>
        <p:nvSpPr>
          <p:cNvPr id="181" name="Google Shape;181;p27">
            <a:extLst xmlns:a="http://schemas.openxmlformats.org/drawingml/2006/main">
              <a:ext uri="{FF2B5EF4-FFF2-40B4-BE49-F238E27FC236}">
                <a16:creationId xmlns:a16="http://schemas.microsoft.com/office/drawing/2014/main" id="{C9A65F65-FB3D-46D2-8897-A93557B18AF1}"/>
              </a:ext>
            </a:extLst>
          </p:cNvPr>
          <p:cNvSpPr>
            <a:spLocks xmlns:a="http://schemas.openxmlformats.org/drawingml/2006/main" noGrp="1"/>
          </p:cNvSpPr>
          <p:nvPr/>
        </p:nvSpPr>
        <p:spPr>
          <a:xfrm xmlns:a="http://schemas.openxmlformats.org/drawingml/2006/main">
            <a:off x="723900" y="1857375"/>
            <a:ext cx="76866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a:solidFill>
                  <a:srgbClr val="595959"/>
                </a:solidFill>
                <a:latin typeface="Lato"/>
                <a:ea typeface="Lato"/>
                <a:cs typeface="Lato"/>
              </a:rPr>
              <a:t>Implémentation de 4 algorithmes de machine learning :</a:t>
            </a:r>
          </a:p>
        </p:txBody>
      </p:sp>
      <p:sp>
        <p:nvSpPr>
          <p:cNvPr id="183" name="Google Shape;183;p27">
            <a:extLst xmlns:a="http://schemas.openxmlformats.org/drawingml/2006/main">
              <a:ext uri="{FF2B5EF4-FFF2-40B4-BE49-F238E27FC236}">
                <a16:creationId xmlns:a16="http://schemas.microsoft.com/office/drawing/2014/main" id="{88EF9374-FAF9-444E-9E47-DBFBACE6A503}"/>
              </a:ext>
            </a:extLst>
          </p:cNvPr>
          <p:cNvSpPr>
            <a:spLocks xmlns:a="http://schemas.openxmlformats.org/drawingml/2006/main" noGrp="1"/>
          </p:cNvSpPr>
          <p:nvPr/>
        </p:nvSpPr>
        <p:spPr>
          <a:xfrm xmlns:a="http://schemas.openxmlformats.org/drawingml/2006/main" rot="0" flipH="0" flipV="0">
            <a:off x="723900" y="2286000"/>
            <a:ext cx="1771800" cy="219090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4" name="Google Shape;184;p27">
            <a:extLst xmlns:a="http://schemas.openxmlformats.org/drawingml/2006/main">
              <a:ext uri="{FF2B5EF4-FFF2-40B4-BE49-F238E27FC236}">
                <a16:creationId xmlns:a16="http://schemas.microsoft.com/office/drawing/2014/main" id="{06D9362C-0A65-48E7-8E0F-85949E179231}"/>
              </a:ext>
            </a:extLst>
          </p:cNvPr>
          <p:cNvSpPr>
            <a:spLocks xmlns:a="http://schemas.openxmlformats.org/drawingml/2006/main" noGrp="1"/>
          </p:cNvSpPr>
          <p:nvPr/>
        </p:nvSpPr>
        <p:spPr>
          <a:xfrm xmlns:a="http://schemas.openxmlformats.org/drawingml/2006/main" rot="0" flipH="0" flipV="0">
            <a:off x="723900" y="2286000"/>
            <a:ext cx="17718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5" name="Google Shape;185;p27">
            <a:extLst xmlns:a="http://schemas.openxmlformats.org/drawingml/2006/main">
              <a:ext uri="{FF2B5EF4-FFF2-40B4-BE49-F238E27FC236}">
                <a16:creationId xmlns:a16="http://schemas.microsoft.com/office/drawing/2014/main" id="{6098C36F-2D58-4648-82C3-A338418B63D4}"/>
              </a:ext>
            </a:extLst>
          </p:cNvPr>
          <p:cNvSpPr>
            <a:spLocks xmlns:a="http://schemas.openxmlformats.org/drawingml/2006/main" noGrp="1"/>
          </p:cNvSpPr>
          <p:nvPr/>
        </p:nvSpPr>
        <p:spPr>
          <a:xfrm xmlns:a="http://schemas.openxmlformats.org/drawingml/2006/main" rot="0" flipH="0" flipV="0">
            <a:off x="819150" y="2428875"/>
            <a:ext cx="1581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000" b="0">
                <a:solidFill>
                  <a:srgbClr val="1A9988"/>
                </a:solidFill>
                <a:latin typeface="Material Icons"/>
                <a:ea typeface="Material Icons"/>
                <a:cs typeface="Material Icons"/>
              </a:rPr>
              <a:t>trending_flat</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1. Modèle linéaire</a:t>
            </a:r>
          </a:p>
          <a:p xmlns:a="http://schemas.openxmlformats.org/drawingml/2006/main">
            <a:pPr marL="0" indent="0" algn="l">
              <a:spcBef>
                <a:spcPts val="600"/>
              </a:spcBef>
              <a:spcAft>
                <a:spcPts val="0"/>
              </a:spcAft>
              <a:buNone/>
            </a:pPr>
            <a:r>
              <a:rPr sz="825" b="0">
                <a:solidFill>
                  <a:srgbClr val="595959"/>
                </a:solidFill>
                <a:latin typeface="Lato"/>
                <a:ea typeface="Lato"/>
                <a:cs typeface="Lato"/>
              </a:rPr>
              <a:t>Algorithme de base pour la classification et la régression linéaire.</a:t>
            </a:r>
          </a:p>
        </p:txBody>
      </p:sp>
      <p:sp>
        <p:nvSpPr>
          <p:cNvPr id="187" name="Google Shape;187;p27">
            <a:extLst xmlns:a="http://schemas.openxmlformats.org/drawingml/2006/main">
              <a:ext uri="{FF2B5EF4-FFF2-40B4-BE49-F238E27FC236}">
                <a16:creationId xmlns:a16="http://schemas.microsoft.com/office/drawing/2014/main" id="{E056420E-9E46-49B0-8252-050BC85568F5}"/>
              </a:ext>
            </a:extLst>
          </p:cNvPr>
          <p:cNvSpPr>
            <a:spLocks xmlns:a="http://schemas.openxmlformats.org/drawingml/2006/main" noGrp="1"/>
          </p:cNvSpPr>
          <p:nvPr/>
        </p:nvSpPr>
        <p:spPr>
          <a:xfrm xmlns:a="http://schemas.openxmlformats.org/drawingml/2006/main" rot="0" flipH="0" flipV="0">
            <a:off x="2686050" y="2286000"/>
            <a:ext cx="1771800" cy="219090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8" name="Google Shape;188;p27">
            <a:extLst xmlns:a="http://schemas.openxmlformats.org/drawingml/2006/main">
              <a:ext uri="{FF2B5EF4-FFF2-40B4-BE49-F238E27FC236}">
                <a16:creationId xmlns:a16="http://schemas.microsoft.com/office/drawing/2014/main" id="{19D03848-098D-4A04-9F46-66E449202B0B}"/>
              </a:ext>
            </a:extLst>
          </p:cNvPr>
          <p:cNvSpPr>
            <a:spLocks xmlns:a="http://schemas.openxmlformats.org/drawingml/2006/main" noGrp="1"/>
          </p:cNvSpPr>
          <p:nvPr/>
        </p:nvSpPr>
        <p:spPr>
          <a:xfrm xmlns:a="http://schemas.openxmlformats.org/drawingml/2006/main" rot="0" flipH="0" flipV="0">
            <a:off x="2686050" y="2286000"/>
            <a:ext cx="17718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9" name="Google Shape;189;p27">
            <a:extLst xmlns:a="http://schemas.openxmlformats.org/drawingml/2006/main">
              <a:ext uri="{FF2B5EF4-FFF2-40B4-BE49-F238E27FC236}">
                <a16:creationId xmlns:a16="http://schemas.microsoft.com/office/drawing/2014/main" id="{4C59A00C-FA48-449B-8B2E-240E40700A05}"/>
              </a:ext>
            </a:extLst>
          </p:cNvPr>
          <p:cNvSpPr>
            <a:spLocks xmlns:a="http://schemas.openxmlformats.org/drawingml/2006/main" noGrp="1"/>
          </p:cNvSpPr>
          <p:nvPr/>
        </p:nvSpPr>
        <p:spPr>
          <a:xfrm xmlns:a="http://schemas.openxmlformats.org/drawingml/2006/main" rot="0" flipH="0" flipV="0">
            <a:off x="2781300" y="2428875"/>
            <a:ext cx="1581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000" b="0">
                <a:solidFill>
                  <a:srgbClr val="EB5600"/>
                </a:solidFill>
                <a:latin typeface="Material Icons"/>
                <a:ea typeface="Material Icons"/>
                <a:cs typeface="Material Icons"/>
              </a:rPr>
              <a:t>layers</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2. PMC</a:t>
            </a:r>
          </a:p>
          <a:p xmlns:a="http://schemas.openxmlformats.org/drawingml/2006/main">
            <a:pPr marL="0" indent="0" algn="l">
              <a:spcBef>
                <a:spcPts val="600"/>
              </a:spcBef>
              <a:spcAft>
                <a:spcPts val="0"/>
              </a:spcAft>
              <a:buNone/>
            </a:pPr>
            <a:r>
              <a:rPr sz="825" b="0">
                <a:solidFill>
                  <a:srgbClr val="595959"/>
                </a:solidFill>
                <a:latin typeface="Lato"/>
                <a:ea typeface="Lato"/>
                <a:cs typeface="Lato"/>
              </a:rPr>
              <a:t>Perceptron Multi-Couches</a:t>
            </a:r>
            <a:r>
              <a:rPr sz="825">
                <a:solidFill>
                  <a:srgbClr val="595959"/>
                </a:solidFill>
                <a:latin typeface="Lato"/>
                <a:ea typeface="Lato"/>
                <a:cs typeface="Lato"/>
              </a:rPr>
              <a:t>:</a:t>
            </a:r>
            <a:r>
              <a:rPr sz="825" b="0">
                <a:solidFill>
                  <a:srgbClr val="595959"/>
                </a:solidFill>
                <a:latin typeface="Lato"/>
                <a:ea typeface="Lato"/>
                <a:cs typeface="Lato"/>
              </a:rPr>
              <a:t> réseau de neurones artificiels dense.</a:t>
            </a:r>
          </a:p>
        </p:txBody>
      </p:sp>
      <p:sp>
        <p:nvSpPr>
          <p:cNvPr id="191" name="Google Shape;191;p27">
            <a:extLst xmlns:a="http://schemas.openxmlformats.org/drawingml/2006/main">
              <a:ext uri="{FF2B5EF4-FFF2-40B4-BE49-F238E27FC236}">
                <a16:creationId xmlns:a16="http://schemas.microsoft.com/office/drawing/2014/main" id="{849702EC-8025-47DB-97F9-7CD502843BD6}"/>
              </a:ext>
            </a:extLst>
          </p:cNvPr>
          <p:cNvSpPr>
            <a:spLocks xmlns:a="http://schemas.openxmlformats.org/drawingml/2006/main" noGrp="1"/>
          </p:cNvSpPr>
          <p:nvPr/>
        </p:nvSpPr>
        <p:spPr>
          <a:xfrm xmlns:a="http://schemas.openxmlformats.org/drawingml/2006/main" rot="0" flipH="0" flipV="0">
            <a:off x="4648200" y="2286000"/>
            <a:ext cx="1771800" cy="219090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2" name="Google Shape;192;p27">
            <a:extLst xmlns:a="http://schemas.openxmlformats.org/drawingml/2006/main">
              <a:ext uri="{FF2B5EF4-FFF2-40B4-BE49-F238E27FC236}">
                <a16:creationId xmlns:a16="http://schemas.microsoft.com/office/drawing/2014/main" id="{224D85CA-D29A-4B13-94B1-0E29A0571088}"/>
              </a:ext>
            </a:extLst>
          </p:cNvPr>
          <p:cNvSpPr>
            <a:spLocks xmlns:a="http://schemas.openxmlformats.org/drawingml/2006/main" noGrp="1"/>
          </p:cNvSpPr>
          <p:nvPr/>
        </p:nvSpPr>
        <p:spPr>
          <a:xfrm xmlns:a="http://schemas.openxmlformats.org/drawingml/2006/main" rot="0" flipH="0" flipV="0">
            <a:off x="4648200" y="2286000"/>
            <a:ext cx="17718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3" name="Google Shape;193;p27">
            <a:extLst xmlns:a="http://schemas.openxmlformats.org/drawingml/2006/main">
              <a:ext uri="{FF2B5EF4-FFF2-40B4-BE49-F238E27FC236}">
                <a16:creationId xmlns:a16="http://schemas.microsoft.com/office/drawing/2014/main" id="{B647C875-2EB0-4EF5-BBB5-FDCB76F48BAB}"/>
              </a:ext>
            </a:extLst>
          </p:cNvPr>
          <p:cNvSpPr>
            <a:spLocks xmlns:a="http://schemas.openxmlformats.org/drawingml/2006/main" noGrp="1"/>
          </p:cNvSpPr>
          <p:nvPr/>
        </p:nvSpPr>
        <p:spPr>
          <a:xfrm xmlns:a="http://schemas.openxmlformats.org/drawingml/2006/main" rot="0" flipH="0" flipV="0">
            <a:off x="4743450" y="2428875"/>
            <a:ext cx="1581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000" b="0">
                <a:solidFill>
                  <a:srgbClr val="1A9988"/>
                </a:solidFill>
                <a:latin typeface="Material Icons"/>
                <a:ea typeface="Material Icons"/>
                <a:cs typeface="Material Icons"/>
              </a:rPr>
              <a:t>scatter_plot</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3. RBF</a:t>
            </a:r>
          </a:p>
          <a:p xmlns:a="http://schemas.openxmlformats.org/drawingml/2006/main">
            <a:pPr marL="0" indent="0" algn="l">
              <a:spcBef>
                <a:spcPts val="600"/>
              </a:spcBef>
              <a:spcAft>
                <a:spcPts val="0"/>
              </a:spcAft>
              <a:buNone/>
            </a:pPr>
            <a:r>
              <a:rPr sz="825" b="0">
                <a:solidFill>
                  <a:srgbClr val="595959"/>
                </a:solidFill>
                <a:latin typeface="Lato"/>
                <a:ea typeface="Lato"/>
                <a:cs typeface="Lato"/>
              </a:rPr>
              <a:t>Réseau à fonctions de base radiales pour approximations complexes.</a:t>
            </a:r>
          </a:p>
        </p:txBody>
      </p:sp>
      <p:sp>
        <p:nvSpPr>
          <p:cNvPr id="195" name="Google Shape;195;p27">
            <a:extLst xmlns:a="http://schemas.openxmlformats.org/drawingml/2006/main">
              <a:ext uri="{FF2B5EF4-FFF2-40B4-BE49-F238E27FC236}">
                <a16:creationId xmlns:a16="http://schemas.microsoft.com/office/drawing/2014/main" id="{977C8B50-342C-49EF-9C9E-05941425414E}"/>
              </a:ext>
            </a:extLst>
          </p:cNvPr>
          <p:cNvSpPr>
            <a:spLocks xmlns:a="http://schemas.openxmlformats.org/drawingml/2006/main" noGrp="1"/>
          </p:cNvSpPr>
          <p:nvPr/>
        </p:nvSpPr>
        <p:spPr>
          <a:xfrm xmlns:a="http://schemas.openxmlformats.org/drawingml/2006/main" rot="0" flipH="0" flipV="0">
            <a:off x="6610350" y="2286000"/>
            <a:ext cx="1771800" cy="219090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6" name="Google Shape;196;p27">
            <a:extLst xmlns:a="http://schemas.openxmlformats.org/drawingml/2006/main">
              <a:ext uri="{FF2B5EF4-FFF2-40B4-BE49-F238E27FC236}">
                <a16:creationId xmlns:a16="http://schemas.microsoft.com/office/drawing/2014/main" id="{A40F6460-E7E8-4D8C-9065-47A6D80CC115}"/>
              </a:ext>
            </a:extLst>
          </p:cNvPr>
          <p:cNvSpPr>
            <a:spLocks xmlns:a="http://schemas.openxmlformats.org/drawingml/2006/main" noGrp="1"/>
          </p:cNvSpPr>
          <p:nvPr/>
        </p:nvSpPr>
        <p:spPr>
          <a:xfrm xmlns:a="http://schemas.openxmlformats.org/drawingml/2006/main" rot="0" flipH="0" flipV="0">
            <a:off x="6610350" y="2286000"/>
            <a:ext cx="17718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7" name="Google Shape;197;p27">
            <a:extLst xmlns:a="http://schemas.openxmlformats.org/drawingml/2006/main">
              <a:ext uri="{FF2B5EF4-FFF2-40B4-BE49-F238E27FC236}">
                <a16:creationId xmlns:a16="http://schemas.microsoft.com/office/drawing/2014/main" id="{0F45AAC5-51E4-4313-B4FC-5EC5DE45F2F4}"/>
              </a:ext>
            </a:extLst>
          </p:cNvPr>
          <p:cNvSpPr>
            <a:spLocks xmlns:a="http://schemas.openxmlformats.org/drawingml/2006/main" noGrp="1"/>
          </p:cNvSpPr>
          <p:nvPr/>
        </p:nvSpPr>
        <p:spPr>
          <a:xfrm xmlns:a="http://schemas.openxmlformats.org/drawingml/2006/main" rot="0" flipH="0" flipV="0">
            <a:off x="6705600" y="2428875"/>
            <a:ext cx="1581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000" b="0">
                <a:solidFill>
                  <a:srgbClr val="EB5600"/>
                </a:solidFill>
                <a:latin typeface="Material Icons"/>
                <a:ea typeface="Material Icons"/>
                <a:cs typeface="Material Icons"/>
              </a:rPr>
              <a:t>call_split</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4. SVM</a:t>
            </a:r>
          </a:p>
          <a:p xmlns:a="http://schemas.openxmlformats.org/drawingml/2006/main">
            <a:pPr marL="0" indent="0" algn="l">
              <a:spcBef>
                <a:spcPts val="600"/>
              </a:spcBef>
              <a:spcAft>
                <a:spcPts val="0"/>
              </a:spcAft>
              <a:buNone/>
            </a:pPr>
            <a:r>
              <a:rPr sz="825" b="0">
                <a:solidFill>
                  <a:srgbClr val="595959"/>
                </a:solidFill>
                <a:latin typeface="Lato"/>
                <a:ea typeface="Lato"/>
                <a:cs typeface="Lato"/>
              </a:rPr>
              <a:t>Machine à vecteurs de support pour séparation optimale des données.</a:t>
            </a:r>
          </a:p>
        </p:txBody>
      </p:sp>
    </p:spTree>
    <p:extLst>
      <p:ext uri="{BB962C8B-B14F-4D97-AF65-F5344CB8AC3E}">
        <p14:creationId xmlns:p14="http://schemas.microsoft.com/office/powerpoint/2010/main" val="13477784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03" name="Google Shape;203;p28">
            <a:extLst xmlns:a="http://schemas.openxmlformats.org/drawingml/2006/main">
              <a:ext uri="{FF2B5EF4-FFF2-40B4-BE49-F238E27FC236}">
                <a16:creationId xmlns:a16="http://schemas.microsoft.com/office/drawing/2014/main" id="{A89EE92D-24C5-4A36-A510-54C8CD42E955}"/>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lnSpc>
                <a:spcPct val="100000"/>
              </a:lnSpc>
              <a:spcBef>
                <a:spcPts val="0"/>
              </a:spcBef>
              <a:spcAft>
                <a:spcPts val="0"/>
              </a:spcAft>
              <a:buSzPct val="112466"/>
              <a:buNone/>
            </a:pPr>
            <a:r>
              <a:rPr>
                <a:solidFill>
                  <a:srgbClr val="1A1A1A"/>
                </a:solidFill>
              </a:rPr>
              <a:t>Contexte</a:t>
            </a:r>
          </a:p>
        </p:txBody>
      </p:sp>
      <p:sp>
        <p:nvSpPr>
          <p:cNvPr id="205" name="Google Shape;205;p28">
            <a:extLst xmlns:a="http://schemas.openxmlformats.org/drawingml/2006/main">
              <a:ext uri="{FF2B5EF4-FFF2-40B4-BE49-F238E27FC236}">
                <a16:creationId xmlns:a16="http://schemas.microsoft.com/office/drawing/2014/main" id="{9462D1AB-CAA8-4D2B-B3C0-653B10721ACE}"/>
              </a:ext>
            </a:extLst>
          </p:cNvPr>
          <p:cNvSpPr>
            <a:spLocks xmlns:a="http://schemas.openxmlformats.org/drawingml/2006/main" noGrp="1"/>
          </p:cNvSpPr>
          <p:nvPr/>
        </p:nvSpPr>
        <p:spPr>
          <a:xfrm xmlns:a="http://schemas.openxmlformats.org/drawingml/2006/main" rot="0" flipH="0" flipV="0">
            <a:off x="723900" y="2190750"/>
            <a:ext cx="1771800" cy="2381400"/>
          </a:xfrm>
          <a:prstGeom xmlns:a="http://schemas.openxmlformats.org/drawingml/2006/main" prst="roundRect">
            <a:avLst>
              <a:gd name="adj" fmla="val 4299"/>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6" name="Google Shape;206;p28">
            <a:extLst xmlns:a="http://schemas.openxmlformats.org/drawingml/2006/main">
              <a:ext uri="{FF2B5EF4-FFF2-40B4-BE49-F238E27FC236}">
                <a16:creationId xmlns:a16="http://schemas.microsoft.com/office/drawing/2014/main" id="{82B1A61A-F897-4F26-AD3D-17D8797DCE94}"/>
              </a:ext>
            </a:extLst>
          </p:cNvPr>
          <p:cNvSpPr>
            <a:spLocks xmlns:a="http://schemas.openxmlformats.org/drawingml/2006/main" noGrp="1"/>
          </p:cNvSpPr>
          <p:nvPr/>
        </p:nvSpPr>
        <p:spPr>
          <a:xfrm xmlns:a="http://schemas.openxmlformats.org/drawingml/2006/main" rot="0" flipH="0" flipV="0">
            <a:off x="723900" y="2190750"/>
            <a:ext cx="1771800" cy="57300"/>
          </a:xfrm>
          <a:prstGeom xmlns:a="http://schemas.openxmlformats.org/drawingml/2006/main" prst="roundRect">
            <a:avLst>
              <a:gd name="adj" fmla="val 49998"/>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7" name="Google Shape;207;p28">
            <a:extLst xmlns:a="http://schemas.openxmlformats.org/drawingml/2006/main">
              <a:ext uri="{FF2B5EF4-FFF2-40B4-BE49-F238E27FC236}">
                <a16:creationId xmlns:a16="http://schemas.microsoft.com/office/drawing/2014/main" id="{7C7D8FFB-2747-4053-81EB-5B5301C4CD2C}"/>
              </a:ext>
            </a:extLst>
          </p:cNvPr>
          <p:cNvSpPr>
            <a:spLocks xmlns:a="http://schemas.openxmlformats.org/drawingml/2006/main" noGrp="1"/>
          </p:cNvSpPr>
          <p:nvPr/>
        </p:nvSpPr>
        <p:spPr>
          <a:xfrm xmlns:a="http://schemas.openxmlformats.org/drawingml/2006/main" rot="0" flipH="0" flipV="0">
            <a:off x="819150" y="2333625"/>
            <a:ext cx="1581300" cy="2095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200" b="0">
                <a:solidFill>
                  <a:srgbClr val="1A9988"/>
                </a:solidFill>
                <a:latin typeface="Material Icons"/>
                <a:ea typeface="Material Icons"/>
                <a:cs typeface="Material Icons"/>
              </a:rPr>
              <a:t>trending_flat</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1. Perceptron</a:t>
            </a:r>
          </a:p>
          <a:p xmlns:a="http://schemas.openxmlformats.org/drawingml/2006/main">
            <a:pPr marL="0" indent="0" algn="l">
              <a:spcBef>
                <a:spcPts val="600"/>
              </a:spcBef>
              <a:spcAft>
                <a:spcPts val="0"/>
              </a:spcAft>
              <a:buNone/>
            </a:pPr>
            <a:r>
              <a:rPr sz="1050" b="1">
                <a:solidFill>
                  <a:srgbClr val="595959"/>
                </a:solidFill>
                <a:latin typeface="Lato"/>
                <a:ea typeface="Lato"/>
                <a:cs typeface="Lato"/>
              </a:rPr>
              <a:t>Epochs et learning rate. Le meilleur candidat validation n'a pas battu la v1 sur le test.</a:t>
            </a:r>
          </a:p>
        </p:txBody>
      </p:sp>
      <p:sp>
        <p:nvSpPr>
          <p:cNvPr id="209" name="Google Shape;209;p28">
            <a:extLst xmlns:a="http://schemas.openxmlformats.org/drawingml/2006/main">
              <a:ext uri="{FF2B5EF4-FFF2-40B4-BE49-F238E27FC236}">
                <a16:creationId xmlns:a16="http://schemas.microsoft.com/office/drawing/2014/main" id="{B210AC6C-C683-4453-A505-F5A6C174FF48}"/>
              </a:ext>
            </a:extLst>
          </p:cNvPr>
          <p:cNvSpPr>
            <a:spLocks xmlns:a="http://schemas.openxmlformats.org/drawingml/2006/main" noGrp="1"/>
          </p:cNvSpPr>
          <p:nvPr/>
        </p:nvSpPr>
        <p:spPr>
          <a:xfrm xmlns:a="http://schemas.openxmlformats.org/drawingml/2006/main" rot="0" flipH="0" flipV="0">
            <a:off x="2686050" y="2190750"/>
            <a:ext cx="1771800" cy="2381400"/>
          </a:xfrm>
          <a:prstGeom xmlns:a="http://schemas.openxmlformats.org/drawingml/2006/main" prst="roundRect">
            <a:avLst>
              <a:gd name="adj" fmla="val 4299"/>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0" name="Google Shape;210;p28">
            <a:extLst xmlns:a="http://schemas.openxmlformats.org/drawingml/2006/main">
              <a:ext uri="{FF2B5EF4-FFF2-40B4-BE49-F238E27FC236}">
                <a16:creationId xmlns:a16="http://schemas.microsoft.com/office/drawing/2014/main" id="{3F52899A-63FF-4AAB-BE98-0C1AE7ECBD20}"/>
              </a:ext>
            </a:extLst>
          </p:cNvPr>
          <p:cNvSpPr>
            <a:spLocks xmlns:a="http://schemas.openxmlformats.org/drawingml/2006/main" noGrp="1"/>
          </p:cNvSpPr>
          <p:nvPr/>
        </p:nvSpPr>
        <p:spPr>
          <a:xfrm xmlns:a="http://schemas.openxmlformats.org/drawingml/2006/main" rot="0" flipH="0" flipV="0">
            <a:off x="2686050" y="2190750"/>
            <a:ext cx="1771800" cy="57300"/>
          </a:xfrm>
          <a:prstGeom xmlns:a="http://schemas.openxmlformats.org/drawingml/2006/main" prst="roundRect">
            <a:avLst>
              <a:gd name="adj" fmla="val 49998"/>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1" name="Google Shape;211;p28">
            <a:extLst xmlns:a="http://schemas.openxmlformats.org/drawingml/2006/main">
              <a:ext uri="{FF2B5EF4-FFF2-40B4-BE49-F238E27FC236}">
                <a16:creationId xmlns:a16="http://schemas.microsoft.com/office/drawing/2014/main" id="{70C7F087-449F-483C-9CED-2B067AFF6C78}"/>
              </a:ext>
            </a:extLst>
          </p:cNvPr>
          <p:cNvSpPr>
            <a:spLocks xmlns:a="http://schemas.openxmlformats.org/drawingml/2006/main" noGrp="1"/>
          </p:cNvSpPr>
          <p:nvPr/>
        </p:nvSpPr>
        <p:spPr>
          <a:xfrm xmlns:a="http://schemas.openxmlformats.org/drawingml/2006/main" rot="0" flipH="0" flipV="0">
            <a:off x="2781300" y="2333625"/>
            <a:ext cx="1581300" cy="2095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200" b="0">
                <a:solidFill>
                  <a:srgbClr val="EB5600"/>
                </a:solidFill>
                <a:latin typeface="Material Icons"/>
                <a:ea typeface="Material Icons"/>
                <a:cs typeface="Material Icons"/>
              </a:rPr>
              <a:t>layers</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2. MLP</a:t>
            </a:r>
          </a:p>
          <a:p xmlns:a="http://schemas.openxmlformats.org/drawingml/2006/main">
            <a:pPr marL="0" indent="0" algn="l">
              <a:spcBef>
                <a:spcPts val="600"/>
              </a:spcBef>
              <a:spcAft>
                <a:spcPts val="0"/>
              </a:spcAft>
              <a:buNone/>
            </a:pPr>
            <a:r>
              <a:rPr sz="1050" b="0">
                <a:solidFill>
                  <a:srgbClr val="595959"/>
                </a:solidFill>
                <a:latin typeface="Lato"/>
                <a:ea typeface="Lato"/>
                <a:cs typeface="Lato"/>
              </a:rPr>
              <a:t>Epochs, learning rate et neurones cachés. Une seule couche cachée est configurable.</a:t>
            </a:r>
          </a:p>
        </p:txBody>
      </p:sp>
      <p:sp>
        <p:nvSpPr>
          <p:cNvPr id="213" name="Google Shape;213;p28">
            <a:extLst xmlns:a="http://schemas.openxmlformats.org/drawingml/2006/main">
              <a:ext uri="{FF2B5EF4-FFF2-40B4-BE49-F238E27FC236}">
                <a16:creationId xmlns:a16="http://schemas.microsoft.com/office/drawing/2014/main" id="{90E01B27-C70D-4403-9712-25563E2BBE7B}"/>
              </a:ext>
            </a:extLst>
          </p:cNvPr>
          <p:cNvSpPr>
            <a:spLocks xmlns:a="http://schemas.openxmlformats.org/drawingml/2006/main" noGrp="1"/>
          </p:cNvSpPr>
          <p:nvPr/>
        </p:nvSpPr>
        <p:spPr>
          <a:xfrm xmlns:a="http://schemas.openxmlformats.org/drawingml/2006/main" rot="0" flipH="0" flipV="0">
            <a:off x="4648200" y="2190750"/>
            <a:ext cx="1771800" cy="2381400"/>
          </a:xfrm>
          <a:prstGeom xmlns:a="http://schemas.openxmlformats.org/drawingml/2006/main" prst="roundRect">
            <a:avLst>
              <a:gd name="adj" fmla="val 4299"/>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4" name="Google Shape;214;p28">
            <a:extLst xmlns:a="http://schemas.openxmlformats.org/drawingml/2006/main">
              <a:ext uri="{FF2B5EF4-FFF2-40B4-BE49-F238E27FC236}">
                <a16:creationId xmlns:a16="http://schemas.microsoft.com/office/drawing/2014/main" id="{A4AC69B7-30EA-4261-A6EC-D922A837519E}"/>
              </a:ext>
            </a:extLst>
          </p:cNvPr>
          <p:cNvSpPr>
            <a:spLocks xmlns:a="http://schemas.openxmlformats.org/drawingml/2006/main" noGrp="1"/>
          </p:cNvSpPr>
          <p:nvPr/>
        </p:nvSpPr>
        <p:spPr>
          <a:xfrm xmlns:a="http://schemas.openxmlformats.org/drawingml/2006/main" rot="0" flipH="0" flipV="0">
            <a:off x="4648200" y="2190750"/>
            <a:ext cx="1771800" cy="57300"/>
          </a:xfrm>
          <a:prstGeom xmlns:a="http://schemas.openxmlformats.org/drawingml/2006/main" prst="roundRect">
            <a:avLst>
              <a:gd name="adj" fmla="val 49998"/>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5" name="Google Shape;215;p28">
            <a:extLst xmlns:a="http://schemas.openxmlformats.org/drawingml/2006/main">
              <a:ext uri="{FF2B5EF4-FFF2-40B4-BE49-F238E27FC236}">
                <a16:creationId xmlns:a16="http://schemas.microsoft.com/office/drawing/2014/main" id="{6A50D95A-C7E4-481E-A927-FE7E4E68B21C}"/>
              </a:ext>
            </a:extLst>
          </p:cNvPr>
          <p:cNvSpPr>
            <a:spLocks xmlns:a="http://schemas.openxmlformats.org/drawingml/2006/main" noGrp="1"/>
          </p:cNvSpPr>
          <p:nvPr/>
        </p:nvSpPr>
        <p:spPr>
          <a:xfrm xmlns:a="http://schemas.openxmlformats.org/drawingml/2006/main" rot="0" flipH="0" flipV="0">
            <a:off x="4743450" y="2333625"/>
            <a:ext cx="1581300" cy="2095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200" b="0">
                <a:solidFill>
                  <a:srgbClr val="1A9988"/>
                </a:solidFill>
                <a:latin typeface="Material Icons"/>
                <a:ea typeface="Material Icons"/>
                <a:cs typeface="Material Icons"/>
              </a:rPr>
              <a:t>scatter_plot</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3. RBF</a:t>
            </a:r>
          </a:p>
          <a:p xmlns:a="http://schemas.openxmlformats.org/drawingml/2006/main">
            <a:pPr marL="0" indent="0" algn="l">
              <a:spcBef>
                <a:spcPts val="600"/>
              </a:spcBef>
              <a:spcAft>
                <a:spcPts val="0"/>
              </a:spcAft>
              <a:buNone/>
            </a:pPr>
            <a:r>
              <a:rPr sz="1050">
                <a:solidFill>
                  <a:srgbClr val="595959"/>
                </a:solidFill>
                <a:latin typeface="Lato"/>
                <a:ea typeface="Lato"/>
                <a:cs typeface="Lato"/>
              </a:rPr>
              <a:t>Nombre de centres et sigma.</a:t>
            </a:r>
            <a:r>
              <a:rPr sz="1050" b="0">
                <a:solidFill>
                  <a:srgbClr val="595959"/>
                </a:solidFill>
                <a:latin typeface="Lato"/>
                <a:ea typeface="Lato"/>
                <a:cs typeface="Lato"/>
              </a:rPr>
              <a:t> Ces paramètres contrôlent la représentation des distances.</a:t>
            </a:r>
          </a:p>
        </p:txBody>
      </p:sp>
      <p:sp>
        <p:nvSpPr>
          <p:cNvPr id="217" name="Google Shape;217;p28">
            <a:extLst xmlns:a="http://schemas.openxmlformats.org/drawingml/2006/main">
              <a:ext uri="{FF2B5EF4-FFF2-40B4-BE49-F238E27FC236}">
                <a16:creationId xmlns:a16="http://schemas.microsoft.com/office/drawing/2014/main" id="{AC607F9A-69A9-4D35-B028-A2C6BB5C3D59}"/>
              </a:ext>
            </a:extLst>
          </p:cNvPr>
          <p:cNvSpPr>
            <a:spLocks xmlns:a="http://schemas.openxmlformats.org/drawingml/2006/main" noGrp="1"/>
          </p:cNvSpPr>
          <p:nvPr/>
        </p:nvSpPr>
        <p:spPr>
          <a:xfrm xmlns:a="http://schemas.openxmlformats.org/drawingml/2006/main" rot="0" flipH="0" flipV="0">
            <a:off x="6610350" y="2190750"/>
            <a:ext cx="1771800" cy="2381400"/>
          </a:xfrm>
          <a:prstGeom xmlns:a="http://schemas.openxmlformats.org/drawingml/2006/main" prst="roundRect">
            <a:avLst>
              <a:gd name="adj" fmla="val 4299"/>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8" name="Google Shape;218;p28">
            <a:extLst xmlns:a="http://schemas.openxmlformats.org/drawingml/2006/main">
              <a:ext uri="{FF2B5EF4-FFF2-40B4-BE49-F238E27FC236}">
                <a16:creationId xmlns:a16="http://schemas.microsoft.com/office/drawing/2014/main" id="{93087E94-796F-4083-A79C-E2899443A8D5}"/>
              </a:ext>
            </a:extLst>
          </p:cNvPr>
          <p:cNvSpPr>
            <a:spLocks xmlns:a="http://schemas.openxmlformats.org/drawingml/2006/main" noGrp="1"/>
          </p:cNvSpPr>
          <p:nvPr/>
        </p:nvSpPr>
        <p:spPr>
          <a:xfrm xmlns:a="http://schemas.openxmlformats.org/drawingml/2006/main" rot="0" flipH="0" flipV="0">
            <a:off x="6610350" y="2190750"/>
            <a:ext cx="1771800" cy="57300"/>
          </a:xfrm>
          <a:prstGeom xmlns:a="http://schemas.openxmlformats.org/drawingml/2006/main" prst="roundRect">
            <a:avLst>
              <a:gd name="adj" fmla="val 49998"/>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9" name="Google Shape;219;p28">
            <a:extLst xmlns:a="http://schemas.openxmlformats.org/drawingml/2006/main">
              <a:ext uri="{FF2B5EF4-FFF2-40B4-BE49-F238E27FC236}">
                <a16:creationId xmlns:a16="http://schemas.microsoft.com/office/drawing/2014/main" id="{3F78D229-E5E9-4AFD-83C4-75E36CBEF70B}"/>
              </a:ext>
            </a:extLst>
          </p:cNvPr>
          <p:cNvSpPr>
            <a:spLocks xmlns:a="http://schemas.openxmlformats.org/drawingml/2006/main" noGrp="1"/>
          </p:cNvSpPr>
          <p:nvPr/>
        </p:nvSpPr>
        <p:spPr>
          <a:xfrm xmlns:a="http://schemas.openxmlformats.org/drawingml/2006/main" rot="0" flipH="0" flipV="0">
            <a:off x="6705600" y="2333625"/>
            <a:ext cx="1581300" cy="2095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200" b="0">
                <a:solidFill>
                  <a:srgbClr val="EB5600"/>
                </a:solidFill>
                <a:latin typeface="Material Icons"/>
                <a:ea typeface="Material Icons"/>
                <a:cs typeface="Material Icons"/>
              </a:rPr>
              <a:t>call_split</a:t>
            </a:r>
          </a:p>
          <a:p xmlns:a="http://schemas.openxmlformats.org/drawingml/2006/main">
            <a:pPr marL="0" indent="0" algn="l">
              <a:spcBef>
                <a:spcPts val="600"/>
              </a:spcBef>
              <a:spcAft>
                <a:spcPts val="0"/>
              </a:spcAft>
              <a:buNone/>
            </a:pPr>
            <a:r>
              <a:rPr sz="1400" b="1">
                <a:solidFill>
                  <a:srgbClr val="1A1A1A"/>
                </a:solidFill>
                <a:latin typeface="Raleway"/>
                <a:ea typeface="Raleway"/>
                <a:cs typeface="Raleway"/>
              </a:rPr>
              <a:t>4. SVM</a:t>
            </a:r>
          </a:p>
          <a:p xmlns:a="http://schemas.openxmlformats.org/drawingml/2006/main">
            <a:pPr marL="0" indent="0" algn="l">
              <a:spcBef>
                <a:spcPts val="600"/>
              </a:spcBef>
              <a:spcAft>
                <a:spcPts val="0"/>
              </a:spcAft>
              <a:buNone/>
            </a:pPr>
            <a:r>
              <a:rPr sz="1050" b="0">
                <a:solidFill>
                  <a:srgbClr val="595959"/>
                </a:solidFill>
                <a:latin typeface="Lato"/>
                <a:ea typeface="Lato"/>
                <a:cs typeface="Lato"/>
              </a:rPr>
              <a:t>Epochs, learning rate et lambda. Un essai plus long n'a pas amélioré la validation.</a:t>
            </a:r>
          </a:p>
        </p:txBody>
      </p:sp>
    </p:spTree>
    <p:extLst>
      <p:ext uri="{BB962C8B-B14F-4D97-AF65-F5344CB8AC3E}">
        <p14:creationId xmlns:p14="http://schemas.microsoft.com/office/powerpoint/2010/main" val="4517658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4" name="Google Shape;224;p29">
            <a:extLst xmlns:a="http://schemas.openxmlformats.org/drawingml/2006/main">
              <a:ext uri="{FF2B5EF4-FFF2-40B4-BE49-F238E27FC236}">
                <a16:creationId xmlns:a16="http://schemas.microsoft.com/office/drawing/2014/main" id="{78989F39-2F06-4BB7-A041-B54FD3493938}"/>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6" name="Google Shape;226;p29">
            <a:extLst xmlns:a="http://schemas.openxmlformats.org/drawingml/2006/main">
              <a:ext uri="{FF2B5EF4-FFF2-40B4-BE49-F238E27FC236}">
                <a16:creationId xmlns:a16="http://schemas.microsoft.com/office/drawing/2014/main" id="{A74A1737-4BE1-4399-888E-46F0EBA43226}"/>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7" name="Google Shape;227;p29">
            <a:extLst xmlns:a="http://schemas.openxmlformats.org/drawingml/2006/main">
              <a:ext uri="{FF2B5EF4-FFF2-40B4-BE49-F238E27FC236}">
                <a16:creationId xmlns:a16="http://schemas.microsoft.com/office/drawing/2014/main" id="{C14E7D6E-B9F7-420E-88B9-6C1CA6F4B736}"/>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8" name="Google Shape;228;p29">
            <a:extLst xmlns:a="http://schemas.openxmlformats.org/drawingml/2006/main">
              <a:ext uri="{FF2B5EF4-FFF2-40B4-BE49-F238E27FC236}">
                <a16:creationId xmlns:a16="http://schemas.microsoft.com/office/drawing/2014/main" id="{B5C78D7F-5ADA-4B41-9276-F0D4CC4D44ED}"/>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Problématique</a:t>
            </a:r>
            <a:r>
              <a:t> applicative</a:t>
            </a:r>
          </a:p>
        </p:txBody>
      </p:sp>
      <p:sp>
        <p:nvSpPr>
          <p:cNvPr id="230" name="Google Shape;230;p29">
            <a:extLst xmlns:a="http://schemas.openxmlformats.org/drawingml/2006/main">
              <a:ext uri="{FF2B5EF4-FFF2-40B4-BE49-F238E27FC236}">
                <a16:creationId xmlns:a16="http://schemas.microsoft.com/office/drawing/2014/main" id="{3B8B68D8-ED97-45FB-973F-43343CCFB032}"/>
              </a:ext>
            </a:extLst>
          </p:cNvPr>
          <p:cNvSpPr>
            <a:spLocks xmlns:a="http://schemas.openxmlformats.org/drawingml/2006/main" noGrp="1"/>
          </p:cNvSpPr>
          <p:nvPr/>
        </p:nvSpPr>
        <p:spPr>
          <a:xfrm xmlns:a="http://schemas.openxmlformats.org/drawingml/2006/main" rot="0" flipH="0" flipV="0">
            <a:off x="723900"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1" name="Google Shape;231;p29">
            <a:extLst xmlns:a="http://schemas.openxmlformats.org/drawingml/2006/main">
              <a:ext uri="{FF2B5EF4-FFF2-40B4-BE49-F238E27FC236}">
                <a16:creationId xmlns:a16="http://schemas.microsoft.com/office/drawing/2014/main" id="{7E0B0545-8A5B-49CD-A123-4D0916298C0C}"/>
              </a:ext>
            </a:extLst>
          </p:cNvPr>
          <p:cNvSpPr>
            <a:spLocks xmlns:a="http://schemas.openxmlformats.org/drawingml/2006/main" noGrp="1"/>
          </p:cNvSpPr>
          <p:nvPr/>
        </p:nvSpPr>
        <p:spPr>
          <a:xfrm xmlns:a="http://schemas.openxmlformats.org/drawingml/2006/main" rot="0" flipH="0" flipV="0">
            <a:off x="723900" y="2000250"/>
            <a:ext cx="2381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3" name="Google Shape;233;p29">
            <a:extLst xmlns:a="http://schemas.openxmlformats.org/drawingml/2006/main">
              <a:ext uri="{FF2B5EF4-FFF2-40B4-BE49-F238E27FC236}">
                <a16:creationId xmlns:a16="http://schemas.microsoft.com/office/drawing/2014/main" id="{D863ABCB-5890-43D7-ABA8-10F9BAC71986}"/>
              </a:ext>
            </a:extLst>
          </p:cNvPr>
          <p:cNvSpPr>
            <a:spLocks xmlns:a="http://schemas.openxmlformats.org/drawingml/2006/main" noGrp="1"/>
          </p:cNvSpPr>
          <p:nvPr/>
        </p:nvSpPr>
        <p:spPr>
          <a:xfrm xmlns:a="http://schemas.openxmlformats.org/drawingml/2006/main" rot="0" flipH="0" flipV="0">
            <a:off x="866775" y="2143125"/>
            <a:ext cx="20955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4" name="Google Shape;234;p29">
            <a:extLst xmlns:a="http://schemas.openxmlformats.org/drawingml/2006/main">
              <a:ext uri="{FF2B5EF4-FFF2-40B4-BE49-F238E27FC236}">
                <a16:creationId xmlns:a16="http://schemas.microsoft.com/office/drawing/2014/main" id="{AE5FB380-2E14-4433-99AD-9196C5F5D256}"/>
              </a:ext>
            </a:extLst>
          </p:cNvPr>
          <p:cNvSpPr>
            <a:spLocks xmlns:a="http://schemas.openxmlformats.org/drawingml/2006/main" noGrp="1"/>
          </p:cNvSpPr>
          <p:nvPr/>
        </p:nvSpPr>
        <p:spPr>
          <a:xfrm xmlns:a="http://schemas.openxmlformats.org/drawingml/2006/main" rot="0" flipH="0" flipV="0">
            <a:off x="866775" y="2143125"/>
            <a:ext cx="20955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dns</a:t>
            </a:r>
          </a:p>
          <a:p xmlns:a="http://schemas.openxmlformats.org/drawingml/2006/main">
            <a:pPr marL="0" indent="0" algn="l">
              <a:spcBef>
                <a:spcPts val="563"/>
              </a:spcBef>
              <a:spcAft>
                <a:spcPts val="0"/>
              </a:spcAft>
              <a:buNone/>
            </a:pPr>
            <a:r>
              <a:rPr sz="1500" b="1">
                <a:solidFill>
                  <a:srgbClr val="1A1A1A"/>
                </a:solidFill>
                <a:latin typeface="Raleway"/>
                <a:ea typeface="Raleway"/>
                <a:cs typeface="Raleway"/>
              </a:rPr>
              <a:t>1. Lourdeur logicielle</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Les frameworks IA standards (TensorFlow, PyTorch) sont souvent trop lourds pour une intégration simple et légère.</a:t>
            </a:r>
          </a:p>
        </p:txBody>
      </p:sp>
      <p:sp>
        <p:nvSpPr>
          <p:cNvPr id="236" name="Google Shape;236;p29">
            <a:extLst xmlns:a="http://schemas.openxmlformats.org/drawingml/2006/main">
              <a:ext uri="{FF2B5EF4-FFF2-40B4-BE49-F238E27FC236}">
                <a16:creationId xmlns:a16="http://schemas.microsoft.com/office/drawing/2014/main" id="{E94BF188-BCF1-420E-AF17-C720C88F7A11}"/>
              </a:ext>
            </a:extLst>
          </p:cNvPr>
          <p:cNvSpPr>
            <a:spLocks xmlns:a="http://schemas.openxmlformats.org/drawingml/2006/main" noGrp="1"/>
          </p:cNvSpPr>
          <p:nvPr/>
        </p:nvSpPr>
        <p:spPr>
          <a:xfrm xmlns:a="http://schemas.openxmlformats.org/drawingml/2006/main" rot="0" flipH="0" flipV="0">
            <a:off x="3381375"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7" name="Google Shape;237;p29">
            <a:extLst xmlns:a="http://schemas.openxmlformats.org/drawingml/2006/main">
              <a:ext uri="{FF2B5EF4-FFF2-40B4-BE49-F238E27FC236}">
                <a16:creationId xmlns:a16="http://schemas.microsoft.com/office/drawing/2014/main" id="{BA2A83E5-45E9-43CE-BB4A-20923DC94221}"/>
              </a:ext>
            </a:extLst>
          </p:cNvPr>
          <p:cNvSpPr>
            <a:spLocks xmlns:a="http://schemas.openxmlformats.org/drawingml/2006/main" noGrp="1"/>
          </p:cNvSpPr>
          <p:nvPr/>
        </p:nvSpPr>
        <p:spPr>
          <a:xfrm xmlns:a="http://schemas.openxmlformats.org/drawingml/2006/main" rot="0" flipH="0" flipV="0">
            <a:off x="3381375" y="2000250"/>
            <a:ext cx="23814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9" name="Google Shape;239;p29">
            <a:extLst xmlns:a="http://schemas.openxmlformats.org/drawingml/2006/main">
              <a:ext uri="{FF2B5EF4-FFF2-40B4-BE49-F238E27FC236}">
                <a16:creationId xmlns:a16="http://schemas.microsoft.com/office/drawing/2014/main" id="{4486D570-E750-4EB2-9C0A-507703046F50}"/>
              </a:ext>
            </a:extLst>
          </p:cNvPr>
          <p:cNvSpPr>
            <a:spLocks xmlns:a="http://schemas.openxmlformats.org/drawingml/2006/main" noGrp="1"/>
          </p:cNvSpPr>
          <p:nvPr/>
        </p:nvSpPr>
        <p:spPr>
          <a:xfrm xmlns:a="http://schemas.openxmlformats.org/drawingml/2006/main" rot="0" flipH="0" flipV="0">
            <a:off x="3524250" y="2143125"/>
            <a:ext cx="20955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0" name="Google Shape;240;p29">
            <a:extLst xmlns:a="http://schemas.openxmlformats.org/drawingml/2006/main">
              <a:ext uri="{FF2B5EF4-FFF2-40B4-BE49-F238E27FC236}">
                <a16:creationId xmlns:a16="http://schemas.microsoft.com/office/drawing/2014/main" id="{144AA00B-9C09-43CE-AB7B-F27C3AD670AE}"/>
              </a:ext>
            </a:extLst>
          </p:cNvPr>
          <p:cNvSpPr>
            <a:spLocks xmlns:a="http://schemas.openxmlformats.org/drawingml/2006/main" noGrp="1"/>
          </p:cNvSpPr>
          <p:nvPr/>
        </p:nvSpPr>
        <p:spPr>
          <a:xfrm xmlns:a="http://schemas.openxmlformats.org/drawingml/2006/main" rot="0" flipH="0" flipV="0">
            <a:off x="3524250" y="2143125"/>
            <a:ext cx="20955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access_time</a:t>
            </a:r>
          </a:p>
          <a:p xmlns:a="http://schemas.openxmlformats.org/drawingml/2006/main">
            <a:pPr marL="0" indent="0" algn="l">
              <a:spcBef>
                <a:spcPts val="563"/>
              </a:spcBef>
              <a:spcAft>
                <a:spcPts val="0"/>
              </a:spcAft>
              <a:buNone/>
            </a:pPr>
            <a:r>
              <a:rPr sz="1500" b="1">
                <a:solidFill>
                  <a:srgbClr val="1A1A1A"/>
                </a:solidFill>
                <a:latin typeface="Raleway"/>
                <a:ea typeface="Raleway"/>
                <a:cs typeface="Raleway"/>
              </a:rPr>
              <a:t>2. Latence d'inférence</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L'utilisation de solutions Cloud distantes introduit une latence incompatible avec une expérience Web fluide.</a:t>
            </a:r>
          </a:p>
        </p:txBody>
      </p:sp>
      <p:sp>
        <p:nvSpPr>
          <p:cNvPr id="242" name="Google Shape;242;p29">
            <a:extLst xmlns:a="http://schemas.openxmlformats.org/drawingml/2006/main">
              <a:ext uri="{FF2B5EF4-FFF2-40B4-BE49-F238E27FC236}">
                <a16:creationId xmlns:a16="http://schemas.microsoft.com/office/drawing/2014/main" id="{843DA8FC-8FE0-4875-A509-806F3BBE1121}"/>
              </a:ext>
            </a:extLst>
          </p:cNvPr>
          <p:cNvSpPr>
            <a:spLocks xmlns:a="http://schemas.openxmlformats.org/drawingml/2006/main" noGrp="1"/>
          </p:cNvSpPr>
          <p:nvPr/>
        </p:nvSpPr>
        <p:spPr>
          <a:xfrm xmlns:a="http://schemas.openxmlformats.org/drawingml/2006/main" rot="0" flipH="0" flipV="0">
            <a:off x="6038850"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3" name="Google Shape;243;p29">
            <a:extLst xmlns:a="http://schemas.openxmlformats.org/drawingml/2006/main">
              <a:ext uri="{FF2B5EF4-FFF2-40B4-BE49-F238E27FC236}">
                <a16:creationId xmlns:a16="http://schemas.microsoft.com/office/drawing/2014/main" id="{D0D0234B-A95F-4904-8D04-2B09BC8C58F2}"/>
              </a:ext>
            </a:extLst>
          </p:cNvPr>
          <p:cNvSpPr>
            <a:spLocks xmlns:a="http://schemas.openxmlformats.org/drawingml/2006/main" noGrp="1"/>
          </p:cNvSpPr>
          <p:nvPr/>
        </p:nvSpPr>
        <p:spPr>
          <a:xfrm xmlns:a="http://schemas.openxmlformats.org/drawingml/2006/main" rot="0" flipH="0" flipV="0">
            <a:off x="6038850" y="2000250"/>
            <a:ext cx="2381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5" name="Google Shape;245;p29">
            <a:extLst xmlns:a="http://schemas.openxmlformats.org/drawingml/2006/main">
              <a:ext uri="{FF2B5EF4-FFF2-40B4-BE49-F238E27FC236}">
                <a16:creationId xmlns:a16="http://schemas.microsoft.com/office/drawing/2014/main" id="{EF226B48-2C1A-4099-842F-16E26894DCD9}"/>
              </a:ext>
            </a:extLst>
          </p:cNvPr>
          <p:cNvSpPr>
            <a:spLocks xmlns:a="http://schemas.openxmlformats.org/drawingml/2006/main" noGrp="1"/>
          </p:cNvSpPr>
          <p:nvPr/>
        </p:nvSpPr>
        <p:spPr>
          <a:xfrm xmlns:a="http://schemas.openxmlformats.org/drawingml/2006/main" rot="0" flipH="0" flipV="0">
            <a:off x="6181725" y="2143125"/>
            <a:ext cx="20955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6" name="Google Shape;246;p29">
            <a:extLst xmlns:a="http://schemas.openxmlformats.org/drawingml/2006/main">
              <a:ext uri="{FF2B5EF4-FFF2-40B4-BE49-F238E27FC236}">
                <a16:creationId xmlns:a16="http://schemas.microsoft.com/office/drawing/2014/main" id="{7F905809-99AA-4A53-B0F3-A2C317DB44A1}"/>
              </a:ext>
            </a:extLst>
          </p:cNvPr>
          <p:cNvSpPr>
            <a:spLocks xmlns:a="http://schemas.openxmlformats.org/drawingml/2006/main" noGrp="1"/>
          </p:cNvSpPr>
          <p:nvPr/>
        </p:nvSpPr>
        <p:spPr>
          <a:xfrm xmlns:a="http://schemas.openxmlformats.org/drawingml/2006/main" rot="0" flipH="0" flipV="0">
            <a:off x="6181725" y="2143125"/>
            <a:ext cx="20955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security</a:t>
            </a:r>
          </a:p>
          <a:p xmlns:a="http://schemas.openxmlformats.org/drawingml/2006/main">
            <a:pPr marL="0" indent="0" algn="l">
              <a:spcBef>
                <a:spcPts val="563"/>
              </a:spcBef>
              <a:spcAft>
                <a:spcPts val="0"/>
              </a:spcAft>
              <a:buNone/>
            </a:pPr>
            <a:r>
              <a:rPr sz="1500" b="1">
                <a:solidFill>
                  <a:srgbClr val="1A1A1A"/>
                </a:solidFill>
                <a:latin typeface="Raleway"/>
                <a:ea typeface="Raleway"/>
                <a:cs typeface="Raleway"/>
              </a:rPr>
              <a:t>3. Contrôle &amp; Sécurité</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Le besoin d'une bibliothèque "boîte noire" limite la personnalisation et l'optimisation bas niveau.</a:t>
            </a:r>
          </a:p>
        </p:txBody>
      </p:sp>
    </p:spTree>
    <p:extLst>
      <p:ext uri="{BB962C8B-B14F-4D97-AF65-F5344CB8AC3E}">
        <p14:creationId xmlns:p14="http://schemas.microsoft.com/office/powerpoint/2010/main" val="188055627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52" name="Google Shape;252;p30">
            <a:extLst xmlns:a="http://schemas.openxmlformats.org/drawingml/2006/main">
              <a:ext uri="{FF2B5EF4-FFF2-40B4-BE49-F238E27FC236}">
                <a16:creationId xmlns:a16="http://schemas.microsoft.com/office/drawing/2014/main" id="{D98D3883-65E7-4574-B79F-BADA98DA186A}"/>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253" name="Google Shape;253;p30">
            <a:extLst xmlns:a="http://schemas.openxmlformats.org/drawingml/2006/main">
              <a:ext uri="{FF2B5EF4-FFF2-40B4-BE49-F238E27FC236}">
                <a16:creationId xmlns:a16="http://schemas.microsoft.com/office/drawing/2014/main" id="{4A887DF2-21EB-4D7B-B468-AE72E6118CAE}"/>
              </a:ext>
            </a:extLst>
          </p:cNvPr>
          <p:cNvSpPr>
            <a:spLocks xmlns:a="http://schemas.openxmlformats.org/drawingml/2006/main" noGrp="1"/>
          </p:cNvSpPr>
          <p:nvPr/>
        </p:nvSpPr>
        <p:spPr>
          <a:xfrm xmlns:a="http://schemas.openxmlformats.org/drawingml/2006/main" rot="-5400000">
            <a:off x="1380875" y="730246"/>
            <a:ext cx="17700" cy="967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254" name="Google Shape;254;p30">
            <a:extLst xmlns:a="http://schemas.openxmlformats.org/drawingml/2006/main">
              <a:ext uri="{FF2B5EF4-FFF2-40B4-BE49-F238E27FC236}">
                <a16:creationId xmlns:a16="http://schemas.microsoft.com/office/drawing/2014/main" id="{6972B663-83F1-42EA-AB4C-33E2B30D2DE7}"/>
              </a:ext>
            </a:extLst>
          </p:cNvPr>
          <p:cNvSpPr>
            <a:spLocks xmlns:a="http://schemas.openxmlformats.org/drawingml/2006/main" noGrp="1"/>
          </p:cNvSpPr>
          <p:nvPr/>
        </p:nvSpPr>
        <p:spPr>
          <a:xfrm xmlns:a="http://schemas.openxmlformats.org/drawingml/2006/main" rot="-5400000">
            <a:off x="1009506" y="726196"/>
            <a:ext cx="17700" cy="9759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255" name="Google Shape;255;p30">
            <a:extLst xmlns:a="http://schemas.openxmlformats.org/drawingml/2006/main">
              <a:ext uri="{FF2B5EF4-FFF2-40B4-BE49-F238E27FC236}">
                <a16:creationId xmlns:a16="http://schemas.microsoft.com/office/drawing/2014/main" id="{B9BCEBEC-0369-4C65-B0ED-371AFA42B9B0}"/>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Problématique applicative</a:t>
            </a:r>
          </a:p>
        </p:txBody>
      </p:sp>
      <p:sp>
        <p:nvSpPr>
          <p:cNvPr id="257" name="Google Shape;257;p30">
            <a:extLst xmlns:a="http://schemas.openxmlformats.org/drawingml/2006/main">
              <a:ext uri="{FF2B5EF4-FFF2-40B4-BE49-F238E27FC236}">
                <a16:creationId xmlns:a16="http://schemas.microsoft.com/office/drawing/2014/main" id="{69314D79-4273-421B-BD69-69AE799AD92B}"/>
              </a:ext>
            </a:extLst>
          </p:cNvPr>
          <p:cNvSpPr>
            <a:spLocks xmlns:a="http://schemas.openxmlformats.org/drawingml/2006/main" noGrp="1"/>
          </p:cNvSpPr>
          <p:nvPr/>
        </p:nvSpPr>
        <p:spPr>
          <a:xfrm xmlns:a="http://schemas.openxmlformats.org/drawingml/2006/main" rot="0" flipH="0" flipV="0">
            <a:off x="723900"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8" name="Google Shape;258;p30">
            <a:extLst xmlns:a="http://schemas.openxmlformats.org/drawingml/2006/main">
              <a:ext uri="{FF2B5EF4-FFF2-40B4-BE49-F238E27FC236}">
                <a16:creationId xmlns:a16="http://schemas.microsoft.com/office/drawing/2014/main" id="{2D7D4A14-F4C3-4109-8C7E-B2907930BE46}"/>
              </a:ext>
            </a:extLst>
          </p:cNvPr>
          <p:cNvSpPr>
            <a:spLocks xmlns:a="http://schemas.openxmlformats.org/drawingml/2006/main" noGrp="1"/>
          </p:cNvSpPr>
          <p:nvPr/>
        </p:nvSpPr>
        <p:spPr>
          <a:xfrm xmlns:a="http://schemas.openxmlformats.org/drawingml/2006/main" rot="0" flipH="0" flipV="0">
            <a:off x="723900" y="2000250"/>
            <a:ext cx="2381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9" name="Google Shape;259;p30">
            <a:extLst xmlns:a="http://schemas.openxmlformats.org/drawingml/2006/main">
              <a:ext uri="{FF2B5EF4-FFF2-40B4-BE49-F238E27FC236}">
                <a16:creationId xmlns:a16="http://schemas.microsoft.com/office/drawing/2014/main" id="{EF4B37F9-12F4-4775-98FE-F031197A6D28}"/>
              </a:ext>
            </a:extLst>
          </p:cNvPr>
          <p:cNvSpPr>
            <a:spLocks xmlns:a="http://schemas.openxmlformats.org/drawingml/2006/main" noGrp="1"/>
          </p:cNvSpPr>
          <p:nvPr/>
        </p:nvSpPr>
        <p:spPr>
          <a:xfrm xmlns:a="http://schemas.openxmlformats.org/drawingml/2006/main" rot="0" flipH="0" flipV="0">
            <a:off x="866775" y="2143125"/>
            <a:ext cx="20955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construction</a:t>
            </a:r>
          </a:p>
          <a:p xmlns:a="http://schemas.openxmlformats.org/drawingml/2006/main">
            <a:pPr marL="0" indent="0" algn="l">
              <a:spcBef>
                <a:spcPts val="450"/>
              </a:spcBef>
              <a:spcAft>
                <a:spcPts val="0"/>
              </a:spcAft>
              <a:buNone/>
            </a:pPr>
            <a:r>
              <a:rPr sz="1500" b="1">
                <a:solidFill>
                  <a:srgbClr val="1A1A1A"/>
                </a:solidFill>
                <a:latin typeface="Raleway"/>
                <a:ea typeface="Raleway"/>
                <a:cs typeface="Raleway"/>
              </a:rPr>
              <a:t>1. Construire</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Perceptron, MLP, RBF et SVM sont réellement implémentés en C++ avec Eigen.</a:t>
            </a:r>
          </a:p>
        </p:txBody>
      </p:sp>
      <p:sp>
        <p:nvSpPr>
          <p:cNvPr id="261" name="Google Shape;261;p30">
            <a:extLst xmlns:a="http://schemas.openxmlformats.org/drawingml/2006/main">
              <a:ext uri="{FF2B5EF4-FFF2-40B4-BE49-F238E27FC236}">
                <a16:creationId xmlns:a16="http://schemas.microsoft.com/office/drawing/2014/main" id="{E04AA773-858D-4362-A4AE-D2B2159916D6}"/>
              </a:ext>
            </a:extLst>
          </p:cNvPr>
          <p:cNvSpPr>
            <a:spLocks xmlns:a="http://schemas.openxmlformats.org/drawingml/2006/main" noGrp="1"/>
          </p:cNvSpPr>
          <p:nvPr/>
        </p:nvSpPr>
        <p:spPr>
          <a:xfrm xmlns:a="http://schemas.openxmlformats.org/drawingml/2006/main" rot="0" flipH="0" flipV="0">
            <a:off x="3381375"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2" name="Google Shape;262;p30">
            <a:extLst xmlns:a="http://schemas.openxmlformats.org/drawingml/2006/main">
              <a:ext uri="{FF2B5EF4-FFF2-40B4-BE49-F238E27FC236}">
                <a16:creationId xmlns:a16="http://schemas.microsoft.com/office/drawing/2014/main" id="{B3948147-E186-4B85-BD69-A4BF3B07588A}"/>
              </a:ext>
            </a:extLst>
          </p:cNvPr>
          <p:cNvSpPr>
            <a:spLocks xmlns:a="http://schemas.openxmlformats.org/drawingml/2006/main" noGrp="1"/>
          </p:cNvSpPr>
          <p:nvPr/>
        </p:nvSpPr>
        <p:spPr>
          <a:xfrm xmlns:a="http://schemas.openxmlformats.org/drawingml/2006/main" rot="0" flipH="0" flipV="0">
            <a:off x="3381375" y="2000250"/>
            <a:ext cx="23814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3" name="Google Shape;263;p30">
            <a:extLst xmlns:a="http://schemas.openxmlformats.org/drawingml/2006/main">
              <a:ext uri="{FF2B5EF4-FFF2-40B4-BE49-F238E27FC236}">
                <a16:creationId xmlns:a16="http://schemas.microsoft.com/office/drawing/2014/main" id="{ED6415D2-6D09-4ED6-AC23-166B71F05C1B}"/>
              </a:ext>
            </a:extLst>
          </p:cNvPr>
          <p:cNvSpPr>
            <a:spLocks xmlns:a="http://schemas.openxmlformats.org/drawingml/2006/main" noGrp="1"/>
          </p:cNvSpPr>
          <p:nvPr/>
        </p:nvSpPr>
        <p:spPr>
          <a:xfrm xmlns:a="http://schemas.openxmlformats.org/drawingml/2006/main" rot="0" flipH="0" flipV="0">
            <a:off x="3524250" y="2143125"/>
            <a:ext cx="20955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analytics</a:t>
            </a:r>
          </a:p>
          <a:p xmlns:a="http://schemas.openxmlformats.org/drawingml/2006/main">
            <a:pPr marL="0" indent="0" algn="l">
              <a:spcBef>
                <a:spcPts val="450"/>
              </a:spcBef>
              <a:spcAft>
                <a:spcPts val="0"/>
              </a:spcAft>
              <a:buNone/>
            </a:pPr>
            <a:r>
              <a:rPr sz="1500" b="1">
                <a:solidFill>
                  <a:srgbClr val="1A1A1A"/>
                </a:solidFill>
                <a:latin typeface="Raleway"/>
                <a:ea typeface="Raleway"/>
                <a:cs typeface="Raleway"/>
              </a:rPr>
              <a:t>2. Mesurer</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Les paramètres sont comparés sur une validation séparée. Le test final reste verrouillé.</a:t>
            </a:r>
          </a:p>
        </p:txBody>
      </p:sp>
      <p:sp>
        <p:nvSpPr>
          <p:cNvPr id="265" name="Google Shape;265;p30">
            <a:extLst xmlns:a="http://schemas.openxmlformats.org/drawingml/2006/main">
              <a:ext uri="{FF2B5EF4-FFF2-40B4-BE49-F238E27FC236}">
                <a16:creationId xmlns:a16="http://schemas.microsoft.com/office/drawing/2014/main" id="{E1C2C9C9-4BB7-4657-8C13-5ACF499EEAE4}"/>
              </a:ext>
            </a:extLst>
          </p:cNvPr>
          <p:cNvSpPr>
            <a:spLocks xmlns:a="http://schemas.openxmlformats.org/drawingml/2006/main" noGrp="1"/>
          </p:cNvSpPr>
          <p:nvPr/>
        </p:nvSpPr>
        <p:spPr>
          <a:xfrm xmlns:a="http://schemas.openxmlformats.org/drawingml/2006/main" rot="0" flipH="0" flipV="0">
            <a:off x="6038850" y="2000250"/>
            <a:ext cx="2381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6" name="Google Shape;266;p30">
            <a:extLst xmlns:a="http://schemas.openxmlformats.org/drawingml/2006/main">
              <a:ext uri="{FF2B5EF4-FFF2-40B4-BE49-F238E27FC236}">
                <a16:creationId xmlns:a16="http://schemas.microsoft.com/office/drawing/2014/main" id="{0F71AC42-EE04-4692-95AD-53F4016D0169}"/>
              </a:ext>
            </a:extLst>
          </p:cNvPr>
          <p:cNvSpPr>
            <a:spLocks xmlns:a="http://schemas.openxmlformats.org/drawingml/2006/main" noGrp="1"/>
          </p:cNvSpPr>
          <p:nvPr/>
        </p:nvSpPr>
        <p:spPr>
          <a:xfrm xmlns:a="http://schemas.openxmlformats.org/drawingml/2006/main" rot="0" flipH="0" flipV="0">
            <a:off x="6038850" y="2000250"/>
            <a:ext cx="2381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7" name="Google Shape;267;p30">
            <a:extLst xmlns:a="http://schemas.openxmlformats.org/drawingml/2006/main">
              <a:ext uri="{FF2B5EF4-FFF2-40B4-BE49-F238E27FC236}">
                <a16:creationId xmlns:a16="http://schemas.microsoft.com/office/drawing/2014/main" id="{DB08C674-7017-4B62-97EE-6D05EF60B583}"/>
              </a:ext>
            </a:extLst>
          </p:cNvPr>
          <p:cNvSpPr>
            <a:spLocks xmlns:a="http://schemas.openxmlformats.org/drawingml/2006/main" noGrp="1"/>
          </p:cNvSpPr>
          <p:nvPr/>
        </p:nvSpPr>
        <p:spPr>
          <a:xfrm xmlns:a="http://schemas.openxmlformats.org/drawingml/2006/main" rot="0" flipH="0" flipV="0">
            <a:off x="6181725" y="2143125"/>
            <a:ext cx="20955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devices</a:t>
            </a:r>
          </a:p>
          <a:p xmlns:a="http://schemas.openxmlformats.org/drawingml/2006/main">
            <a:pPr marL="0" indent="0" algn="l">
              <a:spcBef>
                <a:spcPts val="450"/>
              </a:spcBef>
              <a:spcAft>
                <a:spcPts val="0"/>
              </a:spcAft>
              <a:buNone/>
            </a:pPr>
            <a:r>
              <a:rPr sz="1500" b="1">
                <a:solidFill>
                  <a:srgbClr val="1A1A1A"/>
                </a:solidFill>
                <a:latin typeface="Raleway"/>
                <a:ea typeface="Raleway"/>
                <a:cs typeface="Raleway"/>
              </a:rPr>
              <a:t>3. Utiliser</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Le modèle sauvegardé doit prédire de vraies images dans une interface web locale.</a:t>
            </a:r>
          </a:p>
        </p:txBody>
      </p:sp>
    </p:spTree>
    <p:extLst>
      <p:ext uri="{BB962C8B-B14F-4D97-AF65-F5344CB8AC3E}">
        <p14:creationId xmlns:p14="http://schemas.microsoft.com/office/powerpoint/2010/main" val="114206858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72" name="Google Shape;272;p31">
            <a:extLst xmlns:a="http://schemas.openxmlformats.org/drawingml/2006/main">
              <a:ext uri="{FF2B5EF4-FFF2-40B4-BE49-F238E27FC236}">
                <a16:creationId xmlns:a16="http://schemas.microsoft.com/office/drawing/2014/main" id="{FBE97E5F-3E19-44BD-8E32-13F0533DE7E4}"/>
              </a:ext>
            </a:extLst>
          </p:cNvPr>
          <p:cNvSpPr>
            <a:spLocks xmlns:a="http://schemas.openxmlformats.org/drawingml/2006/main" noGrp="1"/>
          </p:cNvSpPr>
          <p:nvPr>
            <p:ph type="title" idx="0"/>
          </p:nvPr>
        </p:nvSpPr>
        <p:spPr>
          <a:xfrm xmlns:a="http://schemas.openxmlformats.org/drawingml/2006/main">
            <a:off x="729450" y="1318651"/>
            <a:ext cx="7688700" cy="535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00" tIns="91400" rIns="91400" bIns="91400" anchor="t">
            <a:normAutofit fontScale="90000"/>
          </a:bodyPr>
          <a:lstStyle xmlns:a="http://schemas.openxmlformats.org/drawingml/2006/main"/>
          <a:p xmlns:a="http://schemas.openxmlformats.org/drawingml/2006/main">
            <a:pPr marL="0" indent="0" algn="l">
              <a:spcBef>
                <a:spcPts val="0"/>
              </a:spcBef>
              <a:spcAft>
                <a:spcPts val="0"/>
              </a:spcAft>
              <a:buNone/>
            </a:pPr>
            <a:r>
              <a:t>Problématique applicative</a:t>
            </a:r>
          </a:p>
        </p:txBody>
      </p:sp>
      <p:sp>
        <p:nvSpPr>
          <p:cNvPr id="274" name="Google Shape;274;p31">
            <a:extLst xmlns:a="http://schemas.openxmlformats.org/drawingml/2006/main">
              <a:ext uri="{FF2B5EF4-FFF2-40B4-BE49-F238E27FC236}">
                <a16:creationId xmlns:a16="http://schemas.microsoft.com/office/drawing/2014/main" id="{56F291F0-B533-422A-8078-F1663D1F2058}"/>
              </a:ext>
            </a:extLst>
          </p:cNvPr>
          <p:cNvSpPr>
            <a:spLocks xmlns:a="http://schemas.openxmlformats.org/drawingml/2006/main" noGrp="1"/>
          </p:cNvSpPr>
          <p:nvPr/>
        </p:nvSpPr>
        <p:spPr>
          <a:xfrm xmlns:a="http://schemas.openxmlformats.org/drawingml/2006/main" rot="0" flipH="0" flipV="0">
            <a:off x="72390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5" name="Google Shape;275;p31">
            <a:extLst xmlns:a="http://schemas.openxmlformats.org/drawingml/2006/main">
              <a:ext uri="{FF2B5EF4-FFF2-40B4-BE49-F238E27FC236}">
                <a16:creationId xmlns:a16="http://schemas.microsoft.com/office/drawing/2014/main" id="{D5A13138-60CA-4EE0-B653-188647DC2150}"/>
              </a:ext>
            </a:extLst>
          </p:cNvPr>
          <p:cNvSpPr>
            <a:spLocks xmlns:a="http://schemas.openxmlformats.org/drawingml/2006/main" noGrp="1"/>
          </p:cNvSpPr>
          <p:nvPr/>
        </p:nvSpPr>
        <p:spPr>
          <a:xfrm xmlns:a="http://schemas.openxmlformats.org/drawingml/2006/main" rot="0" flipH="0" flipV="0">
            <a:off x="723900" y="2000250"/>
            <a:ext cx="3524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6" name="Google Shape;276;p31">
            <a:extLst xmlns:a="http://schemas.openxmlformats.org/drawingml/2006/main">
              <a:ext uri="{FF2B5EF4-FFF2-40B4-BE49-F238E27FC236}">
                <a16:creationId xmlns:a16="http://schemas.microsoft.com/office/drawing/2014/main" id="{78EA095F-9409-463B-825F-3A601503D79B}"/>
              </a:ext>
            </a:extLst>
          </p:cNvPr>
          <p:cNvSpPr>
            <a:spLocks xmlns:a="http://schemas.openxmlformats.org/drawingml/2006/main" noGrp="1"/>
          </p:cNvSpPr>
          <p:nvPr/>
        </p:nvSpPr>
        <p:spPr>
          <a:xfrm xmlns:a="http://schemas.openxmlformats.org/drawingml/2006/main" rot="0" flipH="0" flipV="0">
            <a:off x="914400" y="2143125"/>
            <a:ext cx="31434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memory</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1. C++ natif</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L'implémentation en C++ natif permet d'exploiter pleinement le processeur sans surcouche d'interprétation, garantissant un ratio performances/ressources optimal.</a:t>
            </a:r>
          </a:p>
        </p:txBody>
      </p:sp>
      <p:sp>
        <p:nvSpPr>
          <p:cNvPr id="278" name="Google Shape;278;p31">
            <a:extLst xmlns:a="http://schemas.openxmlformats.org/drawingml/2006/main">
              <a:ext uri="{FF2B5EF4-FFF2-40B4-BE49-F238E27FC236}">
                <a16:creationId xmlns:a16="http://schemas.microsoft.com/office/drawing/2014/main" id="{1346C20D-3D71-4B28-A417-76060380C06E}"/>
              </a:ext>
            </a:extLst>
          </p:cNvPr>
          <p:cNvSpPr>
            <a:spLocks xmlns:a="http://schemas.openxmlformats.org/drawingml/2006/main" noGrp="1"/>
          </p:cNvSpPr>
          <p:nvPr/>
        </p:nvSpPr>
        <p:spPr>
          <a:xfrm xmlns:a="http://schemas.openxmlformats.org/drawingml/2006/main" rot="0" flipH="0" flipV="0">
            <a:off x="489585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9" name="Google Shape;279;p31">
            <a:extLst xmlns:a="http://schemas.openxmlformats.org/drawingml/2006/main">
              <a:ext uri="{FF2B5EF4-FFF2-40B4-BE49-F238E27FC236}">
                <a16:creationId xmlns:a16="http://schemas.microsoft.com/office/drawing/2014/main" id="{8BDA7139-EFCC-45F9-8DCB-15818C69C005}"/>
              </a:ext>
            </a:extLst>
          </p:cNvPr>
          <p:cNvSpPr>
            <a:spLocks xmlns:a="http://schemas.openxmlformats.org/drawingml/2006/main" noGrp="1"/>
          </p:cNvSpPr>
          <p:nvPr/>
        </p:nvSpPr>
        <p:spPr>
          <a:xfrm xmlns:a="http://schemas.openxmlformats.org/drawingml/2006/main" rot="0" flipH="0" flipV="0">
            <a:off x="4895850" y="2000250"/>
            <a:ext cx="35244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0" name="Google Shape;280;p31">
            <a:extLst xmlns:a="http://schemas.openxmlformats.org/drawingml/2006/main">
              <a:ext uri="{FF2B5EF4-FFF2-40B4-BE49-F238E27FC236}">
                <a16:creationId xmlns:a16="http://schemas.microsoft.com/office/drawing/2014/main" id="{DD0DA6A1-5034-4427-94B9-5695236EB82E}"/>
              </a:ext>
            </a:extLst>
          </p:cNvPr>
          <p:cNvSpPr>
            <a:spLocks xmlns:a="http://schemas.openxmlformats.org/drawingml/2006/main" noGrp="1"/>
          </p:cNvSpPr>
          <p:nvPr/>
        </p:nvSpPr>
        <p:spPr>
          <a:xfrm xmlns:a="http://schemas.openxmlformats.org/drawingml/2006/main" rot="0" flipH="0" flipV="0">
            <a:off x="5086350" y="2143125"/>
            <a:ext cx="31434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code</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2. Application Python</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Une application Python est également intégrée à l'architecture pour offrir une interface simple, garantissant ainsi une grande facilité d'utilisation au quotidien.</a:t>
            </a:r>
          </a:p>
        </p:txBody>
      </p:sp>
    </p:spTree>
    <p:extLst>
      <p:ext uri="{BB962C8B-B14F-4D97-AF65-F5344CB8AC3E}">
        <p14:creationId xmlns:p14="http://schemas.microsoft.com/office/powerpoint/2010/main" val="53193096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86" name="Google Shape;286;p32">
            <a:extLst xmlns:a="http://schemas.openxmlformats.org/drawingml/2006/main">
              <a:ext uri="{FF2B5EF4-FFF2-40B4-BE49-F238E27FC236}">
                <a16:creationId xmlns:a16="http://schemas.microsoft.com/office/drawing/2014/main" id="{9F4C6083-B2E2-4D7F-B2A3-B01071B96B84}"/>
              </a:ext>
            </a:extLst>
          </p:cNvPr>
          <p:cNvSpPr>
            <a:spLocks xmlns:a="http://schemas.openxmlformats.org/drawingml/2006/main" noGrp="1"/>
          </p:cNvSpPr>
          <p:nvPr/>
        </p:nvSpPr>
        <p:spPr>
          <a:xfrm xmlns:a="http://schemas.openxmlformats.org/drawingml/2006/main">
            <a:off x="729450" y="1318651"/>
            <a:ext cx="7688700" cy="535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0475" tIns="90475" rIns="90475" bIns="90475" anchor="t">
            <a:noAutofit/>
          </a:bodyPr>
          <a:lstStyle xmlns:a="http://schemas.openxmlformats.org/drawingml/2006/main"/>
          <a:p xmlns:a="http://schemas.openxmlformats.org/drawingml/2006/main">
            <a:pPr marL="0" indent="0" algn="l">
              <a:spcBef>
                <a:spcPts val="0"/>
              </a:spcBef>
              <a:spcAft>
                <a:spcPts val="0"/>
              </a:spcAft>
              <a:buNone/>
            </a:pPr>
            <a:r>
              <a:rPr sz="2210" b="1">
                <a:solidFill>
                  <a:srgbClr val="1A1A1A"/>
                </a:solidFill>
                <a:latin typeface="Raleway"/>
                <a:ea typeface="Raleway"/>
                <a:cs typeface="Raleway"/>
              </a:rPr>
              <a:t>Problématique applicative</a:t>
            </a:r>
          </a:p>
        </p:txBody>
      </p:sp>
      <p:sp>
        <p:nvSpPr>
          <p:cNvPr id="288" name="Google Shape;288;p32">
            <a:extLst xmlns:a="http://schemas.openxmlformats.org/drawingml/2006/main">
              <a:ext uri="{FF2B5EF4-FFF2-40B4-BE49-F238E27FC236}">
                <a16:creationId xmlns:a16="http://schemas.microsoft.com/office/drawing/2014/main" id="{13A696AF-BFF3-4B68-8B09-7101E703713C}"/>
              </a:ext>
            </a:extLst>
          </p:cNvPr>
          <p:cNvSpPr>
            <a:spLocks xmlns:a="http://schemas.openxmlformats.org/drawingml/2006/main" noGrp="1"/>
          </p:cNvSpPr>
          <p:nvPr/>
        </p:nvSpPr>
        <p:spPr>
          <a:xfrm xmlns:a="http://schemas.openxmlformats.org/drawingml/2006/main" rot="0" flipH="0" flipV="0">
            <a:off x="72390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9" name="Google Shape;289;p32">
            <a:extLst xmlns:a="http://schemas.openxmlformats.org/drawingml/2006/main">
              <a:ext uri="{FF2B5EF4-FFF2-40B4-BE49-F238E27FC236}">
                <a16:creationId xmlns:a16="http://schemas.microsoft.com/office/drawing/2014/main" id="{BFD03BA1-4821-4368-ADF1-38E89E37FDF1}"/>
              </a:ext>
            </a:extLst>
          </p:cNvPr>
          <p:cNvSpPr>
            <a:spLocks xmlns:a="http://schemas.openxmlformats.org/drawingml/2006/main" noGrp="1"/>
          </p:cNvSpPr>
          <p:nvPr/>
        </p:nvSpPr>
        <p:spPr>
          <a:xfrm xmlns:a="http://schemas.openxmlformats.org/drawingml/2006/main" rot="0" flipH="0" flipV="0">
            <a:off x="723900" y="2000250"/>
            <a:ext cx="3524400" cy="57300"/>
          </a:xfrm>
          <a:prstGeom xmlns:a="http://schemas.openxmlformats.org/drawingml/2006/main" prst="roundRect">
            <a:avLst>
              <a:gd name="adj" fmla="val 49998"/>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0" name="Google Shape;290;p32">
            <a:extLst xmlns:a="http://schemas.openxmlformats.org/drawingml/2006/main">
              <a:ext uri="{FF2B5EF4-FFF2-40B4-BE49-F238E27FC236}">
                <a16:creationId xmlns:a16="http://schemas.microsoft.com/office/drawing/2014/main" id="{F219A2D6-C4C4-4283-8C68-7B6B4D510621}"/>
              </a:ext>
            </a:extLst>
          </p:cNvPr>
          <p:cNvSpPr>
            <a:spLocks xmlns:a="http://schemas.openxmlformats.org/drawingml/2006/main" noGrp="1"/>
          </p:cNvSpPr>
          <p:nvPr/>
        </p:nvSpPr>
        <p:spPr>
          <a:xfrm xmlns:a="http://schemas.openxmlformats.org/drawingml/2006/main" rot="0" flipH="0" flipV="0">
            <a:off x="914400" y="2143125"/>
            <a:ext cx="31434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cloud_off</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1. Offline : Entraînement</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Images → CSV → train_cli → ml_api → ml_library → modèle .model + rapport JSON. train_all_models.py orchestre et construit le manifest.</a:t>
            </a:r>
          </a:p>
        </p:txBody>
      </p:sp>
      <p:sp>
        <p:nvSpPr>
          <p:cNvPr id="292" name="Google Shape;292;p32">
            <a:extLst xmlns:a="http://schemas.openxmlformats.org/drawingml/2006/main">
              <a:ext uri="{FF2B5EF4-FFF2-40B4-BE49-F238E27FC236}">
                <a16:creationId xmlns:a16="http://schemas.microsoft.com/office/drawing/2014/main" id="{A17F803C-89C8-4BD0-868A-ED5059EFE1D6}"/>
              </a:ext>
            </a:extLst>
          </p:cNvPr>
          <p:cNvSpPr>
            <a:spLocks xmlns:a="http://schemas.openxmlformats.org/drawingml/2006/main" noGrp="1"/>
          </p:cNvSpPr>
          <p:nvPr/>
        </p:nvSpPr>
        <p:spPr>
          <a:xfrm xmlns:a="http://schemas.openxmlformats.org/drawingml/2006/main" rot="0" flipH="0" flipV="0">
            <a:off x="489585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3" name="Google Shape;293;p32">
            <a:extLst xmlns:a="http://schemas.openxmlformats.org/drawingml/2006/main">
              <a:ext uri="{FF2B5EF4-FFF2-40B4-BE49-F238E27FC236}">
                <a16:creationId xmlns:a16="http://schemas.microsoft.com/office/drawing/2014/main" id="{80140920-DA52-4CF2-8CA4-42C7B4F58BE6}"/>
              </a:ext>
            </a:extLst>
          </p:cNvPr>
          <p:cNvSpPr>
            <a:spLocks xmlns:a="http://schemas.openxmlformats.org/drawingml/2006/main" noGrp="1"/>
          </p:cNvSpPr>
          <p:nvPr/>
        </p:nvSpPr>
        <p:spPr>
          <a:xfrm xmlns:a="http://schemas.openxmlformats.org/drawingml/2006/main" rot="0" flipH="0" flipV="0">
            <a:off x="4895850" y="2000250"/>
            <a:ext cx="3524400" cy="57300"/>
          </a:xfrm>
          <a:prstGeom xmlns:a="http://schemas.openxmlformats.org/drawingml/2006/main" prst="roundRect">
            <a:avLst>
              <a:gd name="adj" fmla="val 49998"/>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4" name="Google Shape;294;p32">
            <a:extLst xmlns:a="http://schemas.openxmlformats.org/drawingml/2006/main">
              <a:ext uri="{FF2B5EF4-FFF2-40B4-BE49-F238E27FC236}">
                <a16:creationId xmlns:a16="http://schemas.microsoft.com/office/drawing/2014/main" id="{4C8DBEE0-38DC-4455-BC11-A5978E8F3F82}"/>
              </a:ext>
            </a:extLst>
          </p:cNvPr>
          <p:cNvSpPr>
            <a:spLocks xmlns:a="http://schemas.openxmlformats.org/drawingml/2006/main" noGrp="1"/>
          </p:cNvSpPr>
          <p:nvPr/>
        </p:nvSpPr>
        <p:spPr>
          <a:xfrm xmlns:a="http://schemas.openxmlformats.org/drawingml/2006/main" rot="0" flipH="0" flipV="0">
            <a:off x="5086350" y="2143125"/>
            <a:ext cx="31434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language</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2. Web : Prédiction</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Navigateur → Flask/Pillow → predict_cli → ml_load → ml_predict → classe affichée.</a:t>
            </a:r>
          </a:p>
        </p:txBody>
      </p:sp>
    </p:spTree>
    <p:extLst>
      <p:ext uri="{BB962C8B-B14F-4D97-AF65-F5344CB8AC3E}">
        <p14:creationId xmlns:p14="http://schemas.microsoft.com/office/powerpoint/2010/main" val="1235857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99" name="Google Shape;299;p33">
            <a:extLst xmlns:a="http://schemas.openxmlformats.org/drawingml/2006/main">
              <a:ext uri="{FF2B5EF4-FFF2-40B4-BE49-F238E27FC236}">
                <a16:creationId xmlns:a16="http://schemas.microsoft.com/office/drawing/2014/main" id="{22F948CB-C4F0-4471-921A-75480FB9822E}"/>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Problématique applicative</a:t>
            </a:r>
          </a:p>
        </p:txBody>
      </p:sp>
      <p:sp>
        <p:nvSpPr>
          <p:cNvPr id="301" name="Google Shape;301;p33">
            <a:extLst xmlns:a="http://schemas.openxmlformats.org/drawingml/2006/main">
              <a:ext uri="{FF2B5EF4-FFF2-40B4-BE49-F238E27FC236}">
                <a16:creationId xmlns:a16="http://schemas.microsoft.com/office/drawing/2014/main" id="{2328CEDD-1FC8-490E-BFA3-4793D1812C27}"/>
              </a:ext>
            </a:extLst>
          </p:cNvPr>
          <p:cNvSpPr>
            <a:spLocks xmlns:a="http://schemas.openxmlformats.org/drawingml/2006/main" noGrp="1"/>
          </p:cNvSpPr>
          <p:nvPr/>
        </p:nvSpPr>
        <p:spPr>
          <a:xfrm xmlns:a="http://schemas.openxmlformats.org/drawingml/2006/main" rot="0" flipH="0" flipV="0">
            <a:off x="72390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2" name="Google Shape;302;p33">
            <a:extLst xmlns:a="http://schemas.openxmlformats.org/drawingml/2006/main">
              <a:ext uri="{FF2B5EF4-FFF2-40B4-BE49-F238E27FC236}">
                <a16:creationId xmlns:a16="http://schemas.microsoft.com/office/drawing/2014/main" id="{BC0543E0-440B-4BE3-8F1C-E5C8B7969F33}"/>
              </a:ext>
            </a:extLst>
          </p:cNvPr>
          <p:cNvSpPr>
            <a:spLocks xmlns:a="http://schemas.openxmlformats.org/drawingml/2006/main" noGrp="1"/>
          </p:cNvSpPr>
          <p:nvPr/>
        </p:nvSpPr>
        <p:spPr>
          <a:xfrm xmlns:a="http://schemas.openxmlformats.org/drawingml/2006/main" rot="0" flipH="0" flipV="0">
            <a:off x="723900" y="2000250"/>
            <a:ext cx="3524400" cy="57300"/>
          </a:xfrm>
          <a:prstGeom xmlns:a="http://schemas.openxmlformats.org/drawingml/2006/main" prst="roundRect">
            <a:avLst>
              <a:gd name="adj" fmla="val 49999"/>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3" name="Google Shape;303;p33">
            <a:extLst xmlns:a="http://schemas.openxmlformats.org/drawingml/2006/main">
              <a:ext uri="{FF2B5EF4-FFF2-40B4-BE49-F238E27FC236}">
                <a16:creationId xmlns:a16="http://schemas.microsoft.com/office/drawing/2014/main" id="{B27F38C1-B356-42A9-A8AA-9B41D70FE25A}"/>
              </a:ext>
            </a:extLst>
          </p:cNvPr>
          <p:cNvSpPr>
            <a:spLocks xmlns:a="http://schemas.openxmlformats.org/drawingml/2006/main" noGrp="1"/>
          </p:cNvSpPr>
          <p:nvPr/>
        </p:nvSpPr>
        <p:spPr>
          <a:xfrm xmlns:a="http://schemas.openxmlformats.org/drawingml/2006/main" rot="0" flipH="0" flipV="0">
            <a:off x="914400" y="2143125"/>
            <a:ext cx="31434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web</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1. L'Accessibilité &amp; l'Interface</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Le C++ est excellent pour le calcul, mais complexe pour l'IHM. La surcouche </a:t>
            </a:r>
            <a:r>
              <a:rPr sz="1100" b="1">
                <a:solidFill>
                  <a:srgbClr val="595959"/>
                </a:solidFill>
                <a:latin typeface="Lato"/>
                <a:ea typeface="Lato"/>
                <a:cs typeface="Lato"/>
              </a:rPr>
              <a:t>Python Flask</a:t>
            </a:r>
            <a:r>
              <a:rPr sz="1100" b="0">
                <a:solidFill>
                  <a:srgbClr val="595959"/>
                </a:solidFill>
                <a:latin typeface="Lato"/>
                <a:ea typeface="Lato"/>
                <a:cs typeface="Lato"/>
              </a:rPr>
              <a:t> offre une interface Web moderne, simplifiée et responsive, permettant aux utilisateurs d'uploader facilement leurs images à classifier.</a:t>
            </a:r>
          </a:p>
        </p:txBody>
      </p:sp>
      <p:sp>
        <p:nvSpPr>
          <p:cNvPr id="305" name="Google Shape;305;p33">
            <a:extLst xmlns:a="http://schemas.openxmlformats.org/drawingml/2006/main">
              <a:ext uri="{FF2B5EF4-FFF2-40B4-BE49-F238E27FC236}">
                <a16:creationId xmlns:a16="http://schemas.microsoft.com/office/drawing/2014/main" id="{30F4AA7D-55E7-4695-AE01-365893E9F74E}"/>
              </a:ext>
            </a:extLst>
          </p:cNvPr>
          <p:cNvSpPr>
            <a:spLocks xmlns:a="http://schemas.openxmlformats.org/drawingml/2006/main" noGrp="1"/>
          </p:cNvSpPr>
          <p:nvPr/>
        </p:nvSpPr>
        <p:spPr>
          <a:xfrm xmlns:a="http://schemas.openxmlformats.org/drawingml/2006/main" rot="0" flipH="0" flipV="0">
            <a:off x="489585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6" name="Google Shape;306;p33">
            <a:extLst xmlns:a="http://schemas.openxmlformats.org/drawingml/2006/main">
              <a:ext uri="{FF2B5EF4-FFF2-40B4-BE49-F238E27FC236}">
                <a16:creationId xmlns:a16="http://schemas.microsoft.com/office/drawing/2014/main" id="{C9A4D4ED-5569-4DC1-8FF6-EF1F0585D9D8}"/>
              </a:ext>
            </a:extLst>
          </p:cNvPr>
          <p:cNvSpPr>
            <a:spLocks xmlns:a="http://schemas.openxmlformats.org/drawingml/2006/main" noGrp="1"/>
          </p:cNvSpPr>
          <p:nvPr/>
        </p:nvSpPr>
        <p:spPr>
          <a:xfrm xmlns:a="http://schemas.openxmlformats.org/drawingml/2006/main" rot="0" flipH="0" flipV="0">
            <a:off x="4895850" y="2000250"/>
            <a:ext cx="3524400" cy="57300"/>
          </a:xfrm>
          <a:prstGeom xmlns:a="http://schemas.openxmlformats.org/drawingml/2006/main" prst="roundRect">
            <a:avLst>
              <a:gd name="adj" fmla="val 49999"/>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7" name="Google Shape;307;p33">
            <a:extLst xmlns:a="http://schemas.openxmlformats.org/drawingml/2006/main">
              <a:ext uri="{FF2B5EF4-FFF2-40B4-BE49-F238E27FC236}">
                <a16:creationId xmlns:a16="http://schemas.microsoft.com/office/drawing/2014/main" id="{68FDC44A-78A0-41E4-BEDD-FFAF792D76C9}"/>
              </a:ext>
            </a:extLst>
          </p:cNvPr>
          <p:cNvSpPr>
            <a:spLocks xmlns:a="http://schemas.openxmlformats.org/drawingml/2006/main" noGrp="1"/>
          </p:cNvSpPr>
          <p:nvPr/>
        </p:nvSpPr>
        <p:spPr>
          <a:xfrm xmlns:a="http://schemas.openxmlformats.org/drawingml/2006/main" rot="0" flipH="0" flipV="0">
            <a:off x="5086350" y="2143125"/>
            <a:ext cx="3143400" cy="20001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settings</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2. Prétraitement &amp; Orchestration</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Python excelle dans la manipulation rapide de données. Il orchestre le workflow applicatif : chargement, redimensionnement 32x32 standardisé via Pillow, normalisation et envoi de la requête d'inférence au moteur.</a:t>
            </a:r>
          </a:p>
        </p:txBody>
      </p:sp>
    </p:spTree>
    <p:extLst>
      <p:ext uri="{BB962C8B-B14F-4D97-AF65-F5344CB8AC3E}">
        <p14:creationId xmlns:p14="http://schemas.microsoft.com/office/powerpoint/2010/main" val="64396300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12" name="Google Shape;312;p34">
            <a:extLst xmlns:a="http://schemas.openxmlformats.org/drawingml/2006/main">
              <a:ext uri="{FF2B5EF4-FFF2-40B4-BE49-F238E27FC236}">
                <a16:creationId xmlns:a16="http://schemas.microsoft.com/office/drawing/2014/main" id="{5EB247AB-BE10-47CB-9B15-6F875548A347}"/>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4" name="Google Shape;314;p34">
            <a:extLst xmlns:a="http://schemas.openxmlformats.org/drawingml/2006/main">
              <a:ext uri="{FF2B5EF4-FFF2-40B4-BE49-F238E27FC236}">
                <a16:creationId xmlns:a16="http://schemas.microsoft.com/office/drawing/2014/main" id="{D6E43CD7-DF1F-40BC-AE7F-E2AB92EB38DE}"/>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5" name="Google Shape;315;p34">
            <a:extLst xmlns:a="http://schemas.openxmlformats.org/drawingml/2006/main">
              <a:ext uri="{FF2B5EF4-FFF2-40B4-BE49-F238E27FC236}">
                <a16:creationId xmlns:a16="http://schemas.microsoft.com/office/drawing/2014/main" id="{B490624F-9DA6-4B28-9D5A-2B69B353E3A5}"/>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6" name="Google Shape;316;p34">
            <a:extLst xmlns:a="http://schemas.openxmlformats.org/drawingml/2006/main">
              <a:ext uri="{FF2B5EF4-FFF2-40B4-BE49-F238E27FC236}">
                <a16:creationId xmlns:a16="http://schemas.microsoft.com/office/drawing/2014/main" id="{C3A50D9C-AC8A-4383-B3F3-1EAE8FD3FA7B}"/>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Dataset</a:t>
            </a:r>
          </a:p>
        </p:txBody>
      </p:sp>
      <p:sp>
        <p:nvSpPr>
          <p:cNvPr id="318" name="Google Shape;318;p34">
            <a:extLst xmlns:a="http://schemas.openxmlformats.org/drawingml/2006/main">
              <a:ext uri="{FF2B5EF4-FFF2-40B4-BE49-F238E27FC236}">
                <a16:creationId xmlns:a16="http://schemas.microsoft.com/office/drawing/2014/main" id="{09D291E2-6753-4AC3-A829-7BB8149EB53D}"/>
              </a:ext>
            </a:extLst>
          </p:cNvPr>
          <p:cNvSpPr>
            <a:spLocks xmlns:a="http://schemas.openxmlformats.org/drawingml/2006/main" noGrp="1"/>
          </p:cNvSpPr>
          <p:nvPr/>
        </p:nvSpPr>
        <p:spPr>
          <a:xfrm xmlns:a="http://schemas.openxmlformats.org/drawingml/2006/main" rot="0" flipH="0" flipV="0">
            <a:off x="72390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9" name="Google Shape;319;p34">
            <a:extLst xmlns:a="http://schemas.openxmlformats.org/drawingml/2006/main">
              <a:ext uri="{FF2B5EF4-FFF2-40B4-BE49-F238E27FC236}">
                <a16:creationId xmlns:a16="http://schemas.microsoft.com/office/drawing/2014/main" id="{04BA3778-4654-4466-ADBC-C094771D0B13}"/>
              </a:ext>
            </a:extLst>
          </p:cNvPr>
          <p:cNvSpPr>
            <a:spLocks xmlns:a="http://schemas.openxmlformats.org/drawingml/2006/main" noGrp="1"/>
          </p:cNvSpPr>
          <p:nvPr/>
        </p:nvSpPr>
        <p:spPr>
          <a:xfrm xmlns:a="http://schemas.openxmlformats.org/drawingml/2006/main" rot="0" flipH="0" flipV="0">
            <a:off x="723900" y="2000250"/>
            <a:ext cx="35244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0" name="Google Shape;320;p34">
            <a:extLst xmlns:a="http://schemas.openxmlformats.org/drawingml/2006/main">
              <a:ext uri="{FF2B5EF4-FFF2-40B4-BE49-F238E27FC236}">
                <a16:creationId xmlns:a16="http://schemas.microsoft.com/office/drawing/2014/main" id="{01E66591-9FCA-4E8B-B405-B9E7AEDCC110}"/>
              </a:ext>
            </a:extLst>
          </p:cNvPr>
          <p:cNvSpPr>
            <a:spLocks xmlns:a="http://schemas.openxmlformats.org/drawingml/2006/main" noGrp="1"/>
          </p:cNvSpPr>
          <p:nvPr/>
        </p:nvSpPr>
        <p:spPr>
          <a:xfrm xmlns:a="http://schemas.openxmlformats.org/drawingml/2006/main" rot="0" flipH="0" flipV="0">
            <a:off x="914400" y="2143125"/>
            <a:ext cx="31434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storage</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1. Constitution</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La constitution du dataset est le mélange de plusieurs bases de données accessibles sur le web.</a:t>
            </a:r>
          </a:p>
        </p:txBody>
      </p:sp>
      <p:sp>
        <p:nvSpPr>
          <p:cNvPr id="322" name="Google Shape;322;p34">
            <a:extLst xmlns:a="http://schemas.openxmlformats.org/drawingml/2006/main">
              <a:ext uri="{FF2B5EF4-FFF2-40B4-BE49-F238E27FC236}">
                <a16:creationId xmlns:a16="http://schemas.microsoft.com/office/drawing/2014/main" id="{9EE6B0C2-AF08-4AC1-B4E6-37476CB74269}"/>
              </a:ext>
            </a:extLst>
          </p:cNvPr>
          <p:cNvSpPr>
            <a:spLocks xmlns:a="http://schemas.openxmlformats.org/drawingml/2006/main" noGrp="1"/>
          </p:cNvSpPr>
          <p:nvPr/>
        </p:nvSpPr>
        <p:spPr>
          <a:xfrm xmlns:a="http://schemas.openxmlformats.org/drawingml/2006/main" rot="0" flipH="0" flipV="0">
            <a:off x="4895850" y="2000250"/>
            <a:ext cx="35244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4300"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3" name="Google Shape;323;p34">
            <a:extLst xmlns:a="http://schemas.openxmlformats.org/drawingml/2006/main">
              <a:ext uri="{FF2B5EF4-FFF2-40B4-BE49-F238E27FC236}">
                <a16:creationId xmlns:a16="http://schemas.microsoft.com/office/drawing/2014/main" id="{5074DC7F-477C-463A-BAFF-8EC342175243}"/>
              </a:ext>
            </a:extLst>
          </p:cNvPr>
          <p:cNvSpPr>
            <a:spLocks xmlns:a="http://schemas.openxmlformats.org/drawingml/2006/main" noGrp="1"/>
          </p:cNvSpPr>
          <p:nvPr/>
        </p:nvSpPr>
        <p:spPr>
          <a:xfrm xmlns:a="http://schemas.openxmlformats.org/drawingml/2006/main" rot="0" flipH="0" flipV="0">
            <a:off x="4895850" y="2000250"/>
            <a:ext cx="35244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4" name="Google Shape;324;p34">
            <a:extLst xmlns:a="http://schemas.openxmlformats.org/drawingml/2006/main">
              <a:ext uri="{FF2B5EF4-FFF2-40B4-BE49-F238E27FC236}">
                <a16:creationId xmlns:a16="http://schemas.microsoft.com/office/drawing/2014/main" id="{151D2E39-D152-43D3-9FFE-336DCCADC0A0}"/>
              </a:ext>
            </a:extLst>
          </p:cNvPr>
          <p:cNvSpPr>
            <a:spLocks xmlns:a="http://schemas.openxmlformats.org/drawingml/2006/main" noGrp="1"/>
          </p:cNvSpPr>
          <p:nvPr/>
        </p:nvSpPr>
        <p:spPr>
          <a:xfrm xmlns:a="http://schemas.openxmlformats.org/drawingml/2006/main" rot="0" flipH="0" flipV="0">
            <a:off x="5086350" y="2143125"/>
            <a:ext cx="31434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warning</a:t>
            </a:r>
          </a:p>
          <a:p xmlns:a="http://schemas.openxmlformats.org/drawingml/2006/main">
            <a:pPr marL="0" indent="0" algn="l">
              <a:spcBef>
                <a:spcPts val="600"/>
              </a:spcBef>
              <a:spcAft>
                <a:spcPts val="0"/>
              </a:spcAft>
              <a:buNone/>
            </a:pPr>
            <a:r>
              <a:rPr sz="1500" b="1">
                <a:solidFill>
                  <a:srgbClr val="1A1A1A"/>
                </a:solidFill>
                <a:latin typeface="Raleway"/>
                <a:ea typeface="Raleway"/>
                <a:cs typeface="Raleway"/>
              </a:rPr>
              <a:t>2. Difficulté majeure</a:t>
            </a:r>
          </a:p>
          <a:p xmlns:a="http://schemas.openxmlformats.org/drawingml/2006/main">
            <a:pPr marL="0" indent="0" algn="l">
              <a:spcBef>
                <a:spcPts val="450"/>
              </a:spcBef>
              <a:spcAft>
                <a:spcPts val="0"/>
              </a:spcAft>
              <a:buNone/>
            </a:pPr>
            <a:r>
              <a:rPr sz="1100" b="0">
                <a:solidFill>
                  <a:srgbClr val="595959"/>
                </a:solidFill>
                <a:latin typeface="Lato"/>
                <a:ea typeface="Lato"/>
                <a:cs typeface="Lato"/>
              </a:rPr>
              <a:t>Trouver un volume important d'images uniques tout en évitant les doublons afin de garantir la qualité des données.</a:t>
            </a:r>
          </a:p>
        </p:txBody>
      </p:sp>
    </p:spTree>
    <p:extLst>
      <p:ext uri="{BB962C8B-B14F-4D97-AF65-F5344CB8AC3E}">
        <p14:creationId xmlns:p14="http://schemas.microsoft.com/office/powerpoint/2010/main" val="7766612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29" name="Google Shape;329;p35">
            <a:extLst xmlns:a="http://schemas.openxmlformats.org/drawingml/2006/main">
              <a:ext uri="{FF2B5EF4-FFF2-40B4-BE49-F238E27FC236}">
                <a16:creationId xmlns:a16="http://schemas.microsoft.com/office/drawing/2014/main" id="{E03F923F-F8BF-4D3D-B394-1370621ABD68}"/>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1" name="Google Shape;331;p35">
            <a:extLst xmlns:a="http://schemas.openxmlformats.org/drawingml/2006/main">
              <a:ext uri="{FF2B5EF4-FFF2-40B4-BE49-F238E27FC236}">
                <a16:creationId xmlns:a16="http://schemas.microsoft.com/office/drawing/2014/main" id="{21F8F36A-B92A-47FA-A166-32D6536F77D1}"/>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2" name="Google Shape;332;p35">
            <a:extLst xmlns:a="http://schemas.openxmlformats.org/drawingml/2006/main">
              <a:ext uri="{FF2B5EF4-FFF2-40B4-BE49-F238E27FC236}">
                <a16:creationId xmlns:a16="http://schemas.microsoft.com/office/drawing/2014/main" id="{5F583657-1F3B-493C-B1C8-44373362C804}"/>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3" name="Google Shape;333;p35">
            <a:extLst xmlns:a="http://schemas.openxmlformats.org/drawingml/2006/main">
              <a:ext uri="{FF2B5EF4-FFF2-40B4-BE49-F238E27FC236}">
                <a16:creationId xmlns:a16="http://schemas.microsoft.com/office/drawing/2014/main" id="{910C3D5B-A1F5-4602-B0F6-7D81ED8BEC2F}"/>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Dataset</a:t>
            </a:r>
          </a:p>
        </p:txBody>
      </p:sp>
      <p:sp>
        <p:nvSpPr>
          <p:cNvPr id="334" name="Google Shape;334;p35">
            <a:extLst xmlns:a="http://schemas.openxmlformats.org/drawingml/2006/main">
              <a:ext uri="{FF2B5EF4-FFF2-40B4-BE49-F238E27FC236}">
                <a16:creationId xmlns:a16="http://schemas.microsoft.com/office/drawing/2014/main" id="{87CE9C16-AC77-499A-902A-B5078804B445}"/>
              </a:ext>
            </a:extLst>
          </p:cNvPr>
          <p:cNvSpPr>
            <a:spLocks xmlns:a="http://schemas.openxmlformats.org/drawingml/2006/main" noGrp="1"/>
          </p:cNvSpPr>
          <p:nvPr/>
        </p:nvSpPr>
        <p:spPr>
          <a:xfrm xmlns:a="http://schemas.openxmlformats.org/drawingml/2006/main">
            <a:off x="729450" y="1857375"/>
            <a:ext cx="76866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a:solidFill>
                  <a:srgbClr val="1A1A1A"/>
                </a:solidFill>
                <a:latin typeface="Raleway"/>
                <a:ea typeface="Raleway"/>
                <a:cs typeface="Raleway"/>
              </a:rPr>
              <a:t>Volume d'images collectées pour chaque courant artistique :</a:t>
            </a:r>
          </a:p>
        </p:txBody>
      </p:sp>
      <p:sp>
        <p:nvSpPr>
          <p:cNvPr id="335" name="Google Shape;335;p35">
            <a:extLst xmlns:a="http://schemas.openxmlformats.org/drawingml/2006/main">
              <a:ext uri="{FF2B5EF4-FFF2-40B4-BE49-F238E27FC236}">
                <a16:creationId xmlns:a16="http://schemas.microsoft.com/office/drawing/2014/main" id="{74D81DDD-39F8-464E-A2B7-1C4E252DAE00}"/>
              </a:ext>
            </a:extLst>
          </p:cNvPr>
          <p:cNvSpPr>
            <a:spLocks xmlns:a="http://schemas.openxmlformats.org/drawingml/2006/main" noGrp="1"/>
          </p:cNvSpPr>
          <p:nvPr/>
        </p:nvSpPr>
        <p:spPr>
          <a:xfrm xmlns:a="http://schemas.openxmlformats.org/drawingml/2006/main">
            <a:off x="7239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6" name="Google Shape;336;p35">
            <a:extLst xmlns:a="http://schemas.openxmlformats.org/drawingml/2006/main">
              <a:ext uri="{FF2B5EF4-FFF2-40B4-BE49-F238E27FC236}">
                <a16:creationId xmlns:a16="http://schemas.microsoft.com/office/drawing/2014/main" id="{46BF5E46-CD07-47A6-A09E-FE09E245B63F}"/>
              </a:ext>
            </a:extLst>
          </p:cNvPr>
          <p:cNvSpPr>
            <a:spLocks xmlns:a="http://schemas.openxmlformats.org/drawingml/2006/main" noGrp="1"/>
          </p:cNvSpPr>
          <p:nvPr/>
        </p:nvSpPr>
        <p:spPr>
          <a:xfrm xmlns:a="http://schemas.openxmlformats.org/drawingml/2006/main">
            <a:off x="8191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1A9988"/>
                </a:solidFill>
                <a:latin typeface="Material Icons"/>
                <a:ea typeface="Material Icons"/>
                <a:cs typeface="Material Icons"/>
              </a:rPr>
              <a:t>grid_view</a:t>
            </a:r>
          </a:p>
          <a:p xmlns:a="http://schemas.openxmlformats.org/drawingml/2006/main">
            <a:pPr marL="0" indent="0" algn="l">
              <a:spcBef>
                <a:spcPts val="750"/>
              </a:spcBef>
              <a:spcAft>
                <a:spcPts val="0"/>
              </a:spcAft>
              <a:buNone/>
            </a:pPr>
            <a:r>
              <a:rPr sz="1400" b="1">
                <a:solidFill>
                  <a:srgbClr val="1A1A1A"/>
                </a:solidFill>
                <a:latin typeface="Raleway"/>
                <a:ea typeface="Raleway"/>
                <a:cs typeface="Raleway"/>
              </a:rPr>
              <a:t>Art déco</a:t>
            </a:r>
          </a:p>
          <a:p xmlns:a="http://schemas.openxmlformats.org/drawingml/2006/main">
            <a:pPr marL="0" indent="0" algn="l">
              <a:spcBef>
                <a:spcPts val="400"/>
              </a:spcBef>
              <a:spcAft>
                <a:spcPts val="0"/>
              </a:spcAft>
              <a:buNone/>
            </a:pPr>
            <a:r>
              <a:rPr sz="1800" b="1">
                <a:solidFill>
                  <a:srgbClr val="1A9988"/>
                </a:solidFill>
                <a:latin typeface="Raleway"/>
                <a:ea typeface="Raleway"/>
                <a:cs typeface="Raleway"/>
              </a:rPr>
              <a:t>554 photos</a:t>
            </a:r>
          </a:p>
          <a:p xmlns:a="http://schemas.openxmlformats.org/drawingml/2006/main">
            <a:pPr marL="0" indent="0" algn="l">
              <a:spcBef>
                <a:spcPts val="800"/>
              </a:spcBef>
              <a:spcAft>
                <a:spcPts val="0"/>
              </a:spcAft>
              <a:buNone/>
            </a:pPr>
            <a:r>
              <a:rPr sz="1100" b="0">
                <a:solidFill>
                  <a:srgbClr val="595959"/>
                </a:solidFill>
                <a:latin typeface="Lato"/>
                <a:ea typeface="Lato"/>
                <a:cs typeface="Lato"/>
              </a:rPr>
              <a:t>Exemples de bâtiments, ornements et caractéristiques du style Art déco.</a:t>
            </a:r>
          </a:p>
        </p:txBody>
      </p:sp>
      <p:sp>
        <p:nvSpPr>
          <p:cNvPr id="337" name="Google Shape;337;p35">
            <a:extLst xmlns:a="http://schemas.openxmlformats.org/drawingml/2006/main">
              <a:ext uri="{FF2B5EF4-FFF2-40B4-BE49-F238E27FC236}">
                <a16:creationId xmlns:a16="http://schemas.microsoft.com/office/drawing/2014/main" id="{E6BB7A1C-FBF1-432A-853C-3CC283F70227}"/>
              </a:ext>
            </a:extLst>
          </p:cNvPr>
          <p:cNvSpPr>
            <a:spLocks xmlns:a="http://schemas.openxmlformats.org/drawingml/2006/main" noGrp="1"/>
          </p:cNvSpPr>
          <p:nvPr/>
        </p:nvSpPr>
        <p:spPr>
          <a:xfrm xmlns:a="http://schemas.openxmlformats.org/drawingml/2006/main">
            <a:off x="34290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8" name="Google Shape;338;p35">
            <a:extLst xmlns:a="http://schemas.openxmlformats.org/drawingml/2006/main">
              <a:ext uri="{FF2B5EF4-FFF2-40B4-BE49-F238E27FC236}">
                <a16:creationId xmlns:a16="http://schemas.microsoft.com/office/drawing/2014/main" id="{F3EE34DE-4464-4C39-8C7E-4715DCE1B349}"/>
              </a:ext>
            </a:extLst>
          </p:cNvPr>
          <p:cNvSpPr>
            <a:spLocks xmlns:a="http://schemas.openxmlformats.org/drawingml/2006/main" noGrp="1"/>
          </p:cNvSpPr>
          <p:nvPr/>
        </p:nvSpPr>
        <p:spPr>
          <a:xfrm xmlns:a="http://schemas.openxmlformats.org/drawingml/2006/main">
            <a:off x="35242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EB5600"/>
                </a:solidFill>
                <a:latin typeface="Material Icons"/>
                <a:ea typeface="Material Icons"/>
                <a:cs typeface="Material Icons"/>
              </a:rPr>
              <a:t>filter_vintage</a:t>
            </a:r>
          </a:p>
          <a:p xmlns:a="http://schemas.openxmlformats.org/drawingml/2006/main">
            <a:pPr marL="0" indent="0" algn="l">
              <a:spcBef>
                <a:spcPts val="750"/>
              </a:spcBef>
              <a:spcAft>
                <a:spcPts val="0"/>
              </a:spcAft>
              <a:buNone/>
            </a:pPr>
            <a:r>
              <a:rPr sz="1400" b="1">
                <a:solidFill>
                  <a:srgbClr val="1A1A1A"/>
                </a:solidFill>
                <a:latin typeface="Raleway"/>
                <a:ea typeface="Raleway"/>
                <a:cs typeface="Raleway"/>
              </a:rPr>
              <a:t>Art nouveau</a:t>
            </a:r>
          </a:p>
          <a:p xmlns:a="http://schemas.openxmlformats.org/drawingml/2006/main">
            <a:pPr marL="0" indent="0" algn="l">
              <a:spcBef>
                <a:spcPts val="400"/>
              </a:spcBef>
              <a:spcAft>
                <a:spcPts val="0"/>
              </a:spcAft>
              <a:buNone/>
            </a:pPr>
            <a:r>
              <a:rPr sz="1800" b="1">
                <a:solidFill>
                  <a:srgbClr val="EB5600"/>
                </a:solidFill>
                <a:latin typeface="Raleway"/>
                <a:ea typeface="Raleway"/>
                <a:cs typeface="Raleway"/>
              </a:rPr>
              <a:t>745 photos</a:t>
            </a:r>
          </a:p>
          <a:p xmlns:a="http://schemas.openxmlformats.org/drawingml/2006/main">
            <a:pPr marL="0" indent="0" algn="l">
              <a:spcBef>
                <a:spcPts val="800"/>
              </a:spcBef>
              <a:spcAft>
                <a:spcPts val="0"/>
              </a:spcAft>
              <a:buNone/>
            </a:pPr>
            <a:r>
              <a:rPr sz="1100" b="0">
                <a:solidFill>
                  <a:srgbClr val="595959"/>
                </a:solidFill>
                <a:latin typeface="Lato"/>
                <a:ea typeface="Lato"/>
                <a:cs typeface="Lato"/>
              </a:rPr>
              <a:t>Sélection d'œuvres et d'éléments architecturaux inspirés de la nature.</a:t>
            </a:r>
          </a:p>
        </p:txBody>
      </p:sp>
      <p:sp>
        <p:nvSpPr>
          <p:cNvPr id="339" name="Google Shape;339;p35">
            <a:extLst xmlns:a="http://schemas.openxmlformats.org/drawingml/2006/main">
              <a:ext uri="{FF2B5EF4-FFF2-40B4-BE49-F238E27FC236}">
                <a16:creationId xmlns:a16="http://schemas.microsoft.com/office/drawing/2014/main" id="{CD8C5950-8992-4700-BB06-B696828E348D}"/>
              </a:ext>
            </a:extLst>
          </p:cNvPr>
          <p:cNvSpPr>
            <a:spLocks xmlns:a="http://schemas.openxmlformats.org/drawingml/2006/main" noGrp="1"/>
          </p:cNvSpPr>
          <p:nvPr/>
        </p:nvSpPr>
        <p:spPr>
          <a:xfrm xmlns:a="http://schemas.openxmlformats.org/drawingml/2006/main">
            <a:off x="61341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0" name="Google Shape;340;p35">
            <a:extLst xmlns:a="http://schemas.openxmlformats.org/drawingml/2006/main">
              <a:ext uri="{FF2B5EF4-FFF2-40B4-BE49-F238E27FC236}">
                <a16:creationId xmlns:a16="http://schemas.microsoft.com/office/drawing/2014/main" id="{5A8FD27C-FCE7-488E-BC20-511F83105F7A}"/>
              </a:ext>
            </a:extLst>
          </p:cNvPr>
          <p:cNvSpPr>
            <a:spLocks xmlns:a="http://schemas.openxmlformats.org/drawingml/2006/main" noGrp="1"/>
          </p:cNvSpPr>
          <p:nvPr/>
        </p:nvSpPr>
        <p:spPr>
          <a:xfrm xmlns:a="http://schemas.openxmlformats.org/drawingml/2006/main">
            <a:off x="62293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1A9988"/>
                </a:solidFill>
                <a:latin typeface="Material Icons"/>
                <a:ea typeface="Material Icons"/>
                <a:cs typeface="Material Icons"/>
              </a:rPr>
              <a:t>church</a:t>
            </a:r>
          </a:p>
          <a:p xmlns:a="http://schemas.openxmlformats.org/drawingml/2006/main">
            <a:pPr marL="0" indent="0" algn="l">
              <a:spcBef>
                <a:spcPts val="750"/>
              </a:spcBef>
              <a:spcAft>
                <a:spcPts val="0"/>
              </a:spcAft>
              <a:buNone/>
            </a:pPr>
            <a:r>
              <a:rPr sz="1400" b="1">
                <a:solidFill>
                  <a:srgbClr val="1A1A1A"/>
                </a:solidFill>
                <a:latin typeface="Raleway"/>
                <a:ea typeface="Raleway"/>
                <a:cs typeface="Raleway"/>
              </a:rPr>
              <a:t>Gothique</a:t>
            </a:r>
          </a:p>
          <a:p xmlns:a="http://schemas.openxmlformats.org/drawingml/2006/main">
            <a:pPr marL="0" indent="0" algn="l">
              <a:spcBef>
                <a:spcPts val="400"/>
              </a:spcBef>
              <a:spcAft>
                <a:spcPts val="0"/>
              </a:spcAft>
              <a:buNone/>
            </a:pPr>
            <a:r>
              <a:rPr sz="1800" b="1">
                <a:solidFill>
                  <a:srgbClr val="1A9988"/>
                </a:solidFill>
                <a:latin typeface="Raleway"/>
                <a:ea typeface="Raleway"/>
                <a:cs typeface="Raleway"/>
              </a:rPr>
              <a:t>553 photos</a:t>
            </a:r>
          </a:p>
          <a:p xmlns:a="http://schemas.openxmlformats.org/drawingml/2006/main">
            <a:pPr marL="0" indent="0" algn="l">
              <a:spcBef>
                <a:spcPts val="800"/>
              </a:spcBef>
              <a:spcAft>
                <a:spcPts val="0"/>
              </a:spcAft>
              <a:buNone/>
            </a:pPr>
            <a:r>
              <a:rPr sz="1100" b="0">
                <a:solidFill>
                  <a:srgbClr val="595959"/>
                </a:solidFill>
                <a:latin typeface="Lato"/>
                <a:ea typeface="Lato"/>
                <a:cs typeface="Lato"/>
              </a:rPr>
              <a:t>Photographies de cathédrales, voûtes et détails sculpturaux gothiques.</a:t>
            </a:r>
          </a:p>
        </p:txBody>
      </p:sp>
    </p:spTree>
    <p:extLst>
      <p:ext uri="{BB962C8B-B14F-4D97-AF65-F5344CB8AC3E}">
        <p14:creationId xmlns:p14="http://schemas.microsoft.com/office/powerpoint/2010/main" val="13936143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45" name="Google Shape;345;p36">
            <a:extLst xmlns:a="http://schemas.openxmlformats.org/drawingml/2006/main">
              <a:ext uri="{FF2B5EF4-FFF2-40B4-BE49-F238E27FC236}">
                <a16:creationId xmlns:a16="http://schemas.microsoft.com/office/drawing/2014/main" id="{5E21EF1D-9771-4C8C-A265-16634D6D6129}"/>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Dataset</a:t>
            </a:r>
          </a:p>
        </p:txBody>
      </p:sp>
      <p:pic>
        <p:nvPicPr>
          <p:cNvPr id="348" name="Google Shape;346;p36"/>
          <p:cNvPicPr>
            <a:picLocks xmlns:a="http://schemas.openxmlformats.org/drawingml/2006/main" noChangeAspect="1"/>
          </p:cNvPicPr>
          <p:nvPr/>
        </p:nvPicPr>
        <p:blipFill>
          <a:blip xmlns:r="http://schemas.openxmlformats.org/officeDocument/2006/relationships" xmlns:a="http://schemas.openxmlformats.org/drawingml/2006/main" r:embed="R64af0cae617144a4">
            <a:alphaModFix/>
          </a:blip>
          <a:stretch xmlns:a="http://schemas.openxmlformats.org/drawingml/2006/main">
            <a:fillRect l="0" t="0" r="0" b="0"/>
          </a:stretch>
        </p:blipFill>
        <p:spPr>
          <a:xfrm xmlns:a="http://schemas.openxmlformats.org/drawingml/2006/main">
            <a:off x="1960250" y="1909200"/>
            <a:ext cx="5223490" cy="298485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1841750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52" name="Google Shape;352;p37">
            <a:extLst xmlns:a="http://schemas.openxmlformats.org/drawingml/2006/main">
              <a:ext uri="{FF2B5EF4-FFF2-40B4-BE49-F238E27FC236}">
                <a16:creationId xmlns:a16="http://schemas.microsoft.com/office/drawing/2014/main" id="{D70E0817-EE89-4FDE-BCBA-EACE9038C00A}"/>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353" name="Google Shape;353;p37">
            <a:extLst xmlns:a="http://schemas.openxmlformats.org/drawingml/2006/main">
              <a:ext uri="{FF2B5EF4-FFF2-40B4-BE49-F238E27FC236}">
                <a16:creationId xmlns:a16="http://schemas.microsoft.com/office/drawing/2014/main" id="{70E6DD7E-6543-4605-8B80-6BB2693F5A5E}"/>
              </a:ext>
            </a:extLst>
          </p:cNvPr>
          <p:cNvSpPr>
            <a:spLocks xmlns:a="http://schemas.openxmlformats.org/drawingml/2006/main" noGrp="1"/>
          </p:cNvSpPr>
          <p:nvPr/>
        </p:nvSpPr>
        <p:spPr>
          <a:xfrm xmlns:a="http://schemas.openxmlformats.org/drawingml/2006/main" rot="-5400000">
            <a:off x="1380875" y="730246"/>
            <a:ext cx="17700" cy="9678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354" name="Google Shape;354;p37">
            <a:extLst xmlns:a="http://schemas.openxmlformats.org/drawingml/2006/main">
              <a:ext uri="{FF2B5EF4-FFF2-40B4-BE49-F238E27FC236}">
                <a16:creationId xmlns:a16="http://schemas.microsoft.com/office/drawing/2014/main" id="{EF76AF19-B947-4A09-8B7E-2EA272014240}"/>
              </a:ext>
            </a:extLst>
          </p:cNvPr>
          <p:cNvSpPr>
            <a:spLocks xmlns:a="http://schemas.openxmlformats.org/drawingml/2006/main" noGrp="1"/>
          </p:cNvSpPr>
          <p:nvPr/>
        </p:nvSpPr>
        <p:spPr>
          <a:xfrm xmlns:a="http://schemas.openxmlformats.org/drawingml/2006/main" rot="-5400000">
            <a:off x="1009506" y="726196"/>
            <a:ext cx="17700" cy="9759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355" name="Google Shape;355;p37">
            <a:extLst xmlns:a="http://schemas.openxmlformats.org/drawingml/2006/main">
              <a:ext uri="{FF2B5EF4-FFF2-40B4-BE49-F238E27FC236}">
                <a16:creationId xmlns:a16="http://schemas.microsoft.com/office/drawing/2014/main" id="{8D1C5B80-D763-4C94-8E2D-708464DA2DBB}"/>
              </a:ext>
            </a:extLst>
          </p:cNvPr>
          <p:cNvSpPr>
            <a:spLocks xmlns:a="http://schemas.openxmlformats.org/drawingml/2006/main" noGrp="1"/>
          </p:cNvSpPr>
          <p:nvPr/>
        </p:nvSpPr>
        <p:spPr>
          <a:xfrm xmlns:a="http://schemas.openxmlformats.org/drawingml/2006/main">
            <a:off x="729450" y="1857375"/>
            <a:ext cx="76866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chemeClr val="dk2"/>
                </a:solidFill>
                <a:latin typeface="Lato"/>
                <a:ea typeface="Lato"/>
                <a:cs typeface="Lato"/>
              </a:rPr>
              <a:t>Une image devient exactement 1 024 features : </a:t>
            </a:r>
            <a:r>
              <a:rPr sz="1300" b="1">
                <a:solidFill>
                  <a:srgbClr val="595959"/>
                </a:solidFill>
                <a:latin typeface="Lato"/>
                <a:ea typeface="Lato"/>
                <a:cs typeface="Lato"/>
              </a:rPr>
              <a:t>L</a:t>
            </a:r>
            <a:r>
              <a:rPr sz="1300" b="1">
                <a:solidFill>
                  <a:srgbClr val="595959"/>
                </a:solidFill>
                <a:latin typeface="Lato"/>
                <a:ea typeface="Lato"/>
                <a:cs typeface="Lato"/>
              </a:rPr>
              <a:t>e même pipeline Python sert à générer le CSV et à traiter les uploads Flask</a:t>
            </a:r>
          </a:p>
        </p:txBody>
      </p:sp>
      <p:sp>
        <p:nvSpPr>
          <p:cNvPr id="356" name="Google Shape;356;p37">
            <a:extLst xmlns:a="http://schemas.openxmlformats.org/drawingml/2006/main">
              <a:ext uri="{FF2B5EF4-FFF2-40B4-BE49-F238E27FC236}">
                <a16:creationId xmlns:a16="http://schemas.microsoft.com/office/drawing/2014/main" id="{2CD20320-A939-4095-92D7-8BA71BB85CB0}"/>
              </a:ext>
            </a:extLst>
          </p:cNvPr>
          <p:cNvSpPr>
            <a:spLocks xmlns:a="http://schemas.openxmlformats.org/drawingml/2006/main" noGrp="1"/>
          </p:cNvSpPr>
          <p:nvPr/>
        </p:nvSpPr>
        <p:spPr>
          <a:xfrm xmlns:a="http://schemas.openxmlformats.org/drawingml/2006/main">
            <a:off x="7239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357" name="Google Shape;357;p37">
            <a:extLst xmlns:a="http://schemas.openxmlformats.org/drawingml/2006/main">
              <a:ext uri="{FF2B5EF4-FFF2-40B4-BE49-F238E27FC236}">
                <a16:creationId xmlns:a16="http://schemas.microsoft.com/office/drawing/2014/main" id="{31B51EA9-B92A-48BF-B485-7A951F6E95D4}"/>
              </a:ext>
            </a:extLst>
          </p:cNvPr>
          <p:cNvSpPr>
            <a:spLocks xmlns:a="http://schemas.openxmlformats.org/drawingml/2006/main" noGrp="1"/>
          </p:cNvSpPr>
          <p:nvPr/>
        </p:nvSpPr>
        <p:spPr>
          <a:xfrm xmlns:a="http://schemas.openxmlformats.org/drawingml/2006/main">
            <a:off x="34290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358" name="Google Shape;358;p37">
            <a:extLst xmlns:a="http://schemas.openxmlformats.org/drawingml/2006/main">
              <a:ext uri="{FF2B5EF4-FFF2-40B4-BE49-F238E27FC236}">
                <a16:creationId xmlns:a16="http://schemas.microsoft.com/office/drawing/2014/main" id="{F73E67F8-5B53-475A-B317-AC89E15BC406}"/>
              </a:ext>
            </a:extLst>
          </p:cNvPr>
          <p:cNvSpPr>
            <a:spLocks xmlns:a="http://schemas.openxmlformats.org/drawingml/2006/main" noGrp="1"/>
          </p:cNvSpPr>
          <p:nvPr/>
        </p:nvSpPr>
        <p:spPr>
          <a:xfrm xmlns:a="http://schemas.openxmlformats.org/drawingml/2006/main">
            <a:off x="61341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359" name="Google Shape;359;p37">
            <a:extLst xmlns:a="http://schemas.openxmlformats.org/drawingml/2006/main">
              <a:ext uri="{FF2B5EF4-FFF2-40B4-BE49-F238E27FC236}">
                <a16:creationId xmlns:a16="http://schemas.microsoft.com/office/drawing/2014/main" id="{8E487BCB-A107-4CBF-98BC-0C8514654E20}"/>
              </a:ext>
            </a:extLst>
          </p:cNvPr>
          <p:cNvSpPr>
            <a:spLocks xmlns:a="http://schemas.openxmlformats.org/drawingml/2006/main" noGrp="1"/>
          </p:cNvSpPr>
          <p:nvPr/>
        </p:nvSpPr>
        <p:spPr>
          <a:xfrm xmlns:a="http://schemas.openxmlformats.org/drawingml/2006/main">
            <a:off x="723900" y="2333625"/>
            <a:ext cx="22860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0" name="Google Shape;360;p37">
            <a:extLst xmlns:a="http://schemas.openxmlformats.org/drawingml/2006/main">
              <a:ext uri="{FF2B5EF4-FFF2-40B4-BE49-F238E27FC236}">
                <a16:creationId xmlns:a16="http://schemas.microsoft.com/office/drawing/2014/main" id="{D74886D3-5BA9-420D-A653-9C8356098AEB}"/>
              </a:ext>
            </a:extLst>
          </p:cNvPr>
          <p:cNvSpPr>
            <a:spLocks xmlns:a="http://schemas.openxmlformats.org/drawingml/2006/main" noGrp="1"/>
          </p:cNvSpPr>
          <p:nvPr/>
        </p:nvSpPr>
        <p:spPr>
          <a:xfrm xmlns:a="http://schemas.openxmlformats.org/drawingml/2006/main">
            <a:off x="3429000" y="2333625"/>
            <a:ext cx="2286000" cy="57300"/>
          </a:xfrm>
          <a:prstGeom xmlns:a="http://schemas.openxmlformats.org/drawingml/2006/main" prst="roundRect">
            <a:avLst>
              <a:gd name="adj" fmla="val 50000"/>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1" name="Google Shape;361;p37">
            <a:extLst xmlns:a="http://schemas.openxmlformats.org/drawingml/2006/main">
              <a:ext uri="{FF2B5EF4-FFF2-40B4-BE49-F238E27FC236}">
                <a16:creationId xmlns:a16="http://schemas.microsoft.com/office/drawing/2014/main" id="{648C749D-52A3-4EAB-8F4F-06930CF4F778}"/>
              </a:ext>
            </a:extLst>
          </p:cNvPr>
          <p:cNvSpPr>
            <a:spLocks xmlns:a="http://schemas.openxmlformats.org/drawingml/2006/main" noGrp="1"/>
          </p:cNvSpPr>
          <p:nvPr/>
        </p:nvSpPr>
        <p:spPr>
          <a:xfrm xmlns:a="http://schemas.openxmlformats.org/drawingml/2006/main">
            <a:off x="6134100" y="2333625"/>
            <a:ext cx="2286000" cy="57300"/>
          </a:xfrm>
          <a:prstGeom xmlns:a="http://schemas.openxmlformats.org/drawingml/2006/main" prst="roundRect">
            <a:avLst>
              <a:gd name="adj" fmla="val 50000"/>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381" name="Google Shape;363;p37"/>
          <p:cNvPicPr>
            <a:picLocks xmlns:a="http://schemas.openxmlformats.org/drawingml/2006/main" noChangeAspect="1"/>
          </p:cNvPicPr>
          <p:nvPr/>
        </p:nvPicPr>
        <p:blipFill rotWithShape="1">
          <a:blip xmlns:r="http://schemas.openxmlformats.org/officeDocument/2006/relationships" xmlns:a="http://schemas.openxmlformats.org/drawingml/2006/main" r:embed="R18c76b3e742b4e99">
            <a:alphaModFix/>
          </a:blip>
          <a:srcRect xmlns:a="http://schemas.openxmlformats.org/drawingml/2006/main" l="0" t="0" r="0" b="0"/>
          <a:stretch xmlns:a="http://schemas.openxmlformats.org/drawingml/2006/main"/>
        </p:blipFill>
        <p:spPr>
          <a:xfrm xmlns:a="http://schemas.openxmlformats.org/drawingml/2006/main" rot="0" flipH="0" flipV="0">
            <a:off x="3090863" y="3305175"/>
            <a:ext cx="123900" cy="200100"/>
          </a:xfrm>
          <a:prstGeom xmlns:a="http://schemas.openxmlformats.org/drawingml/2006/main" prst="rect">
            <a:avLst/>
          </a:prstGeom>
          <a:ln xmlns:a="http://schemas.openxmlformats.org/drawingml/2006/main">
            <a:noFill/>
          </a:ln>
        </p:spPr>
      </p:pic>
      <p:pic>
        <p:nvPicPr>
          <p:cNvPr id="382" name="Google Shape;364;p37"/>
          <p:cNvPicPr>
            <a:picLocks xmlns:a="http://schemas.openxmlformats.org/drawingml/2006/main" noChangeAspect="1"/>
          </p:cNvPicPr>
          <p:nvPr/>
        </p:nvPicPr>
        <p:blipFill rotWithShape="1">
          <a:blip xmlns:r="http://schemas.openxmlformats.org/officeDocument/2006/relationships" xmlns:a="http://schemas.openxmlformats.org/drawingml/2006/main" r:embed="R18c76b3e742b4e99">
            <a:alphaModFix/>
          </a:blip>
          <a:srcRect xmlns:a="http://schemas.openxmlformats.org/drawingml/2006/main" l="0" t="0" r="0" b="0"/>
          <a:stretch xmlns:a="http://schemas.openxmlformats.org/drawingml/2006/main"/>
        </p:blipFill>
        <p:spPr>
          <a:xfrm xmlns:a="http://schemas.openxmlformats.org/drawingml/2006/main" rot="0" flipH="0" flipV="0">
            <a:off x="5795963" y="3305175"/>
            <a:ext cx="123900" cy="200100"/>
          </a:xfrm>
          <a:prstGeom xmlns:a="http://schemas.openxmlformats.org/drawingml/2006/main" prst="rect">
            <a:avLst/>
          </a:prstGeom>
          <a:ln xmlns:a="http://schemas.openxmlformats.org/drawingml/2006/main">
            <a:noFill/>
          </a:ln>
        </p:spPr>
      </p:pic>
      <p:sp>
        <p:nvSpPr>
          <p:cNvPr id="365" name="Google Shape;365;p37">
            <a:extLst xmlns:a="http://schemas.openxmlformats.org/drawingml/2006/main">
              <a:ext uri="{FF2B5EF4-FFF2-40B4-BE49-F238E27FC236}">
                <a16:creationId xmlns:a16="http://schemas.microsoft.com/office/drawing/2014/main" id="{EFA9F198-10F8-424F-B7E6-8B32CB3D49F9}"/>
              </a:ext>
            </a:extLst>
          </p:cNvPr>
          <p:cNvSpPr>
            <a:spLocks xmlns:a="http://schemas.openxmlformats.org/drawingml/2006/main" noGrp="1"/>
          </p:cNvSpPr>
          <p:nvPr/>
        </p:nvSpPr>
        <p:spPr>
          <a:xfrm xmlns:a="http://schemas.openxmlformats.org/drawingml/2006/main">
            <a:off x="8191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crop_rotate</a:t>
            </a:r>
          </a:p>
          <a:p xmlns:a="http://schemas.openxmlformats.org/drawingml/2006/main">
            <a:pPr marL="0" indent="0" algn="l">
              <a:spcBef>
                <a:spcPts val="450"/>
              </a:spcBef>
              <a:spcAft>
                <a:spcPts val="0"/>
              </a:spcAft>
              <a:buNone/>
            </a:pPr>
            <a:r>
              <a:rPr sz="1350" b="1">
                <a:solidFill>
                  <a:srgbClr val="1A1A1A"/>
                </a:solidFill>
                <a:latin typeface="Raleway"/>
                <a:ea typeface="Raleway"/>
                <a:cs typeface="Raleway"/>
              </a:rPr>
              <a:t>01. Orienter &amp; gris</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ImageOps.exif_transpose corrige l'orientation, puis l'image est convertie en niveaux de gris.</a:t>
            </a:r>
          </a:p>
        </p:txBody>
      </p:sp>
      <p:sp>
        <p:nvSpPr>
          <p:cNvPr id="366" name="Google Shape;366;p37">
            <a:extLst xmlns:a="http://schemas.openxmlformats.org/drawingml/2006/main">
              <a:ext uri="{FF2B5EF4-FFF2-40B4-BE49-F238E27FC236}">
                <a16:creationId xmlns:a16="http://schemas.microsoft.com/office/drawing/2014/main" id="{555457CA-2957-408F-A183-A464A4DF0BBB}"/>
              </a:ext>
            </a:extLst>
          </p:cNvPr>
          <p:cNvSpPr>
            <a:spLocks xmlns:a="http://schemas.openxmlformats.org/drawingml/2006/main" noGrp="1"/>
          </p:cNvSpPr>
          <p:nvPr/>
        </p:nvSpPr>
        <p:spPr>
          <a:xfrm xmlns:a="http://schemas.openxmlformats.org/drawingml/2006/main">
            <a:off x="35242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aspect_ratio</a:t>
            </a:r>
          </a:p>
          <a:p xmlns:a="http://schemas.openxmlformats.org/drawingml/2006/main">
            <a:pPr marL="0" indent="0" algn="l">
              <a:spcBef>
                <a:spcPts val="450"/>
              </a:spcBef>
              <a:spcAft>
                <a:spcPts val="0"/>
              </a:spcAft>
              <a:buNone/>
            </a:pPr>
            <a:r>
              <a:rPr sz="1350" b="1">
                <a:solidFill>
                  <a:srgbClr val="1A1A1A"/>
                </a:solidFill>
                <a:latin typeface="Raleway"/>
                <a:ea typeface="Raleway"/>
                <a:cs typeface="Raleway"/>
              </a:rPr>
              <a:t>02. Redimensionner</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Le filtre LANCZOS produit une taille fixe pour toutes les images (32 × 32 pixels).</a:t>
            </a:r>
          </a:p>
        </p:txBody>
      </p:sp>
      <p:sp>
        <p:nvSpPr>
          <p:cNvPr id="367" name="Google Shape;367;p37">
            <a:extLst xmlns:a="http://schemas.openxmlformats.org/drawingml/2006/main">
              <a:ext uri="{FF2B5EF4-FFF2-40B4-BE49-F238E27FC236}">
                <a16:creationId xmlns:a16="http://schemas.microsoft.com/office/drawing/2014/main" id="{E6DCA4D0-3510-48CF-8C76-E93CF326DB40}"/>
              </a:ext>
            </a:extLst>
          </p:cNvPr>
          <p:cNvSpPr>
            <a:spLocks xmlns:a="http://schemas.openxmlformats.org/drawingml/2006/main" noGrp="1"/>
          </p:cNvSpPr>
          <p:nvPr/>
        </p:nvSpPr>
        <p:spPr>
          <a:xfrm xmlns:a="http://schemas.openxmlformats.org/drawingml/2006/main">
            <a:off x="728400" y="1322166"/>
            <a:ext cx="76887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l">
              <a:spcBef>
                <a:spcPts val="0"/>
              </a:spcBef>
              <a:spcAft>
                <a:spcPts val="0"/>
              </a:spcAft>
              <a:buNone/>
            </a:pPr>
            <a:r>
              <a:rPr sz="2600" b="1">
                <a:solidFill>
                  <a:srgbClr val="1A1A1A"/>
                </a:solidFill>
                <a:latin typeface="Raleway"/>
                <a:ea typeface="Raleway"/>
                <a:cs typeface="Raleway"/>
              </a:rPr>
              <a:t>Dataset</a:t>
            </a:r>
          </a:p>
        </p:txBody>
      </p:sp>
      <p:sp>
        <p:nvSpPr>
          <p:cNvPr id="368" name="Google Shape;368;p37">
            <a:extLst xmlns:a="http://schemas.openxmlformats.org/drawingml/2006/main">
              <a:ext uri="{FF2B5EF4-FFF2-40B4-BE49-F238E27FC236}">
                <a16:creationId xmlns:a16="http://schemas.microsoft.com/office/drawing/2014/main" id="{D3D7C66F-A0C5-4719-8A44-E018701A2E78}"/>
              </a:ext>
            </a:extLst>
          </p:cNvPr>
          <p:cNvSpPr>
            <a:spLocks xmlns:a="http://schemas.openxmlformats.org/drawingml/2006/main" noGrp="1"/>
          </p:cNvSpPr>
          <p:nvPr/>
        </p:nvSpPr>
        <p:spPr>
          <a:xfrm xmlns:a="http://schemas.openxmlformats.org/drawingml/2006/main">
            <a:off x="62293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compress</a:t>
            </a:r>
          </a:p>
          <a:p xmlns:a="http://schemas.openxmlformats.org/drawingml/2006/main">
            <a:pPr marL="0" indent="0" algn="l">
              <a:spcBef>
                <a:spcPts val="450"/>
              </a:spcBef>
              <a:spcAft>
                <a:spcPts val="0"/>
              </a:spcAft>
              <a:buNone/>
            </a:pPr>
            <a:r>
              <a:rPr sz="1350" b="1">
                <a:solidFill>
                  <a:srgbClr val="1A1A1A"/>
                </a:solidFill>
                <a:latin typeface="Raleway"/>
                <a:ea typeface="Raleway"/>
                <a:cs typeface="Raleway"/>
              </a:rPr>
              <a:t>03. Normaliser &amp; aplatir</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Chaque pixel est divisé par 255 puis lu ligne par ligne : 32 × 32 = 1 024 features.</a:t>
            </a:r>
          </a:p>
        </p:txBody>
      </p:sp>
    </p:spTree>
    <p:extLst>
      <p:ext uri="{BB962C8B-B14F-4D97-AF65-F5344CB8AC3E}">
        <p14:creationId xmlns:p14="http://schemas.microsoft.com/office/powerpoint/2010/main" val="193408068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73" name="Google Shape;373;p38">
            <a:extLst xmlns:a="http://schemas.openxmlformats.org/drawingml/2006/main">
              <a:ext uri="{FF2B5EF4-FFF2-40B4-BE49-F238E27FC236}">
                <a16:creationId xmlns:a16="http://schemas.microsoft.com/office/drawing/2014/main" id="{E34AC0AB-0D89-491A-944E-CBE990F1AA47}"/>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5" name="Google Shape;375;p38">
            <a:extLst xmlns:a="http://schemas.openxmlformats.org/drawingml/2006/main">
              <a:ext uri="{FF2B5EF4-FFF2-40B4-BE49-F238E27FC236}">
                <a16:creationId xmlns:a16="http://schemas.microsoft.com/office/drawing/2014/main" id="{2136012C-500C-4313-AAEC-03CDD63914BC}"/>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6" name="Google Shape;376;p38">
            <a:extLst xmlns:a="http://schemas.openxmlformats.org/drawingml/2006/main">
              <a:ext uri="{FF2B5EF4-FFF2-40B4-BE49-F238E27FC236}">
                <a16:creationId xmlns:a16="http://schemas.microsoft.com/office/drawing/2014/main" id="{26013EE4-9D9C-4EDB-A23D-38A0921720FC}"/>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7" name="Google Shape;377;p38">
            <a:extLst xmlns:a="http://schemas.openxmlformats.org/drawingml/2006/main">
              <a:ext uri="{FF2B5EF4-FFF2-40B4-BE49-F238E27FC236}">
                <a16:creationId xmlns:a16="http://schemas.microsoft.com/office/drawing/2014/main" id="{5CCDD9F1-9DC9-40CD-9E88-9EC96E271A5D}"/>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Dataset</a:t>
            </a:r>
          </a:p>
        </p:txBody>
      </p:sp>
      <p:sp>
        <p:nvSpPr>
          <p:cNvPr id="378" name="Google Shape;378;p38">
            <a:extLst xmlns:a="http://schemas.openxmlformats.org/drawingml/2006/main">
              <a:ext uri="{FF2B5EF4-FFF2-40B4-BE49-F238E27FC236}">
                <a16:creationId xmlns:a16="http://schemas.microsoft.com/office/drawing/2014/main" id="{E059D409-6460-42BA-B17F-427AF3142F58}"/>
              </a:ext>
            </a:extLst>
          </p:cNvPr>
          <p:cNvSpPr>
            <a:spLocks xmlns:a="http://schemas.openxmlformats.org/drawingml/2006/main" noGrp="1"/>
          </p:cNvSpPr>
          <p:nvPr/>
        </p:nvSpPr>
        <p:spPr>
          <a:xfrm xmlns:a="http://schemas.openxmlformats.org/drawingml/2006/main">
            <a:off x="729450" y="1857375"/>
            <a:ext cx="76866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a:solidFill>
                  <a:srgbClr val="1A1A1A"/>
                </a:solidFill>
                <a:latin typeface="Raleway"/>
                <a:ea typeface="Raleway"/>
                <a:cs typeface="Raleway"/>
              </a:rPr>
              <a:t>Prétraitement rigoureux en Python pour standardiser l'entrée :</a:t>
            </a:r>
          </a:p>
        </p:txBody>
      </p:sp>
      <p:sp>
        <p:nvSpPr>
          <p:cNvPr id="379" name="Google Shape;379;p38">
            <a:extLst xmlns:a="http://schemas.openxmlformats.org/drawingml/2006/main">
              <a:ext uri="{FF2B5EF4-FFF2-40B4-BE49-F238E27FC236}">
                <a16:creationId xmlns:a16="http://schemas.microsoft.com/office/drawing/2014/main" id="{3C4B6F8D-F899-4C47-8523-5ACF151D2792}"/>
              </a:ext>
            </a:extLst>
          </p:cNvPr>
          <p:cNvSpPr>
            <a:spLocks xmlns:a="http://schemas.openxmlformats.org/drawingml/2006/main" noGrp="1"/>
          </p:cNvSpPr>
          <p:nvPr/>
        </p:nvSpPr>
        <p:spPr>
          <a:xfrm xmlns:a="http://schemas.openxmlformats.org/drawingml/2006/main">
            <a:off x="7239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0" name="Google Shape;380;p38">
            <a:extLst xmlns:a="http://schemas.openxmlformats.org/drawingml/2006/main">
              <a:ext uri="{FF2B5EF4-FFF2-40B4-BE49-F238E27FC236}">
                <a16:creationId xmlns:a16="http://schemas.microsoft.com/office/drawing/2014/main" id="{1C0DC298-2798-46B9-B1DD-3BCEEBAE4D22}"/>
              </a:ext>
            </a:extLst>
          </p:cNvPr>
          <p:cNvSpPr>
            <a:spLocks xmlns:a="http://schemas.openxmlformats.org/drawingml/2006/main" noGrp="1"/>
          </p:cNvSpPr>
          <p:nvPr/>
        </p:nvSpPr>
        <p:spPr>
          <a:xfrm xmlns:a="http://schemas.openxmlformats.org/drawingml/2006/main">
            <a:off x="34290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1" name="Google Shape;381;p38">
            <a:extLst xmlns:a="http://schemas.openxmlformats.org/drawingml/2006/main">
              <a:ext uri="{FF2B5EF4-FFF2-40B4-BE49-F238E27FC236}">
                <a16:creationId xmlns:a16="http://schemas.microsoft.com/office/drawing/2014/main" id="{E1A07411-397B-45DA-9E62-42BBE676CC51}"/>
              </a:ext>
            </a:extLst>
          </p:cNvPr>
          <p:cNvSpPr>
            <a:spLocks xmlns:a="http://schemas.openxmlformats.org/drawingml/2006/main" noGrp="1"/>
          </p:cNvSpPr>
          <p:nvPr/>
        </p:nvSpPr>
        <p:spPr>
          <a:xfrm xmlns:a="http://schemas.openxmlformats.org/drawingml/2006/main">
            <a:off x="6134100" y="2333625"/>
            <a:ext cx="22860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2" name="Google Shape;382;p38">
            <a:extLst xmlns:a="http://schemas.openxmlformats.org/drawingml/2006/main">
              <a:ext uri="{FF2B5EF4-FFF2-40B4-BE49-F238E27FC236}">
                <a16:creationId xmlns:a16="http://schemas.microsoft.com/office/drawing/2014/main" id="{F71C2C6D-5D70-4E5C-99B0-872A97997E26}"/>
              </a:ext>
            </a:extLst>
          </p:cNvPr>
          <p:cNvSpPr>
            <a:spLocks xmlns:a="http://schemas.openxmlformats.org/drawingml/2006/main" noGrp="1"/>
          </p:cNvSpPr>
          <p:nvPr/>
        </p:nvSpPr>
        <p:spPr>
          <a:xfrm xmlns:a="http://schemas.openxmlformats.org/drawingml/2006/main">
            <a:off x="8191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1A9988"/>
                </a:solidFill>
                <a:latin typeface="Material Icons"/>
                <a:ea typeface="Material Icons"/>
                <a:cs typeface="Material Icons"/>
              </a:rPr>
              <a:t>aspect_ratio</a:t>
            </a:r>
          </a:p>
          <a:p xmlns:a="http://schemas.openxmlformats.org/drawingml/2006/main">
            <a:pPr marL="0" indent="0" algn="l">
              <a:spcBef>
                <a:spcPts val="750"/>
              </a:spcBef>
              <a:spcAft>
                <a:spcPts val="0"/>
              </a:spcAft>
              <a:buNone/>
            </a:pPr>
            <a:r>
              <a:rPr sz="1350" b="1">
                <a:solidFill>
                  <a:srgbClr val="1A1A1A"/>
                </a:solidFill>
                <a:latin typeface="Raleway"/>
                <a:ea typeface="Raleway"/>
                <a:cs typeface="Raleway"/>
              </a:rPr>
              <a:t>1. Redimensionnement</a:t>
            </a:r>
          </a:p>
          <a:p xmlns:a="http://schemas.openxmlformats.org/drawingml/2006/main">
            <a:pPr marL="0" indent="0" algn="l">
              <a:spcBef>
                <a:spcPts val="600"/>
              </a:spcBef>
              <a:spcAft>
                <a:spcPts val="0"/>
              </a:spcAft>
              <a:buNone/>
            </a:pPr>
            <a:r>
              <a:rPr sz="1100">
                <a:solidFill>
                  <a:srgbClr val="595959"/>
                </a:solidFill>
                <a:latin typeface="Lato"/>
                <a:ea typeface="Lato"/>
                <a:cs typeface="Lato"/>
              </a:rPr>
              <a:t>Images redimensionnées en une taille standard de 32x32 pixels pour uniformiser les données.</a:t>
            </a:r>
          </a:p>
        </p:txBody>
      </p:sp>
      <p:sp>
        <p:nvSpPr>
          <p:cNvPr id="383" name="Google Shape;383;p38">
            <a:extLst xmlns:a="http://schemas.openxmlformats.org/drawingml/2006/main">
              <a:ext uri="{FF2B5EF4-FFF2-40B4-BE49-F238E27FC236}">
                <a16:creationId xmlns:a16="http://schemas.microsoft.com/office/drawing/2014/main" id="{AFD59D5D-AEBC-41EB-90D9-7AF62A685B45}"/>
              </a:ext>
            </a:extLst>
          </p:cNvPr>
          <p:cNvSpPr>
            <a:spLocks xmlns:a="http://schemas.openxmlformats.org/drawingml/2006/main" noGrp="1"/>
          </p:cNvSpPr>
          <p:nvPr/>
        </p:nvSpPr>
        <p:spPr>
          <a:xfrm xmlns:a="http://schemas.openxmlformats.org/drawingml/2006/main">
            <a:off x="35242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EB5600"/>
                </a:solidFill>
                <a:latin typeface="Material Icons"/>
                <a:ea typeface="Material Icons"/>
                <a:cs typeface="Material Icons"/>
              </a:rPr>
              <a:t>tune</a:t>
            </a:r>
          </a:p>
          <a:p xmlns:a="http://schemas.openxmlformats.org/drawingml/2006/main">
            <a:pPr marL="0" indent="0" algn="l">
              <a:spcBef>
                <a:spcPts val="750"/>
              </a:spcBef>
              <a:spcAft>
                <a:spcPts val="0"/>
              </a:spcAft>
              <a:buNone/>
            </a:pPr>
            <a:r>
              <a:rPr sz="1350" b="1">
                <a:solidFill>
                  <a:srgbClr val="1A1A1A"/>
                </a:solidFill>
                <a:latin typeface="Raleway"/>
                <a:ea typeface="Raleway"/>
                <a:cs typeface="Raleway"/>
              </a:rPr>
              <a:t>2. Normalisation</a:t>
            </a:r>
          </a:p>
          <a:p xmlns:a="http://schemas.openxmlformats.org/drawingml/2006/main">
            <a:pPr marL="0" indent="0" algn="l">
              <a:spcBef>
                <a:spcPts val="600"/>
              </a:spcBef>
              <a:spcAft>
                <a:spcPts val="0"/>
              </a:spcAft>
              <a:buNone/>
            </a:pPr>
            <a:r>
              <a:rPr sz="1100">
                <a:solidFill>
                  <a:srgbClr val="595959"/>
                </a:solidFill>
                <a:latin typeface="Lato"/>
                <a:ea typeface="Lato"/>
                <a:cs typeface="Lato"/>
              </a:rPr>
              <a:t>Ajustement et normalisation de l'intensité des pixels pour stabiliser l'apprentissage.</a:t>
            </a:r>
          </a:p>
        </p:txBody>
      </p:sp>
      <p:sp>
        <p:nvSpPr>
          <p:cNvPr id="384" name="Google Shape;384;p38">
            <a:extLst xmlns:a="http://schemas.openxmlformats.org/drawingml/2006/main">
              <a:ext uri="{FF2B5EF4-FFF2-40B4-BE49-F238E27FC236}">
                <a16:creationId xmlns:a16="http://schemas.microsoft.com/office/drawing/2014/main" id="{DD895113-E84D-4F00-A7C9-EAC5EEF3B04D}"/>
              </a:ext>
            </a:extLst>
          </p:cNvPr>
          <p:cNvSpPr>
            <a:spLocks xmlns:a="http://schemas.openxmlformats.org/drawingml/2006/main" noGrp="1"/>
          </p:cNvSpPr>
          <p:nvPr/>
        </p:nvSpPr>
        <p:spPr>
          <a:xfrm xmlns:a="http://schemas.openxmlformats.org/drawingml/2006/main">
            <a:off x="6229350" y="2428875"/>
            <a:ext cx="2095500" cy="1952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1A9988"/>
                </a:solidFill>
                <a:latin typeface="Material Icons"/>
                <a:ea typeface="Material Icons"/>
                <a:cs typeface="Material Icons"/>
              </a:rPr>
              <a:t>view_week</a:t>
            </a:r>
          </a:p>
          <a:p xmlns:a="http://schemas.openxmlformats.org/drawingml/2006/main">
            <a:pPr marL="0" indent="0" algn="l">
              <a:spcBef>
                <a:spcPts val="750"/>
              </a:spcBef>
              <a:spcAft>
                <a:spcPts val="0"/>
              </a:spcAft>
              <a:buNone/>
            </a:pPr>
            <a:r>
              <a:rPr sz="1350" b="1">
                <a:solidFill>
                  <a:srgbClr val="1A1A1A"/>
                </a:solidFill>
                <a:latin typeface="Raleway"/>
                <a:ea typeface="Raleway"/>
                <a:cs typeface="Raleway"/>
              </a:rPr>
              <a:t>3. Aplatissement</a:t>
            </a:r>
          </a:p>
          <a:p xmlns:a="http://schemas.openxmlformats.org/drawingml/2006/main">
            <a:pPr marL="0" indent="0" algn="l">
              <a:spcBef>
                <a:spcPts val="600"/>
              </a:spcBef>
              <a:spcAft>
                <a:spcPts val="0"/>
              </a:spcAft>
              <a:buNone/>
            </a:pPr>
            <a:r>
              <a:rPr sz="1100">
                <a:solidFill>
                  <a:srgbClr val="595959"/>
                </a:solidFill>
                <a:latin typeface="Lato"/>
                <a:ea typeface="Lato"/>
                <a:cs typeface="Lato"/>
              </a:rPr>
              <a:t>Conversion des canaux RVB sous forme de vecteurs d'entrée de dimension 1024.</a:t>
            </a:r>
          </a:p>
        </p:txBody>
      </p:sp>
    </p:spTree>
    <p:extLst>
      <p:ext uri="{BB962C8B-B14F-4D97-AF65-F5344CB8AC3E}">
        <p14:creationId xmlns:p14="http://schemas.microsoft.com/office/powerpoint/2010/main" val="68913491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90" name="Google Shape;390;p39">
            <a:extLst xmlns:a="http://schemas.openxmlformats.org/drawingml/2006/main">
              <a:ext uri="{FF2B5EF4-FFF2-40B4-BE49-F238E27FC236}">
                <a16:creationId xmlns:a16="http://schemas.microsoft.com/office/drawing/2014/main" id="{B317ABA3-192A-431F-AAC1-23B5E126B5CA}"/>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392" name="Google Shape;392;p39">
            <a:extLst xmlns:a="http://schemas.openxmlformats.org/drawingml/2006/main">
              <a:ext uri="{FF2B5EF4-FFF2-40B4-BE49-F238E27FC236}">
                <a16:creationId xmlns:a16="http://schemas.microsoft.com/office/drawing/2014/main" id="{E5D1B4BB-25C6-46E7-80B1-12765209FCF2}"/>
              </a:ext>
            </a:extLst>
          </p:cNvPr>
          <p:cNvSpPr>
            <a:spLocks xmlns:a="http://schemas.openxmlformats.org/drawingml/2006/main" noGrp="1"/>
          </p:cNvSpPr>
          <p:nvPr/>
        </p:nvSpPr>
        <p:spPr>
          <a:xfrm xmlns:a="http://schemas.openxmlformats.org/drawingml/2006/main" rot="-5400000" flipH="0" flipV="0">
            <a:off x="1366793" y="903863"/>
            <a:ext cx="45900" cy="372900"/>
          </a:xfrm>
          <a:prstGeom xmlns:a="http://schemas.openxmlformats.org/drawingml/2006/main" prst="rect">
            <a:avLst/>
          </a:prstGeom>
          <a:solidFill xmlns:a="http://schemas.openxmlformats.org/drawingml/2006/main">
            <a:srgbClr val="EB5600"/>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3" name="Google Shape;393;p39">
            <a:extLst xmlns:a="http://schemas.openxmlformats.org/drawingml/2006/main">
              <a:ext uri="{FF2B5EF4-FFF2-40B4-BE49-F238E27FC236}">
                <a16:creationId xmlns:a16="http://schemas.microsoft.com/office/drawing/2014/main" id="{EA8D3BD5-FE14-4BE8-98F3-36809246E0E2}"/>
              </a:ext>
            </a:extLst>
          </p:cNvPr>
          <p:cNvSpPr>
            <a:spLocks xmlns:a="http://schemas.openxmlformats.org/drawingml/2006/main" noGrp="1"/>
          </p:cNvSpPr>
          <p:nvPr/>
        </p:nvSpPr>
        <p:spPr>
          <a:xfrm xmlns:a="http://schemas.openxmlformats.org/drawingml/2006/main" rot="-5400000" flipH="0" flipV="0">
            <a:off x="995390" y="902353"/>
            <a:ext cx="45900" cy="375900"/>
          </a:xfrm>
          <a:prstGeom xmlns:a="http://schemas.openxmlformats.org/drawingml/2006/main" prst="rect">
            <a:avLst/>
          </a:prstGeom>
          <a:solidFill xmlns:a="http://schemas.openxmlformats.org/drawingml/2006/main">
            <a:srgbClr val="1A99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4" name="Google Shape;394;p39">
            <a:extLst xmlns:a="http://schemas.openxmlformats.org/drawingml/2006/main">
              <a:ext uri="{FF2B5EF4-FFF2-40B4-BE49-F238E27FC236}">
                <a16:creationId xmlns:a16="http://schemas.microsoft.com/office/drawing/2014/main" id="{3C9FDAF2-3F31-4CB9-8018-78D6CE6FACD5}"/>
              </a:ext>
            </a:extLst>
          </p:cNvPr>
          <p:cNvSpPr>
            <a:spLocks xmlns:a="http://schemas.openxmlformats.org/drawingml/2006/main" noGrp="1"/>
          </p:cNvSpPr>
          <p:nvPr/>
        </p:nvSpPr>
        <p:spPr>
          <a:xfrm xmlns:a="http://schemas.openxmlformats.org/drawingml/2006/main">
            <a:off x="723900" y="1714500"/>
            <a:ext cx="76866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a:solidFill>
                  <a:srgbClr val="595959"/>
                </a:solidFill>
                <a:latin typeface="Raleway"/>
                <a:ea typeface="Raleway"/>
                <a:cs typeface="Raleway"/>
              </a:rPr>
              <a:t>Le test final reste invisible pendant le tuning</a:t>
            </a:r>
          </a:p>
        </p:txBody>
      </p:sp>
      <p:sp>
        <p:nvSpPr>
          <p:cNvPr id="396" name="Google Shape;396;p39">
            <a:extLst xmlns:a="http://schemas.openxmlformats.org/drawingml/2006/main">
              <a:ext uri="{FF2B5EF4-FFF2-40B4-BE49-F238E27FC236}">
                <a16:creationId xmlns:a16="http://schemas.microsoft.com/office/drawing/2014/main" id="{ECFAC745-7AF7-459F-8D91-D03C2835ABB3}"/>
              </a:ext>
            </a:extLst>
          </p:cNvPr>
          <p:cNvSpPr>
            <a:spLocks xmlns:a="http://schemas.openxmlformats.org/drawingml/2006/main" noGrp="1"/>
          </p:cNvSpPr>
          <p:nvPr/>
        </p:nvSpPr>
        <p:spPr>
          <a:xfrm xmlns:a="http://schemas.openxmlformats.org/drawingml/2006/main" rot="0" flipH="0" flipV="0">
            <a:off x="723900" y="2238375"/>
            <a:ext cx="2286000" cy="23814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7" name="Google Shape;397;p39">
            <a:extLst xmlns:a="http://schemas.openxmlformats.org/drawingml/2006/main">
              <a:ext uri="{FF2B5EF4-FFF2-40B4-BE49-F238E27FC236}">
                <a16:creationId xmlns:a16="http://schemas.microsoft.com/office/drawing/2014/main" id="{5F9FA314-6D7B-4120-BD30-0128D1EF64CF}"/>
              </a:ext>
            </a:extLst>
          </p:cNvPr>
          <p:cNvSpPr>
            <a:spLocks xmlns:a="http://schemas.openxmlformats.org/drawingml/2006/main" noGrp="1"/>
          </p:cNvSpPr>
          <p:nvPr/>
        </p:nvSpPr>
        <p:spPr>
          <a:xfrm xmlns:a="http://schemas.openxmlformats.org/drawingml/2006/main" rot="0" flipH="0" flipV="0">
            <a:off x="3429000" y="2238375"/>
            <a:ext cx="2286000" cy="23814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8" name="Google Shape;398;p39">
            <a:extLst xmlns:a="http://schemas.openxmlformats.org/drawingml/2006/main">
              <a:ext uri="{FF2B5EF4-FFF2-40B4-BE49-F238E27FC236}">
                <a16:creationId xmlns:a16="http://schemas.microsoft.com/office/drawing/2014/main" id="{9FA16C1C-E2C2-4CB2-A075-C11BC3FF3199}"/>
              </a:ext>
            </a:extLst>
          </p:cNvPr>
          <p:cNvSpPr>
            <a:spLocks xmlns:a="http://schemas.openxmlformats.org/drawingml/2006/main" noGrp="1"/>
          </p:cNvSpPr>
          <p:nvPr/>
        </p:nvSpPr>
        <p:spPr>
          <a:xfrm xmlns:a="http://schemas.openxmlformats.org/drawingml/2006/main" rot="0" flipH="0" flipV="0">
            <a:off x="6134100" y="2238375"/>
            <a:ext cx="2286000" cy="23814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9" name="Google Shape;399;p39">
            <a:extLst xmlns:a="http://schemas.openxmlformats.org/drawingml/2006/main">
              <a:ext uri="{FF2B5EF4-FFF2-40B4-BE49-F238E27FC236}">
                <a16:creationId xmlns:a16="http://schemas.microsoft.com/office/drawing/2014/main" id="{C89FB60B-9B49-4F4A-B67B-3FC68E09D976}"/>
              </a:ext>
            </a:extLst>
          </p:cNvPr>
          <p:cNvSpPr>
            <a:spLocks xmlns:a="http://schemas.openxmlformats.org/drawingml/2006/main" noGrp="1"/>
          </p:cNvSpPr>
          <p:nvPr/>
        </p:nvSpPr>
        <p:spPr>
          <a:xfrm xmlns:a="http://schemas.openxmlformats.org/drawingml/2006/main">
            <a:off x="819150" y="2333625"/>
            <a:ext cx="2095500" cy="2190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1A9988"/>
                </a:solidFill>
                <a:latin typeface="Material Icons"/>
                <a:ea typeface="Material Icons"/>
                <a:cs typeface="Material Icons"/>
              </a:rPr>
              <a:t>layers</a:t>
            </a:r>
          </a:p>
          <a:p xmlns:a="http://schemas.openxmlformats.org/drawingml/2006/main">
            <a:pPr marL="0" indent="0" algn="l">
              <a:spcBef>
                <a:spcPts val="600"/>
              </a:spcBef>
              <a:spcAft>
                <a:spcPts val="0"/>
              </a:spcAft>
              <a:buNone/>
            </a:pPr>
            <a:r>
              <a:rPr sz="2000" b="1">
                <a:solidFill>
                  <a:srgbClr val="1A1A1A"/>
                </a:solidFill>
                <a:latin typeface="Raleway"/>
                <a:ea typeface="Raleway"/>
                <a:cs typeface="Raleway"/>
              </a:rPr>
              <a:t>1 186</a:t>
            </a:r>
          </a:p>
          <a:p xmlns:a="http://schemas.openxmlformats.org/drawingml/2006/main">
            <a:pPr marL="0" indent="0" algn="l">
              <a:spcBef>
                <a:spcPts val="0"/>
              </a:spcBef>
              <a:spcAft>
                <a:spcPts val="0"/>
              </a:spcAft>
              <a:buNone/>
            </a:pPr>
            <a:r>
              <a:rPr sz="1200" b="1">
                <a:solidFill>
                  <a:srgbClr val="595959"/>
                </a:solidFill>
                <a:latin typeface="Raleway"/>
                <a:ea typeface="Raleway"/>
                <a:cs typeface="Raleway"/>
              </a:rPr>
              <a:t>Sélection-train</a:t>
            </a:r>
          </a:p>
          <a:p xmlns:a="http://schemas.openxmlformats.org/drawingml/2006/main">
            <a:pPr marL="0" indent="0" algn="l">
              <a:spcBef>
                <a:spcPts val="800"/>
              </a:spcBef>
              <a:spcAft>
                <a:spcPts val="0"/>
              </a:spcAft>
              <a:buNone/>
            </a:pPr>
            <a:r>
              <a:rPr sz="1050" b="0">
                <a:solidFill>
                  <a:srgbClr val="595959"/>
                </a:solidFill>
                <a:latin typeface="Lato"/>
                <a:ea typeface="Lato"/>
                <a:cs typeface="Lato"/>
              </a:rPr>
              <a:t>Les candidats apprennent uniquement sur cette partie de l'outer train.</a:t>
            </a:r>
          </a:p>
        </p:txBody>
      </p:sp>
      <p:sp>
        <p:nvSpPr>
          <p:cNvPr id="400" name="Google Shape;400;p39">
            <a:extLst xmlns:a="http://schemas.openxmlformats.org/drawingml/2006/main">
              <a:ext uri="{FF2B5EF4-FFF2-40B4-BE49-F238E27FC236}">
                <a16:creationId xmlns:a16="http://schemas.microsoft.com/office/drawing/2014/main" id="{411E331D-CF1D-4B4D-8B2D-DA247E1F5526}"/>
              </a:ext>
            </a:extLst>
          </p:cNvPr>
          <p:cNvSpPr>
            <a:spLocks xmlns:a="http://schemas.openxmlformats.org/drawingml/2006/main" noGrp="1"/>
          </p:cNvSpPr>
          <p:nvPr/>
        </p:nvSpPr>
        <p:spPr>
          <a:xfrm xmlns:a="http://schemas.openxmlformats.org/drawingml/2006/main">
            <a:off x="3524250" y="2333625"/>
            <a:ext cx="2095500" cy="2190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EB5600"/>
                </a:solidFill>
                <a:latin typeface="Material Icons"/>
                <a:ea typeface="Material Icons"/>
                <a:cs typeface="Material Icons"/>
              </a:rPr>
              <a:t>fact_check</a:t>
            </a:r>
          </a:p>
          <a:p xmlns:a="http://schemas.openxmlformats.org/drawingml/2006/main">
            <a:pPr marL="0" indent="0" algn="l">
              <a:spcBef>
                <a:spcPts val="600"/>
              </a:spcBef>
              <a:spcAft>
                <a:spcPts val="0"/>
              </a:spcAft>
              <a:buNone/>
            </a:pPr>
            <a:r>
              <a:rPr sz="2000" b="1">
                <a:solidFill>
                  <a:srgbClr val="1A1A1A"/>
                </a:solidFill>
                <a:latin typeface="Raleway"/>
                <a:ea typeface="Raleway"/>
                <a:cs typeface="Raleway"/>
              </a:rPr>
              <a:t>296</a:t>
            </a:r>
          </a:p>
          <a:p xmlns:a="http://schemas.openxmlformats.org/drawingml/2006/main">
            <a:pPr marL="0" indent="0" algn="l">
              <a:spcBef>
                <a:spcPts val="0"/>
              </a:spcBef>
              <a:spcAft>
                <a:spcPts val="0"/>
              </a:spcAft>
              <a:buNone/>
            </a:pPr>
            <a:r>
              <a:rPr sz="1200" b="1">
                <a:solidFill>
                  <a:srgbClr val="595959"/>
                </a:solidFill>
                <a:latin typeface="Raleway"/>
                <a:ea typeface="Raleway"/>
                <a:cs typeface="Raleway"/>
              </a:rPr>
              <a:t>Validation</a:t>
            </a:r>
          </a:p>
          <a:p xmlns:a="http://schemas.openxmlformats.org/drawingml/2006/main">
            <a:pPr marL="0" indent="0" algn="l">
              <a:spcBef>
                <a:spcPts val="800"/>
              </a:spcBef>
              <a:spcAft>
                <a:spcPts val="0"/>
              </a:spcAft>
              <a:buNone/>
            </a:pPr>
            <a:r>
              <a:rPr sz="1050" b="0">
                <a:solidFill>
                  <a:srgbClr val="595959"/>
                </a:solidFill>
                <a:latin typeface="Lato"/>
                <a:ea typeface="Lato"/>
                <a:cs typeface="Lato"/>
              </a:rPr>
              <a:t>On compare accuracy, balanced accuracy, matrice de confusion et durée.</a:t>
            </a:r>
          </a:p>
        </p:txBody>
      </p:sp>
      <p:sp>
        <p:nvSpPr>
          <p:cNvPr id="401" name="Google Shape;401;p39">
            <a:extLst xmlns:a="http://schemas.openxmlformats.org/drawingml/2006/main">
              <a:ext uri="{FF2B5EF4-FFF2-40B4-BE49-F238E27FC236}">
                <a16:creationId xmlns:a16="http://schemas.microsoft.com/office/drawing/2014/main" id="{6DD2CD0A-FB58-484F-940A-464E99681F9A}"/>
              </a:ext>
            </a:extLst>
          </p:cNvPr>
          <p:cNvSpPr>
            <a:spLocks xmlns:a="http://schemas.openxmlformats.org/drawingml/2006/main" noGrp="1"/>
          </p:cNvSpPr>
          <p:nvPr/>
        </p:nvSpPr>
        <p:spPr>
          <a:xfrm xmlns:a="http://schemas.openxmlformats.org/drawingml/2006/main">
            <a:off x="6229350" y="2333625"/>
            <a:ext cx="2095500" cy="2190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a:solidFill>
                  <a:srgbClr val="1A9988"/>
                </a:solidFill>
                <a:latin typeface="Material Icons"/>
                <a:ea typeface="Material Icons"/>
                <a:cs typeface="Material Icons"/>
              </a:rPr>
              <a:t>visibility_off</a:t>
            </a:r>
          </a:p>
          <a:p xmlns:a="http://schemas.openxmlformats.org/drawingml/2006/main">
            <a:pPr marL="0" indent="0" algn="l">
              <a:spcBef>
                <a:spcPts val="600"/>
              </a:spcBef>
              <a:spcAft>
                <a:spcPts val="0"/>
              </a:spcAft>
              <a:buNone/>
            </a:pPr>
            <a:r>
              <a:rPr sz="2000" b="1">
                <a:solidFill>
                  <a:srgbClr val="1A1A1A"/>
                </a:solidFill>
                <a:latin typeface="Raleway"/>
                <a:ea typeface="Raleway"/>
                <a:cs typeface="Raleway"/>
              </a:rPr>
              <a:t>370</a:t>
            </a:r>
          </a:p>
          <a:p xmlns:a="http://schemas.openxmlformats.org/drawingml/2006/main">
            <a:pPr marL="0" indent="0" algn="l">
              <a:spcBef>
                <a:spcPts val="0"/>
              </a:spcBef>
              <a:spcAft>
                <a:spcPts val="0"/>
              </a:spcAft>
              <a:buNone/>
            </a:pPr>
            <a:r>
              <a:rPr sz="1200" b="1">
                <a:solidFill>
                  <a:srgbClr val="595959"/>
                </a:solidFill>
                <a:latin typeface="Raleway"/>
                <a:ea typeface="Raleway"/>
                <a:cs typeface="Raleway"/>
              </a:rPr>
              <a:t>Test final</a:t>
            </a:r>
          </a:p>
          <a:p xmlns:a="http://schemas.openxmlformats.org/drawingml/2006/main">
            <a:pPr marL="0" indent="0" algn="l">
              <a:spcBef>
                <a:spcPts val="800"/>
              </a:spcBef>
              <a:spcAft>
                <a:spcPts val="0"/>
              </a:spcAft>
              <a:buNone/>
            </a:pPr>
            <a:r>
              <a:rPr sz="1050" b="0">
                <a:solidFill>
                  <a:srgbClr val="595959"/>
                </a:solidFill>
                <a:latin typeface="Lato"/>
                <a:ea typeface="Lato"/>
                <a:cs typeface="Lato"/>
              </a:rPr>
              <a:t>Une seule mesure après le choix. Seed 42 garantit les mêmes découpages, pas un meilleur score.</a:t>
            </a:r>
          </a:p>
        </p:txBody>
      </p:sp>
      <p:sp>
        <p:nvSpPr>
          <p:cNvPr id="402" name="Google Shape;402;p39">
            <a:extLst xmlns:a="http://schemas.openxmlformats.org/drawingml/2006/main">
              <a:ext uri="{FF2B5EF4-FFF2-40B4-BE49-F238E27FC236}">
                <a16:creationId xmlns:a16="http://schemas.microsoft.com/office/drawing/2014/main" id="{6742304F-6751-4798-9F22-BFDE566ED43C}"/>
              </a:ext>
            </a:extLst>
          </p:cNvPr>
          <p:cNvSpPr>
            <a:spLocks xmlns:a="http://schemas.openxmlformats.org/drawingml/2006/main" noGrp="1"/>
          </p:cNvSpPr>
          <p:nvPr/>
        </p:nvSpPr>
        <p:spPr>
          <a:xfrm xmlns:a="http://schemas.openxmlformats.org/drawingml/2006/main">
            <a:off x="723900" y="1190625"/>
            <a:ext cx="7688700" cy="535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600" b="1">
                <a:solidFill>
                  <a:srgbClr val="1A1A1A"/>
                </a:solidFill>
                <a:latin typeface="Raleway"/>
                <a:ea typeface="Raleway"/>
                <a:cs typeface="Raleway"/>
              </a:rPr>
              <a:t>Dataset</a:t>
            </a:r>
          </a:p>
        </p:txBody>
      </p:sp>
    </p:spTree>
    <p:extLst>
      <p:ext uri="{BB962C8B-B14F-4D97-AF65-F5344CB8AC3E}">
        <p14:creationId xmlns:p14="http://schemas.microsoft.com/office/powerpoint/2010/main" val="66492953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08" name="Google Shape;408;p40">
            <a:extLst xmlns:a="http://schemas.openxmlformats.org/drawingml/2006/main">
              <a:ext uri="{FF2B5EF4-FFF2-40B4-BE49-F238E27FC236}">
                <a16:creationId xmlns:a16="http://schemas.microsoft.com/office/drawing/2014/main" id="{A0C53DFC-A04F-4414-AAB5-962452BEED4D}"/>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lnSpc>
                <a:spcPct val="100000"/>
              </a:lnSpc>
              <a:spcBef>
                <a:spcPts val="0"/>
              </a:spcBef>
              <a:spcAft>
                <a:spcPts val="0"/>
              </a:spcAft>
              <a:buSzPct val="112466"/>
              <a:buNone/>
            </a:pPr>
            <a:r>
              <a:rPr sz="2600" b="1">
                <a:solidFill>
                  <a:srgbClr val="1A1A1A"/>
                </a:solidFill>
                <a:latin typeface="Raleway"/>
                <a:ea typeface="Raleway"/>
                <a:cs typeface="Raleway"/>
              </a:rPr>
              <a:t>La référence v1 révèle un RBF dégénéré</a:t>
            </a:r>
          </a:p>
        </p:txBody>
      </p:sp>
      <p:pic>
        <p:nvPicPr>
          <p:cNvPr id="414" name="Google Shape;409;p40"/>
          <p:cNvPicPr>
            <a:picLocks xmlns:a="http://schemas.openxmlformats.org/drawingml/2006/main" noChangeAspect="1"/>
          </p:cNvPicPr>
          <p:nvPr/>
        </p:nvPicPr>
        <p:blipFill rotWithShape="1">
          <a:blip xmlns:r="http://schemas.openxmlformats.org/officeDocument/2006/relationships" xmlns:a="http://schemas.openxmlformats.org/drawingml/2006/main" r:embed="Ra1bbdadbb3744099">
            <a:alphaModFix/>
          </a:blip>
          <a:srcRect xmlns:a="http://schemas.openxmlformats.org/drawingml/2006/main" l="0" t="0" r="0" b="0"/>
          <a:stretch xmlns:a="http://schemas.openxmlformats.org/drawingml/2006/main"/>
        </p:blipFill>
        <p:spPr>
          <a:xfrm xmlns:a="http://schemas.openxmlformats.org/drawingml/2006/main">
            <a:off x="876300" y="1952625"/>
            <a:ext cx="7391400" cy="2428800"/>
          </a:xfrm>
          <a:prstGeom xmlns:a="http://schemas.openxmlformats.org/drawingml/2006/main" prst="rect">
            <a:avLst/>
          </a:prstGeom>
          <a:ln xmlns:a="http://schemas.openxmlformats.org/drawingml/2006/main">
            <a:noFill/>
          </a:ln>
        </p:spPr>
      </p:pic>
      <p:sp>
        <p:nvSpPr>
          <p:cNvPr id="410" name="Google Shape;410;p40">
            <a:extLst xmlns:a="http://schemas.openxmlformats.org/drawingml/2006/main">
              <a:ext uri="{FF2B5EF4-FFF2-40B4-BE49-F238E27FC236}">
                <a16:creationId xmlns:a16="http://schemas.microsoft.com/office/drawing/2014/main" id="{E2482506-8B8E-49D8-89EF-3AA9E74A9F63}"/>
              </a:ext>
            </a:extLst>
          </p:cNvPr>
          <p:cNvSpPr>
            <a:spLocks xmlns:a="http://schemas.openxmlformats.org/drawingml/2006/main" noGrp="1"/>
          </p:cNvSpPr>
          <p:nvPr/>
        </p:nvSpPr>
        <p:spPr>
          <a:xfrm xmlns:a="http://schemas.openxmlformats.org/drawingml/2006/main">
            <a:off x="1047750" y="4333875"/>
            <a:ext cx="666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ctr">
              <a:spcBef>
                <a:spcPts val="0"/>
              </a:spcBef>
              <a:spcAft>
                <a:spcPts val="0"/>
              </a:spcAft>
              <a:buNone/>
            </a:pPr>
            <a:r>
              <a:rPr sz="1125" b="1">
                <a:solidFill>
                  <a:srgbClr val="EB5600"/>
                </a:solidFill>
                <a:latin typeface="Lato"/>
                <a:ea typeface="Lato"/>
                <a:cs typeface="Lato"/>
              </a:rPr>
              <a:t>RBF v1 : 32,16 % et 370 prédictions « Gothique » sur 370.</a:t>
            </a:r>
          </a:p>
        </p:txBody>
      </p:sp>
      <p:sp>
        <p:nvSpPr>
          <p:cNvPr id="411" name="Google Shape;411;p40">
            <a:extLst xmlns:a="http://schemas.openxmlformats.org/drawingml/2006/main">
              <a:ext uri="{FF2B5EF4-FFF2-40B4-BE49-F238E27FC236}">
                <a16:creationId xmlns:a16="http://schemas.microsoft.com/office/drawing/2014/main" id="{65660EAF-06E0-4428-B441-37E6F41BDA95}"/>
              </a:ext>
            </a:extLst>
          </p:cNvPr>
          <p:cNvSpPr>
            <a:spLocks xmlns:a="http://schemas.openxmlformats.org/drawingml/2006/main" noGrp="1"/>
          </p:cNvSpPr>
          <p:nvPr/>
        </p:nvSpPr>
        <p:spPr>
          <a:xfrm xmlns:a="http://schemas.openxmlformats.org/drawingml/2006/main">
            <a:off x="723900" y="4572000"/>
            <a:ext cx="72390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l">
              <a:spcBef>
                <a:spcPts val="0"/>
              </a:spcBef>
              <a:spcAft>
                <a:spcPts val="0"/>
              </a:spcAft>
              <a:buNone/>
            </a:pPr>
            <a:r>
              <a:rPr sz="863">
                <a:solidFill>
                  <a:srgbClr val="6B747A"/>
                </a:solidFill>
                <a:latin typeface="Lato"/>
                <a:ea typeface="Lato"/>
                <a:cs typeface="Lato"/>
              </a:rPr>
              <a:t>Sources : rapports JSON — seed 42 — test final n = 370</a:t>
            </a:r>
          </a:p>
        </p:txBody>
      </p:sp>
    </p:spTree>
    <p:extLst>
      <p:ext uri="{BB962C8B-B14F-4D97-AF65-F5344CB8AC3E}">
        <p14:creationId xmlns:p14="http://schemas.microsoft.com/office/powerpoint/2010/main" val="53698081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17" name="Google Shape;417;p41">
            <a:extLst xmlns:a="http://schemas.openxmlformats.org/drawingml/2006/main">
              <a:ext uri="{FF2B5EF4-FFF2-40B4-BE49-F238E27FC236}">
                <a16:creationId xmlns:a16="http://schemas.microsoft.com/office/drawing/2014/main" id="{FD6EC116-749F-46A3-8A13-44595E13CDA7}"/>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9" name="Google Shape;419;p41">
            <a:extLst xmlns:a="http://schemas.openxmlformats.org/drawingml/2006/main">
              <a:ext uri="{FF2B5EF4-FFF2-40B4-BE49-F238E27FC236}">
                <a16:creationId xmlns:a16="http://schemas.microsoft.com/office/drawing/2014/main" id="{BFCA7D20-5F58-4036-A2D4-5E3F7A73E2F3}"/>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0" name="Google Shape;420;p41">
            <a:extLst xmlns:a="http://schemas.openxmlformats.org/drawingml/2006/main">
              <a:ext uri="{FF2B5EF4-FFF2-40B4-BE49-F238E27FC236}">
                <a16:creationId xmlns:a16="http://schemas.microsoft.com/office/drawing/2014/main" id="{B479E4E4-6059-47FF-9359-E4857F1CE6F9}"/>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1" name="Google Shape;421;p41">
            <a:extLst xmlns:a="http://schemas.openxmlformats.org/drawingml/2006/main">
              <a:ext uri="{FF2B5EF4-FFF2-40B4-BE49-F238E27FC236}">
                <a16:creationId xmlns:a16="http://schemas.microsoft.com/office/drawing/2014/main" id="{A62452E5-73A2-4DC3-A219-9146B10109CC}"/>
              </a:ext>
            </a:extLst>
          </p:cNvPr>
          <p:cNvSpPr>
            <a:spLocks xmlns:a="http://schemas.openxmlformats.org/drawingml/2006/main" noGrp="1"/>
          </p:cNvSpPr>
          <p:nvPr/>
        </p:nvSpPr>
        <p:spPr>
          <a:xfrm xmlns:a="http://schemas.openxmlformats.org/drawingml/2006/main">
            <a:off x="729450" y="1318651"/>
            <a:ext cx="7688400" cy="535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00" tIns="91400" rIns="91400" bIns="91400" anchor="t">
            <a:noAutofit/>
          </a:bodyPr>
          <a:lstStyle xmlns:a="http://schemas.openxmlformats.org/drawingml/2006/main"/>
          <a:p xmlns:a="http://schemas.openxmlformats.org/drawingml/2006/main">
            <a:pPr marL="0" indent="0" algn="l">
              <a:spcBef>
                <a:spcPts val="0"/>
              </a:spcBef>
              <a:spcAft>
                <a:spcPts val="0"/>
              </a:spcAft>
              <a:buNone/>
            </a:pPr>
            <a:r>
              <a:rPr sz="2210" b="1" i="0">
                <a:solidFill>
                  <a:srgbClr val="1A1A1A"/>
                </a:solidFill>
                <a:latin typeface="Raleway"/>
                <a:ea typeface="Raleway"/>
                <a:cs typeface="Raleway"/>
              </a:rPr>
              <a:t>Le MLP v2 gagne 7,30 points sur le test</a:t>
            </a:r>
          </a:p>
        </p:txBody>
      </p:sp>
      <p:pic>
        <p:nvPicPr>
          <p:cNvPr id="430" name="Google Shape;422;p41"/>
          <p:cNvPicPr>
            <a:picLocks xmlns:a="http://schemas.openxmlformats.org/drawingml/2006/main" noChangeAspect="1"/>
          </p:cNvPicPr>
          <p:nvPr/>
        </p:nvPicPr>
        <p:blipFill rotWithShape="1">
          <a:blip xmlns:r="http://schemas.openxmlformats.org/officeDocument/2006/relationships" xmlns:a="http://schemas.openxmlformats.org/drawingml/2006/main" r:embed="Rd840c34b91da42a1">
            <a:alphaModFix/>
          </a:blip>
          <a:srcRect xmlns:a="http://schemas.openxmlformats.org/drawingml/2006/main" l="0" t="0" r="0" b="0"/>
          <a:stretch xmlns:a="http://schemas.openxmlformats.org/drawingml/2006/main"/>
        </p:blipFill>
        <p:spPr>
          <a:xfrm xmlns:a="http://schemas.openxmlformats.org/drawingml/2006/main">
            <a:off x="742950" y="1952625"/>
            <a:ext cx="7677300" cy="2428800"/>
          </a:xfrm>
          <a:prstGeom xmlns:a="http://schemas.openxmlformats.org/drawingml/2006/main" prst="rect">
            <a:avLst/>
          </a:prstGeom>
          <a:ln xmlns:a="http://schemas.openxmlformats.org/drawingml/2006/main">
            <a:noFill/>
          </a:ln>
        </p:spPr>
      </p:pic>
      <p:sp>
        <p:nvSpPr>
          <p:cNvPr id="423" name="Google Shape;423;p41">
            <a:extLst xmlns:a="http://schemas.openxmlformats.org/drawingml/2006/main">
              <a:ext uri="{FF2B5EF4-FFF2-40B4-BE49-F238E27FC236}">
                <a16:creationId xmlns:a16="http://schemas.microsoft.com/office/drawing/2014/main" id="{2A747775-9F1C-4303-B9F4-E990C4685AA1}"/>
              </a:ext>
            </a:extLst>
          </p:cNvPr>
          <p:cNvSpPr>
            <a:spLocks xmlns:a="http://schemas.openxmlformats.org/drawingml/2006/main" noGrp="1"/>
          </p:cNvSpPr>
          <p:nvPr/>
        </p:nvSpPr>
        <p:spPr>
          <a:xfrm xmlns:a="http://schemas.openxmlformats.org/drawingml/2006/main">
            <a:off x="857250" y="4429125"/>
            <a:ext cx="7429500" cy="2286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ctr">
              <a:spcBef>
                <a:spcPts val="0"/>
              </a:spcBef>
              <a:spcAft>
                <a:spcPts val="0"/>
              </a:spcAft>
              <a:buNone/>
            </a:pPr>
            <a:r>
              <a:rPr sz="1150" b="1" i="0">
                <a:solidFill>
                  <a:srgbClr val="EB5600"/>
                </a:solidFill>
                <a:latin typeface="Lato"/>
                <a:ea typeface="Lato"/>
                <a:cs typeface="Lato"/>
              </a:rPr>
              <a:t>Après réentraînement : MLP v1 49,46 % → MLP v2 56,76 % sur le test final.</a:t>
            </a:r>
          </a:p>
        </p:txBody>
      </p:sp>
      <p:sp>
        <p:nvSpPr>
          <p:cNvPr id="424" name="Google Shape;424;p41">
            <a:extLst xmlns:a="http://schemas.openxmlformats.org/drawingml/2006/main">
              <a:ext uri="{FF2B5EF4-FFF2-40B4-BE49-F238E27FC236}">
                <a16:creationId xmlns:a16="http://schemas.microsoft.com/office/drawing/2014/main" id="{4BA2FCD9-5DAF-4DB3-A806-9D3A7B985D6D}"/>
              </a:ext>
            </a:extLst>
          </p:cNvPr>
          <p:cNvSpPr>
            <a:spLocks xmlns:a="http://schemas.openxmlformats.org/drawingml/2006/main" noGrp="1"/>
          </p:cNvSpPr>
          <p:nvPr/>
        </p:nvSpPr>
        <p:spPr>
          <a:xfrm xmlns:a="http://schemas.openxmlformats.org/drawingml/2006/main">
            <a:off x="723900" y="4762500"/>
            <a:ext cx="7239000" cy="1716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863" b="0" i="0">
                <a:solidFill>
                  <a:srgbClr val="6B747A"/>
                </a:solidFill>
                <a:latin typeface="Lato"/>
                <a:ea typeface="Lato"/>
                <a:cs typeface="Lato"/>
              </a:rPr>
              <a:t>Sources : tuning MLP — validation n = 296 ; rapports v1/v2 — test final n = 370</a:t>
            </a:r>
          </a:p>
        </p:txBody>
      </p:sp>
    </p:spTree>
    <p:extLst>
      <p:ext uri="{BB962C8B-B14F-4D97-AF65-F5344CB8AC3E}">
        <p14:creationId xmlns:p14="http://schemas.microsoft.com/office/powerpoint/2010/main" val="74193359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30" name="Google Shape;430;p42">
            <a:extLst xmlns:a="http://schemas.openxmlformats.org/drawingml/2006/main">
              <a:ext uri="{FF2B5EF4-FFF2-40B4-BE49-F238E27FC236}">
                <a16:creationId xmlns:a16="http://schemas.microsoft.com/office/drawing/2014/main" id="{2BD235BB-7715-4CF0-AB86-5F8C8071B05E}"/>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2" name="Google Shape;432;p42">
            <a:extLst xmlns:a="http://schemas.openxmlformats.org/drawingml/2006/main">
              <a:ext uri="{FF2B5EF4-FFF2-40B4-BE49-F238E27FC236}">
                <a16:creationId xmlns:a16="http://schemas.microsoft.com/office/drawing/2014/main" id="{79F18F96-E061-482D-8359-299A7D64E8B9}"/>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3" name="Google Shape;433;p42">
            <a:extLst xmlns:a="http://schemas.openxmlformats.org/drawingml/2006/main">
              <a:ext uri="{FF2B5EF4-FFF2-40B4-BE49-F238E27FC236}">
                <a16:creationId xmlns:a16="http://schemas.microsoft.com/office/drawing/2014/main" id="{2F249C99-4A42-487F-8E1C-6DAC0C12FC0A}"/>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4" name="Google Shape;434;p42">
            <a:extLst xmlns:a="http://schemas.openxmlformats.org/drawingml/2006/main">
              <a:ext uri="{FF2B5EF4-FFF2-40B4-BE49-F238E27FC236}">
                <a16:creationId xmlns:a16="http://schemas.microsoft.com/office/drawing/2014/main" id="{F4D16BF8-8CF5-4D3F-B61C-79523813B088}"/>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lnSpc>
                <a:spcPct val="100000"/>
              </a:lnSpc>
              <a:spcBef>
                <a:spcPts val="0"/>
              </a:spcBef>
              <a:spcAft>
                <a:spcPts val="0"/>
              </a:spcAft>
              <a:buSzPct val="112466"/>
              <a:buNone/>
            </a:pPr>
            <a:r>
              <a:rPr sz="2600" b="1">
                <a:solidFill>
                  <a:srgbClr val="1A1A1A"/>
                </a:solidFill>
                <a:latin typeface="Raleway"/>
                <a:ea typeface="Raleway"/>
                <a:cs typeface="Raleway"/>
              </a:rPr>
              <a:t>RBF : sigma contrôle l’utilité des centres</a:t>
            </a:r>
          </a:p>
        </p:txBody>
      </p:sp>
      <p:sp>
        <p:nvSpPr>
          <p:cNvPr id="435" name="Google Shape;435;p42">
            <a:extLst xmlns:a="http://schemas.openxmlformats.org/drawingml/2006/main">
              <a:ext uri="{FF2B5EF4-FFF2-40B4-BE49-F238E27FC236}">
                <a16:creationId xmlns:a16="http://schemas.microsoft.com/office/drawing/2014/main" id="{F13468B8-7A50-447A-871D-D1AD1289AA23}"/>
              </a:ext>
            </a:extLst>
          </p:cNvPr>
          <p:cNvSpPr>
            <a:spLocks xmlns:a="http://schemas.openxmlformats.org/drawingml/2006/main" noGrp="1"/>
          </p:cNvSpPr>
          <p:nvPr/>
        </p:nvSpPr>
        <p:spPr>
          <a:xfrm xmlns:a="http://schemas.openxmlformats.org/drawingml/2006/main">
            <a:off x="628650" y="1905000"/>
            <a:ext cx="3857700" cy="2333700"/>
          </a:xfrm>
          <a:prstGeom xmlns:a="http://schemas.openxmlformats.org/drawingml/2006/main" prst="roundRect">
            <a:avLst>
              <a:gd name="adj" fmla="val 3265"/>
            </a:avLst>
          </a:prstGeom>
          <a:solidFill xmlns:a="http://schemas.openxmlformats.org/drawingml/2006/main">
            <a:srgbClr val="F8FAFC"/>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6" name="Google Shape;436;p42">
            <a:extLst xmlns:a="http://schemas.openxmlformats.org/drawingml/2006/main">
              <a:ext uri="{FF2B5EF4-FFF2-40B4-BE49-F238E27FC236}">
                <a16:creationId xmlns:a16="http://schemas.microsoft.com/office/drawing/2014/main" id="{9A7A1777-35C0-4C94-AE12-28F5E45172FB}"/>
              </a:ext>
            </a:extLst>
          </p:cNvPr>
          <p:cNvSpPr>
            <a:spLocks xmlns:a="http://schemas.openxmlformats.org/drawingml/2006/main" noGrp="1"/>
          </p:cNvSpPr>
          <p:nvPr/>
        </p:nvSpPr>
        <p:spPr>
          <a:xfrm xmlns:a="http://schemas.openxmlformats.org/drawingml/2006/main">
            <a:off x="4657725" y="1905000"/>
            <a:ext cx="3857700" cy="2333700"/>
          </a:xfrm>
          <a:prstGeom xmlns:a="http://schemas.openxmlformats.org/drawingml/2006/main" prst="roundRect">
            <a:avLst>
              <a:gd name="adj" fmla="val 3265"/>
            </a:avLst>
          </a:prstGeom>
          <a:solidFill xmlns:a="http://schemas.openxmlformats.org/drawingml/2006/main">
            <a:srgbClr val="F8FAFC"/>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451" name="Google Shape;437;p42"/>
          <p:cNvPicPr>
            <a:picLocks xmlns:a="http://schemas.openxmlformats.org/drawingml/2006/main" noChangeAspect="1"/>
          </p:cNvPicPr>
          <p:nvPr/>
        </p:nvPicPr>
        <p:blipFill rotWithShape="1">
          <a:blip xmlns:r="http://schemas.openxmlformats.org/officeDocument/2006/relationships" xmlns:a="http://schemas.openxmlformats.org/drawingml/2006/main" r:embed="R07cdcdaefeee4f14">
            <a:alphaModFix/>
          </a:blip>
          <a:srcRect xmlns:a="http://schemas.openxmlformats.org/drawingml/2006/main" l="30" t="0" r="30" b="0"/>
          <a:stretch xmlns:a="http://schemas.openxmlformats.org/drawingml/2006/main"/>
        </p:blipFill>
        <p:spPr>
          <a:xfrm xmlns:a="http://schemas.openxmlformats.org/drawingml/2006/main">
            <a:off x="723900" y="1952625"/>
            <a:ext cx="3667200" cy="2238300"/>
          </a:xfrm>
          <a:prstGeom xmlns:a="http://schemas.openxmlformats.org/drawingml/2006/main" prst="rect">
            <a:avLst/>
          </a:prstGeom>
          <a:ln xmlns:a="http://schemas.openxmlformats.org/drawingml/2006/main">
            <a:noFill/>
          </a:ln>
        </p:spPr>
      </p:pic>
      <p:pic>
        <p:nvPicPr>
          <p:cNvPr id="452" name="Google Shape;438;p42"/>
          <p:cNvPicPr>
            <a:picLocks xmlns:a="http://schemas.openxmlformats.org/drawingml/2006/main" noChangeAspect="1"/>
          </p:cNvPicPr>
          <p:nvPr/>
        </p:nvPicPr>
        <p:blipFill rotWithShape="1">
          <a:blip xmlns:r="http://schemas.openxmlformats.org/officeDocument/2006/relationships" xmlns:a="http://schemas.openxmlformats.org/drawingml/2006/main" r:embed="R7d560a238f1442b1">
            <a:alphaModFix/>
          </a:blip>
          <a:srcRect xmlns:a="http://schemas.openxmlformats.org/drawingml/2006/main" l="30" t="0" r="30" b="0"/>
          <a:stretch xmlns:a="http://schemas.openxmlformats.org/drawingml/2006/main"/>
        </p:blipFill>
        <p:spPr>
          <a:xfrm xmlns:a="http://schemas.openxmlformats.org/drawingml/2006/main">
            <a:off x="4752975" y="1952625"/>
            <a:ext cx="3667200" cy="2238300"/>
          </a:xfrm>
          <a:prstGeom xmlns:a="http://schemas.openxmlformats.org/drawingml/2006/main" prst="rect">
            <a:avLst/>
          </a:prstGeom>
          <a:ln xmlns:a="http://schemas.openxmlformats.org/drawingml/2006/main">
            <a:noFill/>
          </a:ln>
        </p:spPr>
      </p:pic>
      <p:sp>
        <p:nvSpPr>
          <p:cNvPr id="440" name="Google Shape;440;p42">
            <a:extLst xmlns:a="http://schemas.openxmlformats.org/drawingml/2006/main">
              <a:ext uri="{FF2B5EF4-FFF2-40B4-BE49-F238E27FC236}">
                <a16:creationId xmlns:a16="http://schemas.microsoft.com/office/drawing/2014/main" id="{7E2C6C7E-0924-4C08-AD64-F10E719B542B}"/>
              </a:ext>
            </a:extLst>
          </p:cNvPr>
          <p:cNvSpPr>
            <a:spLocks xmlns:a="http://schemas.openxmlformats.org/drawingml/2006/main" noGrp="1"/>
          </p:cNvSpPr>
          <p:nvPr/>
        </p:nvSpPr>
        <p:spPr>
          <a:xfrm xmlns:a="http://schemas.openxmlformats.org/drawingml/2006/main" rot="0" flipH="0" flipV="0">
            <a:off x="723900" y="4333875"/>
            <a:ext cx="7696200" cy="400200"/>
          </a:xfrm>
          <a:prstGeom xmlns:a="http://schemas.openxmlformats.org/drawingml/2006/main" prst="roundRect">
            <a:avLst>
              <a:gd name="adj" fmla="val 14285"/>
            </a:avLst>
          </a:prstGeom>
          <a:solidFill xmlns:a="http://schemas.openxmlformats.org/drawingml/2006/main">
            <a:srgbClr val="FFF5F0"/>
          </a:solidFill>
          <a:ln xmlns:a="http://schemas.openxmlformats.org/drawingml/2006/main" w="9525" cmpd="sng">
            <a:solidFill>
              <a:srgbClr val="FFD8C2"/>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1" name="Google Shape;441;p42">
            <a:extLst xmlns:a="http://schemas.openxmlformats.org/drawingml/2006/main">
              <a:ext uri="{FF2B5EF4-FFF2-40B4-BE49-F238E27FC236}">
                <a16:creationId xmlns:a16="http://schemas.microsoft.com/office/drawing/2014/main" id="{F0D8CA67-1F59-4B96-8B4E-65DBBAD2DFF9}"/>
              </a:ext>
            </a:extLst>
          </p:cNvPr>
          <p:cNvSpPr>
            <a:spLocks xmlns:a="http://schemas.openxmlformats.org/drawingml/2006/main" noGrp="1"/>
          </p:cNvSpPr>
          <p:nvPr/>
        </p:nvSpPr>
        <p:spPr>
          <a:xfrm xmlns:a="http://schemas.openxmlformats.org/drawingml/2006/main" rot="0" flipH="0" flipV="0">
            <a:off x="819150" y="4333875"/>
            <a:ext cx="75057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100" b="1">
                <a:solidFill>
                  <a:srgbClr val="D93B00"/>
                </a:solidFill>
                <a:latin typeface="Lato"/>
                <a:ea typeface="Lato"/>
                <a:cs typeface="Lato"/>
              </a:rPr>
              <a:t>Balayage à 16 centres : zone utile sigma 4–5. Étape suivante : augmenter puis répartir les centres.</a:t>
            </a:r>
          </a:p>
        </p:txBody>
      </p:sp>
      <p:sp>
        <p:nvSpPr>
          <p:cNvPr id="442" name="Google Shape;442;p42">
            <a:extLst xmlns:a="http://schemas.openxmlformats.org/drawingml/2006/main">
              <a:ext uri="{FF2B5EF4-FFF2-40B4-BE49-F238E27FC236}">
                <a16:creationId xmlns:a16="http://schemas.microsoft.com/office/drawing/2014/main" id="{CD0F1035-C511-4652-857A-CF150DAD3528}"/>
              </a:ext>
            </a:extLst>
          </p:cNvPr>
          <p:cNvSpPr>
            <a:spLocks xmlns:a="http://schemas.openxmlformats.org/drawingml/2006/main" noGrp="1"/>
          </p:cNvSpPr>
          <p:nvPr/>
        </p:nvSpPr>
        <p:spPr>
          <a:xfrm xmlns:a="http://schemas.openxmlformats.org/drawingml/2006/main">
            <a:off x="723900" y="4810125"/>
            <a:ext cx="72390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l">
              <a:spcBef>
                <a:spcPts val="0"/>
              </a:spcBef>
              <a:spcAft>
                <a:spcPts val="0"/>
              </a:spcAft>
              <a:buNone/>
            </a:pPr>
            <a:r>
              <a:rPr sz="863">
                <a:solidFill>
                  <a:srgbClr val="6B747A"/>
                </a:solidFill>
                <a:latin typeface="Lato"/>
                <a:ea typeface="Lato"/>
                <a:cs typeface="Lato"/>
              </a:rPr>
              <a:t>Sources : rapports tuning RBF — sélection-train n = 1 186 — validation n = 296</a:t>
            </a:r>
          </a:p>
        </p:txBody>
      </p:sp>
    </p:spTree>
    <p:extLst>
      <p:ext uri="{BB962C8B-B14F-4D97-AF65-F5344CB8AC3E}">
        <p14:creationId xmlns:p14="http://schemas.microsoft.com/office/powerpoint/2010/main" val="205281943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48" name="Google Shape;448;p43">
            <a:extLst xmlns:a="http://schemas.openxmlformats.org/drawingml/2006/main">
              <a:ext uri="{FF2B5EF4-FFF2-40B4-BE49-F238E27FC236}">
                <a16:creationId xmlns:a16="http://schemas.microsoft.com/office/drawing/2014/main" id="{86E11599-5CDD-414D-9AA5-D4C5F94446EB}"/>
              </a:ext>
            </a:extLst>
          </p:cNvPr>
          <p:cNvSpPr>
            <a:spLocks xmlns:a="http://schemas.openxmlformats.org/drawingml/2006/main" noGrp="1"/>
          </p:cNvSpPr>
          <p:nvPr/>
        </p:nvSpPr>
        <p:spPr>
          <a:xfrm xmlns:a="http://schemas.openxmlformats.org/drawingml/2006/main">
            <a:off x="628650" y="1857375"/>
            <a:ext cx="3857700" cy="2428800"/>
          </a:xfrm>
          <a:prstGeom xmlns:a="http://schemas.openxmlformats.org/drawingml/2006/main" prst="roundRect">
            <a:avLst>
              <a:gd name="adj" fmla="val 4705"/>
            </a:avLst>
          </a:prstGeom>
          <a:solidFill xmlns:a="http://schemas.openxmlformats.org/drawingml/2006/main">
            <a:srgbClr val="F8FAFC"/>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9" name="Google Shape;449;p43">
            <a:extLst xmlns:a="http://schemas.openxmlformats.org/drawingml/2006/main">
              <a:ext uri="{FF2B5EF4-FFF2-40B4-BE49-F238E27FC236}">
                <a16:creationId xmlns:a16="http://schemas.microsoft.com/office/drawing/2014/main" id="{CEB22042-DF30-48B1-9C56-115E10DBF34E}"/>
              </a:ext>
            </a:extLst>
          </p:cNvPr>
          <p:cNvSpPr>
            <a:spLocks xmlns:a="http://schemas.openxmlformats.org/drawingml/2006/main" noGrp="1"/>
          </p:cNvSpPr>
          <p:nvPr/>
        </p:nvSpPr>
        <p:spPr>
          <a:xfrm xmlns:a="http://schemas.openxmlformats.org/drawingml/2006/main">
            <a:off x="4657725" y="1857375"/>
            <a:ext cx="3857700" cy="2428800"/>
          </a:xfrm>
          <a:prstGeom xmlns:a="http://schemas.openxmlformats.org/drawingml/2006/main" prst="roundRect">
            <a:avLst>
              <a:gd name="adj" fmla="val 4705"/>
            </a:avLst>
          </a:prstGeom>
          <a:solidFill xmlns:a="http://schemas.openxmlformats.org/drawingml/2006/main">
            <a:srgbClr val="F8FAFC"/>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0" name="Google Shape;450;p43">
            <a:extLst xmlns:a="http://schemas.openxmlformats.org/drawingml/2006/main">
              <a:ext uri="{FF2B5EF4-FFF2-40B4-BE49-F238E27FC236}">
                <a16:creationId xmlns:a16="http://schemas.microsoft.com/office/drawing/2014/main" id="{10CB7B20-820C-4F5A-BC90-AF66D7EF4DAA}"/>
              </a:ext>
            </a:extLst>
          </p:cNvPr>
          <p:cNvSpPr>
            <a:spLocks xmlns:a="http://schemas.openxmlformats.org/drawingml/2006/main" noGrp="1"/>
          </p:cNvSpPr>
          <p:nvPr/>
        </p:nvSpPr>
        <p:spPr>
          <a:xfrm xmlns:a="http://schemas.openxmlformats.org/drawingml/2006/main">
            <a:off x="628650" y="1924050"/>
            <a:ext cx="38577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300" b="1">
                <a:solidFill>
                  <a:srgbClr val="475569"/>
                </a:solidFill>
                <a:latin typeface="Raleway"/>
                <a:ea typeface="Raleway"/>
                <a:cs typeface="Raleway"/>
              </a:rPr>
              <a:t>v1 — 16 centres, sigma 1</a:t>
            </a:r>
          </a:p>
        </p:txBody>
      </p:sp>
      <p:sp>
        <p:nvSpPr>
          <p:cNvPr id="451" name="Google Shape;451;p43">
            <a:extLst xmlns:a="http://schemas.openxmlformats.org/drawingml/2006/main">
              <a:ext uri="{FF2B5EF4-FFF2-40B4-BE49-F238E27FC236}">
                <a16:creationId xmlns:a16="http://schemas.microsoft.com/office/drawing/2014/main" id="{1EADD2DE-4ADE-4B99-ADF7-B92413B32896}"/>
              </a:ext>
            </a:extLst>
          </p:cNvPr>
          <p:cNvSpPr>
            <a:spLocks xmlns:a="http://schemas.openxmlformats.org/drawingml/2006/main" noGrp="1"/>
          </p:cNvSpPr>
          <p:nvPr/>
        </p:nvSpPr>
        <p:spPr>
          <a:xfrm xmlns:a="http://schemas.openxmlformats.org/drawingml/2006/main">
            <a:off x="4657725" y="1924050"/>
            <a:ext cx="38577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300" b="1">
                <a:solidFill>
                  <a:srgbClr val="EB5600"/>
                </a:solidFill>
                <a:latin typeface="Raleway"/>
                <a:ea typeface="Raleway"/>
                <a:cs typeface="Raleway"/>
              </a:rPr>
              <a:t>v2 — 96 centres répartis, sigma 5</a:t>
            </a:r>
          </a:p>
        </p:txBody>
      </p:sp>
      <p:pic>
        <p:nvPicPr>
          <p:cNvPr id="463" name="Google Shape;452;p43"/>
          <p:cNvPicPr>
            <a:picLocks xmlns:a="http://schemas.openxmlformats.org/drawingml/2006/main" noChangeAspect="1"/>
          </p:cNvPicPr>
          <p:nvPr/>
        </p:nvPicPr>
        <p:blipFill rotWithShape="1">
          <a:blip xmlns:r="http://schemas.openxmlformats.org/officeDocument/2006/relationships" xmlns:a="http://schemas.openxmlformats.org/drawingml/2006/main" r:embed="Rae5ae5b384ba42ce">
            <a:alphaModFix/>
          </a:blip>
          <a:srcRect xmlns:a="http://schemas.openxmlformats.org/drawingml/2006/main" l="0" t="4527" r="0" b="4926"/>
          <a:stretch xmlns:a="http://schemas.openxmlformats.org/drawingml/2006/main"/>
        </p:blipFill>
        <p:spPr>
          <a:xfrm xmlns:a="http://schemas.openxmlformats.org/drawingml/2006/main">
            <a:off x="1276350" y="2209800"/>
            <a:ext cx="2552700" cy="2000100"/>
          </a:xfrm>
          <a:prstGeom xmlns:a="http://schemas.openxmlformats.org/drawingml/2006/main" prst="rect">
            <a:avLst/>
          </a:prstGeom>
          <a:ln xmlns:a="http://schemas.openxmlformats.org/drawingml/2006/main">
            <a:noFill/>
          </a:ln>
        </p:spPr>
      </p:pic>
      <p:pic>
        <p:nvPicPr>
          <p:cNvPr id="464" name="Google Shape;453;p43"/>
          <p:cNvPicPr>
            <a:picLocks xmlns:a="http://schemas.openxmlformats.org/drawingml/2006/main" noChangeAspect="1"/>
          </p:cNvPicPr>
          <p:nvPr/>
        </p:nvPicPr>
        <p:blipFill rotWithShape="1">
          <a:blip xmlns:r="http://schemas.openxmlformats.org/officeDocument/2006/relationships" xmlns:a="http://schemas.openxmlformats.org/drawingml/2006/main" r:embed="R516de380fdf9449d">
            <a:alphaModFix/>
          </a:blip>
          <a:srcRect xmlns:a="http://schemas.openxmlformats.org/drawingml/2006/main" l="0" t="4527" r="0" b="4926"/>
          <a:stretch xmlns:a="http://schemas.openxmlformats.org/drawingml/2006/main"/>
        </p:blipFill>
        <p:spPr>
          <a:xfrm xmlns:a="http://schemas.openxmlformats.org/drawingml/2006/main">
            <a:off x="5305425" y="2209800"/>
            <a:ext cx="2552700" cy="2000100"/>
          </a:xfrm>
          <a:prstGeom xmlns:a="http://schemas.openxmlformats.org/drawingml/2006/main" prst="rect">
            <a:avLst/>
          </a:prstGeom>
          <a:ln xmlns:a="http://schemas.openxmlformats.org/drawingml/2006/main">
            <a:noFill/>
          </a:ln>
        </p:spPr>
      </p:pic>
      <p:sp>
        <p:nvSpPr>
          <p:cNvPr id="454" name="Google Shape;454;p43">
            <a:extLst xmlns:a="http://schemas.openxmlformats.org/drawingml/2006/main">
              <a:ext uri="{FF2B5EF4-FFF2-40B4-BE49-F238E27FC236}">
                <a16:creationId xmlns:a16="http://schemas.microsoft.com/office/drawing/2014/main" id="{E227DBEA-1C38-492C-AA2C-558E9BC0BCA5}"/>
              </a:ext>
            </a:extLst>
          </p:cNvPr>
          <p:cNvSpPr>
            <a:spLocks xmlns:a="http://schemas.openxmlformats.org/drawingml/2006/main" noGrp="1"/>
          </p:cNvSpPr>
          <p:nvPr/>
        </p:nvSpPr>
        <p:spPr>
          <a:xfrm xmlns:a="http://schemas.openxmlformats.org/drawingml/2006/main">
            <a:off x="628650" y="4362450"/>
            <a:ext cx="7886700" cy="438300"/>
          </a:xfrm>
          <a:prstGeom xmlns:a="http://schemas.openxmlformats.org/drawingml/2006/main" prst="roundRect">
            <a:avLst>
              <a:gd name="adj" fmla="val 17391"/>
            </a:avLst>
          </a:prstGeom>
          <a:solidFill xmlns:a="http://schemas.openxmlformats.org/drawingml/2006/main">
            <a:srgbClr val="FFF5F0"/>
          </a:solidFill>
          <a:ln xmlns:a="http://schemas.openxmlformats.org/drawingml/2006/main" w="14300" cmpd="sng">
            <a:solidFill>
              <a:srgbClr val="FFD8C2"/>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5" name="Google Shape;455;p43">
            <a:extLst xmlns:a="http://schemas.openxmlformats.org/drawingml/2006/main">
              <a:ext uri="{FF2B5EF4-FFF2-40B4-BE49-F238E27FC236}">
                <a16:creationId xmlns:a16="http://schemas.microsoft.com/office/drawing/2014/main" id="{95775844-5056-41B0-88B4-0251DFC824EB}"/>
              </a:ext>
            </a:extLst>
          </p:cNvPr>
          <p:cNvSpPr>
            <a:spLocks xmlns:a="http://schemas.openxmlformats.org/drawingml/2006/main" noGrp="1"/>
          </p:cNvSpPr>
          <p:nvPr/>
        </p:nvSpPr>
        <p:spPr>
          <a:xfrm xmlns:a="http://schemas.openxmlformats.org/drawingml/2006/main">
            <a:off x="723900" y="4362450"/>
            <a:ext cx="7696200" cy="438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200" b="1">
                <a:solidFill>
                  <a:srgbClr val="D93B00"/>
                </a:solidFill>
                <a:latin typeface="Lato"/>
                <a:ea typeface="Lato"/>
                <a:cs typeface="Lato"/>
              </a:rPr>
              <a:t>Test : </a:t>
            </a:r>
            <a:r>
              <a:rPr sz="1300" b="1">
                <a:solidFill>
                  <a:srgbClr val="EB5600"/>
                </a:solidFill>
                <a:latin typeface="Lato"/>
                <a:ea typeface="Lato"/>
                <a:cs typeface="Lato"/>
              </a:rPr>
              <a:t>32,16 % → 51,89 %</a:t>
            </a:r>
            <a:r>
              <a:rPr sz="1200" b="1">
                <a:solidFill>
                  <a:srgbClr val="D93B00"/>
                </a:solidFill>
                <a:latin typeface="Lato"/>
                <a:ea typeface="Lato"/>
                <a:cs typeface="Lato"/>
              </a:rPr>
              <a:t> · Balanced accuracy : </a:t>
            </a:r>
            <a:r>
              <a:rPr sz="1300" b="1">
                <a:solidFill>
                  <a:srgbClr val="EB5600"/>
                </a:solidFill>
                <a:latin typeface="Lato"/>
                <a:ea typeface="Lato"/>
                <a:cs typeface="Lato"/>
              </a:rPr>
              <a:t>33,33 % → 49,20 %</a:t>
            </a:r>
          </a:p>
        </p:txBody>
      </p:sp>
      <p:sp>
        <p:nvSpPr>
          <p:cNvPr id="456" name="Google Shape;456;p43">
            <a:extLst xmlns:a="http://schemas.openxmlformats.org/drawingml/2006/main">
              <a:ext uri="{FF2B5EF4-FFF2-40B4-BE49-F238E27FC236}">
                <a16:creationId xmlns:a16="http://schemas.microsoft.com/office/drawing/2014/main" id="{0ABB41F5-292A-48CC-93B0-AE2ECD26DAEB}"/>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Clr>
                <a:srgbClr val="000000"/>
              </a:buClr>
              <a:buFont typeface="Arial"/>
              <a:buNone/>
            </a:pPr>
            <a:r>
              <a:t>RBF v2 ne prédit plus une seule classe</a:t>
            </a:r>
          </a:p>
        </p:txBody>
      </p:sp>
    </p:spTree>
    <p:extLst>
      <p:ext uri="{BB962C8B-B14F-4D97-AF65-F5344CB8AC3E}">
        <p14:creationId xmlns:p14="http://schemas.microsoft.com/office/powerpoint/2010/main" val="137058510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62" name="Google Shape;462;p44">
            <a:extLst xmlns:a="http://schemas.openxmlformats.org/drawingml/2006/main">
              <a:ext uri="{FF2B5EF4-FFF2-40B4-BE49-F238E27FC236}">
                <a16:creationId xmlns:a16="http://schemas.microsoft.com/office/drawing/2014/main" id="{22B72DFD-3C1B-461C-BD66-440FE94CD53E}"/>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lnSpc>
                <a:spcPct val="100000"/>
              </a:lnSpc>
              <a:spcBef>
                <a:spcPts val="0"/>
              </a:spcBef>
              <a:spcAft>
                <a:spcPts val="0"/>
              </a:spcAft>
              <a:buSzPct val="112466"/>
              <a:buNone/>
            </a:pPr>
            <a:r>
              <a:rPr sz="2600" b="1">
                <a:solidFill>
                  <a:srgbClr val="1A1A1A"/>
                </a:solidFill>
                <a:latin typeface="Raleway"/>
                <a:ea typeface="Raleway"/>
                <a:cs typeface="Raleway"/>
              </a:rPr>
              <a:t>MLP v2 obtient la meilleure accuracy test</a:t>
            </a:r>
          </a:p>
        </p:txBody>
      </p:sp>
      <p:pic>
        <p:nvPicPr>
          <p:cNvPr id="468" name="Google Shape;463;p44"/>
          <p:cNvPicPr>
            <a:picLocks xmlns:a="http://schemas.openxmlformats.org/drawingml/2006/main" noChangeAspect="1"/>
          </p:cNvPicPr>
          <p:nvPr/>
        </p:nvPicPr>
        <p:blipFill rotWithShape="1">
          <a:blip xmlns:r="http://schemas.openxmlformats.org/officeDocument/2006/relationships" xmlns:a="http://schemas.openxmlformats.org/drawingml/2006/main" r:embed="R7a5b81e5d86a44f9">
            <a:alphaModFix/>
          </a:blip>
          <a:srcRect xmlns:a="http://schemas.openxmlformats.org/drawingml/2006/main" l="0" t="0" r="0" b="0"/>
          <a:stretch xmlns:a="http://schemas.openxmlformats.org/drawingml/2006/main"/>
        </p:blipFill>
        <p:spPr>
          <a:xfrm xmlns:a="http://schemas.openxmlformats.org/drawingml/2006/main">
            <a:off x="742950" y="1952625"/>
            <a:ext cx="7677300" cy="2428800"/>
          </a:xfrm>
          <a:prstGeom xmlns:a="http://schemas.openxmlformats.org/drawingml/2006/main" prst="rect">
            <a:avLst/>
          </a:prstGeom>
          <a:ln xmlns:a="http://schemas.openxmlformats.org/drawingml/2006/main">
            <a:noFill/>
          </a:ln>
        </p:spPr>
      </p:pic>
      <p:sp>
        <p:nvSpPr>
          <p:cNvPr id="464" name="Google Shape;464;p44">
            <a:extLst xmlns:a="http://schemas.openxmlformats.org/drawingml/2006/main">
              <a:ext uri="{FF2B5EF4-FFF2-40B4-BE49-F238E27FC236}">
                <a16:creationId xmlns:a16="http://schemas.microsoft.com/office/drawing/2014/main" id="{D0F82072-36F5-4C0F-A43B-BF9817074D20}"/>
              </a:ext>
            </a:extLst>
          </p:cNvPr>
          <p:cNvSpPr>
            <a:spLocks xmlns:a="http://schemas.openxmlformats.org/drawingml/2006/main" noGrp="1"/>
          </p:cNvSpPr>
          <p:nvPr/>
        </p:nvSpPr>
        <p:spPr>
          <a:xfrm xmlns:a="http://schemas.openxmlformats.org/drawingml/2006/main">
            <a:off x="1047750" y="4343400"/>
            <a:ext cx="66675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ctr">
              <a:spcBef>
                <a:spcPts val="0"/>
              </a:spcBef>
              <a:spcAft>
                <a:spcPts val="0"/>
              </a:spcAft>
              <a:buNone/>
            </a:pPr>
            <a:r>
              <a:rPr sz="1088" b="1">
                <a:solidFill>
                  <a:srgbClr val="EB5600"/>
                </a:solidFill>
                <a:latin typeface="Lato"/>
                <a:ea typeface="Lato"/>
                <a:cs typeface="Lato"/>
              </a:rPr>
              <a:t>Limite importante : le rappel Art déco du MLP v2 n'est que de 27,10 %.</a:t>
            </a:r>
          </a:p>
        </p:txBody>
      </p:sp>
      <p:sp>
        <p:nvSpPr>
          <p:cNvPr id="465" name="Google Shape;465;p44">
            <a:extLst xmlns:a="http://schemas.openxmlformats.org/drawingml/2006/main">
              <a:ext uri="{FF2B5EF4-FFF2-40B4-BE49-F238E27FC236}">
                <a16:creationId xmlns:a16="http://schemas.microsoft.com/office/drawing/2014/main" id="{E605F556-0CE1-46F8-8EB0-D51750ACD5E7}"/>
              </a:ext>
            </a:extLst>
          </p:cNvPr>
          <p:cNvSpPr>
            <a:spLocks xmlns:a="http://schemas.openxmlformats.org/drawingml/2006/main" noGrp="1"/>
          </p:cNvSpPr>
          <p:nvPr/>
        </p:nvSpPr>
        <p:spPr>
          <a:xfrm xmlns:a="http://schemas.openxmlformats.org/drawingml/2006/main">
            <a:off x="723900" y="4572000"/>
            <a:ext cx="72390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indent="0" algn="l">
              <a:spcBef>
                <a:spcPts val="0"/>
              </a:spcBef>
              <a:spcAft>
                <a:spcPts val="0"/>
              </a:spcAft>
              <a:buNone/>
            </a:pPr>
            <a:r>
              <a:rPr sz="863">
                <a:solidFill>
                  <a:srgbClr val="6B747A"/>
                </a:solidFill>
                <a:latin typeface="Lato"/>
                <a:ea typeface="Lato"/>
                <a:cs typeface="Lato"/>
              </a:rPr>
              <a:t>Sources : rapports JSON — seed 42 — test final n = 370</a:t>
            </a:r>
          </a:p>
        </p:txBody>
      </p:sp>
    </p:spTree>
    <p:extLst>
      <p:ext uri="{BB962C8B-B14F-4D97-AF65-F5344CB8AC3E}">
        <p14:creationId xmlns:p14="http://schemas.microsoft.com/office/powerpoint/2010/main" val="144733490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477" name="Google Shape;471;p45"/>
          <p:cNvPicPr>
            <a:picLocks xmlns:a="http://schemas.openxmlformats.org/drawingml/2006/main" noChangeAspect="1"/>
          </p:cNvPicPr>
          <p:nvPr/>
        </p:nvPicPr>
        <p:blipFill rotWithShape="1">
          <a:blip xmlns:r="http://schemas.openxmlformats.org/officeDocument/2006/relationships" xmlns:a="http://schemas.openxmlformats.org/drawingml/2006/main" r:embed="R479ca33b8a27462d">
            <a:alphaModFix/>
          </a:blip>
          <a:srcRect xmlns:a="http://schemas.openxmlformats.org/drawingml/2006/main" l="130" t="0" r="120" b="0"/>
          <a:stretch xmlns:a="http://schemas.openxmlformats.org/drawingml/2006/main"/>
        </p:blipFill>
        <p:spPr>
          <a:xfrm xmlns:a="http://schemas.openxmlformats.org/drawingml/2006/main">
            <a:off x="952500" y="1714500"/>
            <a:ext cx="7239000" cy="2286000"/>
          </a:xfrm>
          <a:prstGeom xmlns:a="http://schemas.openxmlformats.org/drawingml/2006/main" prst="rect">
            <a:avLst/>
          </a:prstGeom>
          <a:ln xmlns:a="http://schemas.openxmlformats.org/drawingml/2006/main">
            <a:noFill/>
          </a:ln>
        </p:spPr>
      </p:pic>
      <p:sp>
        <p:nvSpPr>
          <p:cNvPr id="472" name="Google Shape;472;p45">
            <a:extLst xmlns:a="http://schemas.openxmlformats.org/drawingml/2006/main">
              <a:ext uri="{FF2B5EF4-FFF2-40B4-BE49-F238E27FC236}">
                <a16:creationId xmlns:a16="http://schemas.microsoft.com/office/drawing/2014/main" id="{ADA5D0BF-039A-4AE5-8CD6-F62B766BB755}"/>
              </a:ext>
            </a:extLst>
          </p:cNvPr>
          <p:cNvSpPr>
            <a:spLocks xmlns:a="http://schemas.openxmlformats.org/drawingml/2006/main" noGrp="1"/>
          </p:cNvSpPr>
          <p:nvPr/>
        </p:nvSpPr>
        <p:spPr>
          <a:xfrm xmlns:a="http://schemas.openxmlformats.org/drawingml/2006/main">
            <a:off x="952500" y="4143375"/>
            <a:ext cx="7239000" cy="438300"/>
          </a:xfrm>
          <a:prstGeom xmlns:a="http://schemas.openxmlformats.org/drawingml/2006/main" prst="roundRect">
            <a:avLst>
              <a:gd name="adj" fmla="val 17391"/>
            </a:avLst>
          </a:prstGeom>
          <a:solidFill xmlns:a="http://schemas.openxmlformats.org/drawingml/2006/main">
            <a:srgbClr val="FFF5F0"/>
          </a:solidFill>
          <a:ln xmlns:a="http://schemas.openxmlformats.org/drawingml/2006/main" w="14300" cmpd="sng">
            <a:solidFill>
              <a:srgbClr val="FFD8C2"/>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3" name="Google Shape;473;p45">
            <a:extLst xmlns:a="http://schemas.openxmlformats.org/drawingml/2006/main">
              <a:ext uri="{FF2B5EF4-FFF2-40B4-BE49-F238E27FC236}">
                <a16:creationId xmlns:a16="http://schemas.microsoft.com/office/drawing/2014/main" id="{8F04EC86-35EC-44B2-A29F-37FDD66D8911}"/>
              </a:ext>
            </a:extLst>
          </p:cNvPr>
          <p:cNvSpPr>
            <a:spLocks xmlns:a="http://schemas.openxmlformats.org/drawingml/2006/main" noGrp="1"/>
          </p:cNvSpPr>
          <p:nvPr/>
        </p:nvSpPr>
        <p:spPr>
          <a:xfrm xmlns:a="http://schemas.openxmlformats.org/drawingml/2006/main">
            <a:off x="1047750" y="4143375"/>
            <a:ext cx="7048500" cy="438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ctr">
              <a:spcBef>
                <a:spcPts val="0"/>
              </a:spcBef>
              <a:spcAft>
                <a:spcPts val="0"/>
              </a:spcAft>
              <a:buNone/>
            </a:pPr>
            <a:r>
              <a:rPr sz="1100" b="1">
                <a:solidFill>
                  <a:srgbClr val="D93B00"/>
                </a:solidFill>
                <a:latin typeface="Lato"/>
                <a:ea typeface="Lato"/>
                <a:cs typeface="Lato"/>
              </a:rPr>
              <a:t>Points jamais vus + sauvegarde/rechargement. </a:t>
            </a:r>
            <a:r>
              <a:rPr sz="1100" b="1">
                <a:solidFill>
                  <a:srgbClr val="EB5600"/>
                </a:solidFill>
                <a:latin typeface="Lato"/>
                <a:ea typeface="Lato"/>
                <a:cs typeface="Lato"/>
              </a:rPr>
              <a:t>Ces tests ne remplacent pas le test réel à 56,76 %.</a:t>
            </a:r>
          </a:p>
        </p:txBody>
      </p:sp>
      <p:sp>
        <p:nvSpPr>
          <p:cNvPr id="474" name="Google Shape;474;p45">
            <a:extLst xmlns:a="http://schemas.openxmlformats.org/drawingml/2006/main">
              <a:ext uri="{FF2B5EF4-FFF2-40B4-BE49-F238E27FC236}">
                <a16:creationId xmlns:a16="http://schemas.microsoft.com/office/drawing/2014/main" id="{67A4D475-463E-4DF2-A1E0-064C6D7D2F73}"/>
              </a:ext>
            </a:extLst>
          </p:cNvPr>
          <p:cNvSpPr>
            <a:spLocks xmlns:a="http://schemas.openxmlformats.org/drawingml/2006/main" noGrp="1"/>
          </p:cNvSpPr>
          <p:nvPr/>
        </p:nvSpPr>
        <p:spPr>
          <a:xfrm xmlns:a="http://schemas.openxmlformats.org/drawingml/2006/main">
            <a:off x="952500" y="4686300"/>
            <a:ext cx="7239000" cy="1716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850" b="0">
                <a:solidFill>
                  <a:srgbClr val="6B747A"/>
                </a:solidFill>
                <a:latin typeface="Lato"/>
                <a:ea typeface="Lato"/>
                <a:cs typeface="Lato"/>
              </a:rPr>
              <a:t>Source : demo.exe --tests après séparation des données d'entraînement et de test</a:t>
            </a:r>
          </a:p>
        </p:txBody>
      </p:sp>
      <p:sp>
        <p:nvSpPr>
          <p:cNvPr id="475" name="Google Shape;475;p45">
            <a:extLst xmlns:a="http://schemas.openxmlformats.org/drawingml/2006/main">
              <a:ext uri="{FF2B5EF4-FFF2-40B4-BE49-F238E27FC236}">
                <a16:creationId xmlns:a16="http://schemas.microsoft.com/office/drawing/2014/main" id="{034F318C-31DF-4C36-8CAA-82F35C341F00}"/>
              </a:ext>
            </a:extLst>
          </p:cNvPr>
          <p:cNvSpPr>
            <a:spLocks xmlns:a="http://schemas.openxmlformats.org/drawingml/2006/main" noGrp="1"/>
          </p:cNvSpPr>
          <p:nvPr/>
        </p:nvSpPr>
        <p:spPr>
          <a:xfrm xmlns:a="http://schemas.openxmlformats.org/drawingml/2006/main">
            <a:off x="727650" y="1190625"/>
            <a:ext cx="7688700" cy="535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1">
                <a:solidFill>
                  <a:srgbClr val="1A1A1A"/>
                </a:solidFill>
                <a:latin typeface="Raleway"/>
                <a:ea typeface="Raleway"/>
                <a:cs typeface="Raleway"/>
              </a:rPr>
              <a:t>Les tests synthétiques vérifient les comportements</a:t>
            </a:r>
          </a:p>
        </p:txBody>
      </p:sp>
    </p:spTree>
    <p:extLst>
      <p:ext uri="{BB962C8B-B14F-4D97-AF65-F5344CB8AC3E}">
        <p14:creationId xmlns:p14="http://schemas.microsoft.com/office/powerpoint/2010/main" val="136910122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81" name="Google Shape;481;p46">
            <a:extLst xmlns:a="http://schemas.openxmlformats.org/drawingml/2006/main">
              <a:ext uri="{FF2B5EF4-FFF2-40B4-BE49-F238E27FC236}">
                <a16:creationId xmlns:a16="http://schemas.microsoft.com/office/drawing/2014/main" id="{344F38E0-9228-4D99-AF9B-49EB5CCB55BC}"/>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3" name="Google Shape;483;p46">
            <a:extLst xmlns:a="http://schemas.openxmlformats.org/drawingml/2006/main">
              <a:ext uri="{FF2B5EF4-FFF2-40B4-BE49-F238E27FC236}">
                <a16:creationId xmlns:a16="http://schemas.microsoft.com/office/drawing/2014/main" id="{349A1A47-744D-4446-93DB-8F853481C368}"/>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4" name="Google Shape;484;p46">
            <a:extLst xmlns:a="http://schemas.openxmlformats.org/drawingml/2006/main">
              <a:ext uri="{FF2B5EF4-FFF2-40B4-BE49-F238E27FC236}">
                <a16:creationId xmlns:a16="http://schemas.microsoft.com/office/drawing/2014/main" id="{54FE8227-347B-4400-93C1-389718357285}"/>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5" name="Google Shape;485;p46">
            <a:extLst xmlns:a="http://schemas.openxmlformats.org/drawingml/2006/main">
              <a:ext uri="{FF2B5EF4-FFF2-40B4-BE49-F238E27FC236}">
                <a16:creationId xmlns:a16="http://schemas.microsoft.com/office/drawing/2014/main" id="{5B1FFA01-F8C3-4879-B338-DA8700E5DEFC}"/>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lnSpc>
                <a:spcPct val="100000"/>
              </a:lnSpc>
              <a:spcBef>
                <a:spcPts val="0"/>
              </a:spcBef>
              <a:spcAft>
                <a:spcPts val="0"/>
              </a:spcAft>
              <a:buSzPct val="112466"/>
              <a:buNone/>
            </a:pPr>
            <a:r>
              <a:rPr sz="2600" b="1">
                <a:solidFill>
                  <a:srgbClr val="1A1A1A"/>
                </a:solidFill>
                <a:latin typeface="Raleway"/>
                <a:ea typeface="Raleway"/>
                <a:cs typeface="Raleway"/>
              </a:rPr>
              <a:t>Un pipeline complet, mesuré et perfectible</a:t>
            </a:r>
          </a:p>
        </p:txBody>
      </p:sp>
      <p:sp>
        <p:nvSpPr>
          <p:cNvPr id="486" name="Google Shape;486;p46">
            <a:extLst xmlns:a="http://schemas.openxmlformats.org/drawingml/2006/main">
              <a:ext uri="{FF2B5EF4-FFF2-40B4-BE49-F238E27FC236}">
                <a16:creationId xmlns:a16="http://schemas.microsoft.com/office/drawing/2014/main" id="{50A9D1C6-9FE9-4DE5-B273-2E3F34280424}"/>
              </a:ext>
            </a:extLst>
          </p:cNvPr>
          <p:cNvSpPr>
            <a:spLocks xmlns:a="http://schemas.openxmlformats.org/drawingml/2006/main" noGrp="1"/>
          </p:cNvSpPr>
          <p:nvPr/>
        </p:nvSpPr>
        <p:spPr>
          <a:xfrm xmlns:a="http://schemas.openxmlformats.org/drawingml/2006/main">
            <a:off x="723900"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7" name="Google Shape;487;p46">
            <a:extLst xmlns:a="http://schemas.openxmlformats.org/drawingml/2006/main">
              <a:ext uri="{FF2B5EF4-FFF2-40B4-BE49-F238E27FC236}">
                <a16:creationId xmlns:a16="http://schemas.microsoft.com/office/drawing/2014/main" id="{04EB66C6-73E2-4B7F-8392-FFFF14FC5C9E}"/>
              </a:ext>
            </a:extLst>
          </p:cNvPr>
          <p:cNvSpPr>
            <a:spLocks xmlns:a="http://schemas.openxmlformats.org/drawingml/2006/main" noGrp="1"/>
          </p:cNvSpPr>
          <p:nvPr/>
        </p:nvSpPr>
        <p:spPr>
          <a:xfrm xmlns:a="http://schemas.openxmlformats.org/drawingml/2006/main">
            <a:off x="3381375"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8" name="Google Shape;488;p46">
            <a:extLst xmlns:a="http://schemas.openxmlformats.org/drawingml/2006/main">
              <a:ext uri="{FF2B5EF4-FFF2-40B4-BE49-F238E27FC236}">
                <a16:creationId xmlns:a16="http://schemas.microsoft.com/office/drawing/2014/main" id="{E5E0D391-EF8B-4CD1-9C2A-3A0BCF23B5C4}"/>
              </a:ext>
            </a:extLst>
          </p:cNvPr>
          <p:cNvSpPr>
            <a:spLocks xmlns:a="http://schemas.openxmlformats.org/drawingml/2006/main" noGrp="1"/>
          </p:cNvSpPr>
          <p:nvPr/>
        </p:nvSpPr>
        <p:spPr>
          <a:xfrm xmlns:a="http://schemas.openxmlformats.org/drawingml/2006/main">
            <a:off x="6038850"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9" name="Google Shape;489;p46">
            <a:extLst xmlns:a="http://schemas.openxmlformats.org/drawingml/2006/main">
              <a:ext uri="{FF2B5EF4-FFF2-40B4-BE49-F238E27FC236}">
                <a16:creationId xmlns:a16="http://schemas.microsoft.com/office/drawing/2014/main" id="{6BF6179A-24BE-44C7-83B5-77FC9009E3F2}"/>
              </a:ext>
            </a:extLst>
          </p:cNvPr>
          <p:cNvSpPr>
            <a:spLocks xmlns:a="http://schemas.openxmlformats.org/drawingml/2006/main" noGrp="1"/>
          </p:cNvSpPr>
          <p:nvPr/>
        </p:nvSpPr>
        <p:spPr>
          <a:xfrm xmlns:a="http://schemas.openxmlformats.org/drawingml/2006/main">
            <a:off x="876300" y="224790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emoji_events</a:t>
            </a:r>
          </a:p>
          <a:p xmlns:a="http://schemas.openxmlformats.org/drawingml/2006/main">
            <a:pPr marL="0" indent="0" algn="l">
              <a:spcBef>
                <a:spcPts val="600"/>
              </a:spcBef>
              <a:spcAft>
                <a:spcPts val="0"/>
              </a:spcAft>
              <a:buNone/>
            </a:pPr>
            <a:r>
              <a:rPr sz="1800" b="1">
                <a:solidFill>
                  <a:srgbClr val="EB5600"/>
                </a:solidFill>
                <a:latin typeface="Raleway"/>
                <a:ea typeface="Raleway"/>
                <a:cs typeface="Raleway"/>
              </a:rPr>
              <a:t>56,76 %</a:t>
            </a:r>
          </a:p>
          <a:p xmlns:a="http://schemas.openxmlformats.org/drawingml/2006/main">
            <a:pPr marL="0" indent="0" algn="l">
              <a:spcBef>
                <a:spcPts val="300"/>
              </a:spcBef>
              <a:spcAft>
                <a:spcPts val="0"/>
              </a:spcAft>
              <a:buNone/>
            </a:pPr>
            <a:r>
              <a:rPr sz="1200" b="1">
                <a:solidFill>
                  <a:srgbClr val="1A1A1A"/>
                </a:solidFill>
                <a:latin typeface="Raleway"/>
                <a:ea typeface="Raleway"/>
                <a:cs typeface="Raleway"/>
              </a:rPr>
              <a:t>Meilleure accuracy test</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Score maximal atteint par la configuration MLP v2 lors des phases de test.</a:t>
            </a:r>
          </a:p>
        </p:txBody>
      </p:sp>
      <p:sp>
        <p:nvSpPr>
          <p:cNvPr id="490" name="Google Shape;490;p46">
            <a:extLst xmlns:a="http://schemas.openxmlformats.org/drawingml/2006/main">
              <a:ext uri="{FF2B5EF4-FFF2-40B4-BE49-F238E27FC236}">
                <a16:creationId xmlns:a16="http://schemas.microsoft.com/office/drawing/2014/main" id="{B54B34B0-9387-4505-A17D-9747F38EABBE}"/>
              </a:ext>
            </a:extLst>
          </p:cNvPr>
          <p:cNvSpPr>
            <a:spLocks xmlns:a="http://schemas.openxmlformats.org/drawingml/2006/main" noGrp="1"/>
          </p:cNvSpPr>
          <p:nvPr/>
        </p:nvSpPr>
        <p:spPr>
          <a:xfrm xmlns:a="http://schemas.openxmlformats.org/drawingml/2006/main">
            <a:off x="3533775" y="224790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check_circle</a:t>
            </a:r>
          </a:p>
          <a:p xmlns:a="http://schemas.openxmlformats.org/drawingml/2006/main">
            <a:pPr marL="0" indent="0" algn="l">
              <a:spcBef>
                <a:spcPts val="600"/>
              </a:spcBef>
              <a:spcAft>
                <a:spcPts val="0"/>
              </a:spcAft>
              <a:buNone/>
            </a:pPr>
            <a:r>
              <a:rPr sz="1800" b="1">
                <a:solidFill>
                  <a:srgbClr val="1A1A1A"/>
                </a:solidFill>
                <a:latin typeface="Raleway"/>
                <a:ea typeface="Raleway"/>
                <a:cs typeface="Raleway"/>
              </a:rPr>
              <a:t>Modèle RBF</a:t>
            </a:r>
          </a:p>
          <a:p xmlns:a="http://schemas.openxmlformats.org/drawingml/2006/main">
            <a:pPr marL="0" indent="0" algn="l">
              <a:spcBef>
                <a:spcPts val="300"/>
              </a:spcBef>
              <a:spcAft>
                <a:spcPts val="0"/>
              </a:spcAft>
              <a:buNone/>
            </a:pPr>
            <a:r>
              <a:rPr sz="1200" b="1">
                <a:solidFill>
                  <a:srgbClr val="1A1A1A"/>
                </a:solidFill>
                <a:latin typeface="Raleway"/>
                <a:ea typeface="Raleway"/>
                <a:cs typeface="Raleway"/>
              </a:rPr>
              <a:t>Correction majeure</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L'effondrement critique « tout Gothique » a été résolu avec succès.</a:t>
            </a:r>
          </a:p>
        </p:txBody>
      </p:sp>
      <p:sp>
        <p:nvSpPr>
          <p:cNvPr id="491" name="Google Shape;491;p46">
            <a:extLst xmlns:a="http://schemas.openxmlformats.org/drawingml/2006/main">
              <a:ext uri="{FF2B5EF4-FFF2-40B4-BE49-F238E27FC236}">
                <a16:creationId xmlns:a16="http://schemas.microsoft.com/office/drawing/2014/main" id="{8E9A2516-12C1-4864-8A99-C8506899DDF0}"/>
              </a:ext>
            </a:extLst>
          </p:cNvPr>
          <p:cNvSpPr>
            <a:spLocks xmlns:a="http://schemas.openxmlformats.org/drawingml/2006/main" noGrp="1"/>
          </p:cNvSpPr>
          <p:nvPr/>
        </p:nvSpPr>
        <p:spPr>
          <a:xfrm xmlns:a="http://schemas.openxmlformats.org/drawingml/2006/main">
            <a:off x="6191250" y="224790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code</a:t>
            </a:r>
          </a:p>
          <a:p xmlns:a="http://schemas.openxmlformats.org/drawingml/2006/main">
            <a:pPr marL="0" indent="0" algn="l">
              <a:spcBef>
                <a:spcPts val="600"/>
              </a:spcBef>
              <a:spcAft>
                <a:spcPts val="0"/>
              </a:spcAft>
              <a:buNone/>
            </a:pPr>
            <a:r>
              <a:rPr sz="1800" b="1">
                <a:solidFill>
                  <a:srgbClr val="1A1A1A"/>
                </a:solidFill>
                <a:latin typeface="Raleway"/>
                <a:ea typeface="Raleway"/>
                <a:cs typeface="Raleway"/>
              </a:rPr>
              <a:t>Pipeline C++</a:t>
            </a:r>
          </a:p>
          <a:p xmlns:a="http://schemas.openxmlformats.org/drawingml/2006/main">
            <a:pPr marL="0" indent="0" algn="l">
              <a:spcBef>
                <a:spcPts val="300"/>
              </a:spcBef>
              <a:spcAft>
                <a:spcPts val="0"/>
              </a:spcAft>
              <a:buNone/>
            </a:pPr>
            <a:r>
              <a:rPr sz="1200" b="1">
                <a:solidFill>
                  <a:srgbClr val="1A1A1A"/>
                </a:solidFill>
                <a:latin typeface="Raleway"/>
                <a:ea typeface="Raleway"/>
                <a:cs typeface="Raleway"/>
              </a:rPr>
              <a:t>Intégration complète</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Entraînement, sauvegarde et interface web reliés nativement au noyau C++.</a:t>
            </a:r>
          </a:p>
        </p:txBody>
      </p:sp>
    </p:spTree>
    <p:extLst>
      <p:ext uri="{BB962C8B-B14F-4D97-AF65-F5344CB8AC3E}">
        <p14:creationId xmlns:p14="http://schemas.microsoft.com/office/powerpoint/2010/main" val="142604662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97" name="Google Shape;497;p47">
            <a:extLst xmlns:a="http://schemas.openxmlformats.org/drawingml/2006/main">
              <a:ext uri="{FF2B5EF4-FFF2-40B4-BE49-F238E27FC236}">
                <a16:creationId xmlns:a16="http://schemas.microsoft.com/office/drawing/2014/main" id="{3E248607-B20E-4DFF-BA26-54BA889CECEF}"/>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lnSpc>
                <a:spcPct val="100000"/>
              </a:lnSpc>
              <a:spcBef>
                <a:spcPts val="0"/>
              </a:spcBef>
              <a:spcAft>
                <a:spcPts val="0"/>
              </a:spcAft>
              <a:buSzPct val="112466"/>
              <a:buNone/>
            </a:pPr>
            <a:r>
              <a:rPr sz="2600" b="1">
                <a:solidFill>
                  <a:srgbClr val="1A1A1A"/>
                </a:solidFill>
                <a:latin typeface="Raleway"/>
                <a:ea typeface="Raleway"/>
                <a:cs typeface="Raleway"/>
              </a:rPr>
              <a:t>À l’oral, on entraîne un Perceptron en ~5 s</a:t>
            </a:r>
          </a:p>
        </p:txBody>
      </p:sp>
      <p:sp>
        <p:nvSpPr>
          <p:cNvPr id="498" name="Google Shape;498;p47">
            <a:extLst xmlns:a="http://schemas.openxmlformats.org/drawingml/2006/main">
              <a:ext uri="{FF2B5EF4-FFF2-40B4-BE49-F238E27FC236}">
                <a16:creationId xmlns:a16="http://schemas.microsoft.com/office/drawing/2014/main" id="{7CE250DF-8F4A-498E-B746-E7D0379381BF}"/>
              </a:ext>
            </a:extLst>
          </p:cNvPr>
          <p:cNvSpPr>
            <a:spLocks xmlns:a="http://schemas.openxmlformats.org/drawingml/2006/main" noGrp="1"/>
          </p:cNvSpPr>
          <p:nvPr/>
        </p:nvSpPr>
        <p:spPr>
          <a:xfrm xmlns:a="http://schemas.openxmlformats.org/drawingml/2006/main">
            <a:off x="723900"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499" name="Google Shape;499;p47">
            <a:extLst xmlns:a="http://schemas.openxmlformats.org/drawingml/2006/main">
              <a:ext uri="{FF2B5EF4-FFF2-40B4-BE49-F238E27FC236}">
                <a16:creationId xmlns:a16="http://schemas.microsoft.com/office/drawing/2014/main" id="{C26E3580-1A12-4B4D-A4A1-4DCD191C2689}"/>
              </a:ext>
            </a:extLst>
          </p:cNvPr>
          <p:cNvSpPr>
            <a:spLocks xmlns:a="http://schemas.openxmlformats.org/drawingml/2006/main" noGrp="1"/>
          </p:cNvSpPr>
          <p:nvPr/>
        </p:nvSpPr>
        <p:spPr>
          <a:xfrm xmlns:a="http://schemas.openxmlformats.org/drawingml/2006/main">
            <a:off x="3381375"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500" name="Google Shape;500;p47">
            <a:extLst xmlns:a="http://schemas.openxmlformats.org/drawingml/2006/main">
              <a:ext uri="{FF2B5EF4-FFF2-40B4-BE49-F238E27FC236}">
                <a16:creationId xmlns:a16="http://schemas.microsoft.com/office/drawing/2014/main" id="{ED3CA1D7-7DB2-40E3-94CA-6330B2E18C0D}"/>
              </a:ext>
            </a:extLst>
          </p:cNvPr>
          <p:cNvSpPr>
            <a:spLocks xmlns:a="http://schemas.openxmlformats.org/drawingml/2006/main" noGrp="1"/>
          </p:cNvSpPr>
          <p:nvPr/>
        </p:nvSpPr>
        <p:spPr>
          <a:xfrm xmlns:a="http://schemas.openxmlformats.org/drawingml/2006/main">
            <a:off x="6038850"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chemeClr val="dk1"/>
              </a:buClr>
              <a:buSzPts val="1800"/>
              <a:buFont typeface="Arial"/>
              <a:buNone/>
            </a:pPr>
            <a:r>
              <a:t/>
            </a:r>
          </a:p>
        </p:txBody>
      </p:sp>
      <p:sp>
        <p:nvSpPr>
          <p:cNvPr id="501" name="Google Shape;501;p47">
            <a:extLst xmlns:a="http://schemas.openxmlformats.org/drawingml/2006/main">
              <a:ext uri="{FF2B5EF4-FFF2-40B4-BE49-F238E27FC236}">
                <a16:creationId xmlns:a16="http://schemas.microsoft.com/office/drawing/2014/main" id="{11B01869-3186-4543-992C-D19EA9CD9D03}"/>
              </a:ext>
            </a:extLst>
          </p:cNvPr>
          <p:cNvSpPr>
            <a:spLocks xmlns:a="http://schemas.openxmlformats.org/drawingml/2006/main" noGrp="1"/>
          </p:cNvSpPr>
          <p:nvPr/>
        </p:nvSpPr>
        <p:spPr>
          <a:xfrm xmlns:a="http://schemas.openxmlformats.org/drawingml/2006/main">
            <a:off x="876300" y="224790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play_arrow</a:t>
            </a:r>
          </a:p>
          <a:p xmlns:a="http://schemas.openxmlformats.org/drawingml/2006/main">
            <a:pPr marL="0" indent="0" algn="l">
              <a:spcBef>
                <a:spcPts val="450"/>
              </a:spcBef>
              <a:spcAft>
                <a:spcPts val="0"/>
              </a:spcAft>
              <a:buNone/>
            </a:pPr>
            <a:r>
              <a:rPr sz="1300" b="1">
                <a:solidFill>
                  <a:srgbClr val="1A1A1A"/>
                </a:solidFill>
                <a:latin typeface="Raleway"/>
                <a:ea typeface="Raleway"/>
                <a:cs typeface="Raleway"/>
              </a:rPr>
              <a:t>01. Lancer train_cli</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Modèle Perceptron, CSV canonique, seed 42, fichier de sortie placé dans %TEMP%.</a:t>
            </a:r>
          </a:p>
        </p:txBody>
      </p:sp>
      <p:sp>
        <p:nvSpPr>
          <p:cNvPr id="502" name="Google Shape;502;p47">
            <a:extLst xmlns:a="http://schemas.openxmlformats.org/drawingml/2006/main">
              <a:ext uri="{FF2B5EF4-FFF2-40B4-BE49-F238E27FC236}">
                <a16:creationId xmlns:a16="http://schemas.microsoft.com/office/drawing/2014/main" id="{E0687532-79EC-42AC-A03C-0C5FE75550A7}"/>
              </a:ext>
            </a:extLst>
          </p:cNvPr>
          <p:cNvSpPr>
            <a:spLocks xmlns:a="http://schemas.openxmlformats.org/drawingml/2006/main" noGrp="1"/>
          </p:cNvSpPr>
          <p:nvPr/>
        </p:nvSpPr>
        <p:spPr>
          <a:xfrm xmlns:a="http://schemas.openxmlformats.org/drawingml/2006/main">
            <a:off x="3533775" y="224790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analytics</a:t>
            </a:r>
          </a:p>
          <a:p xmlns:a="http://schemas.openxmlformats.org/drawingml/2006/main">
            <a:pPr marL="0" indent="0" algn="l">
              <a:spcBef>
                <a:spcPts val="450"/>
              </a:spcBef>
              <a:spcAft>
                <a:spcPts val="0"/>
              </a:spcAft>
              <a:buNone/>
            </a:pPr>
            <a:r>
              <a:rPr sz="1300" b="1">
                <a:solidFill>
                  <a:srgbClr val="1A1A1A"/>
                </a:solidFill>
                <a:latin typeface="Raleway"/>
                <a:ea typeface="Raleway"/>
                <a:cs typeface="Raleway"/>
              </a:rPr>
              <a:t>02. Lire les preuves</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Paramètres, train/test accuracy, matrice, durée, sauvegarde puis rechargement.</a:t>
            </a:r>
          </a:p>
        </p:txBody>
      </p:sp>
      <p:sp>
        <p:nvSpPr>
          <p:cNvPr id="503" name="Google Shape;503;p47">
            <a:extLst xmlns:a="http://schemas.openxmlformats.org/drawingml/2006/main">
              <a:ext uri="{FF2B5EF4-FFF2-40B4-BE49-F238E27FC236}">
                <a16:creationId xmlns:a16="http://schemas.microsoft.com/office/drawing/2014/main" id="{36EEDBD3-00A3-4F31-AF9A-85C766905E0E}"/>
              </a:ext>
            </a:extLst>
          </p:cNvPr>
          <p:cNvSpPr>
            <a:spLocks xmlns:a="http://schemas.openxmlformats.org/drawingml/2006/main" noGrp="1"/>
          </p:cNvSpPr>
          <p:nvPr/>
        </p:nvSpPr>
        <p:spPr>
          <a:xfrm xmlns:a="http://schemas.openxmlformats.org/drawingml/2006/main">
            <a:off x="6191250" y="224790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shield</a:t>
            </a:r>
          </a:p>
          <a:p xmlns:a="http://schemas.openxmlformats.org/drawingml/2006/main">
            <a:pPr marL="0" indent="0" algn="l">
              <a:spcBef>
                <a:spcPts val="450"/>
              </a:spcBef>
              <a:spcAft>
                <a:spcPts val="0"/>
              </a:spcAft>
              <a:buNone/>
            </a:pPr>
            <a:r>
              <a:rPr sz="1300" b="1">
                <a:solidFill>
                  <a:srgbClr val="1A1A1A"/>
                </a:solidFill>
                <a:latin typeface="Raleway"/>
                <a:ea typeface="Raleway"/>
                <a:cs typeface="Raleway"/>
              </a:rPr>
              <a:t>03. Ne rien écraser</a:t>
            </a:r>
          </a:p>
          <a:p xmlns:a="http://schemas.openxmlformats.org/drawingml/2006/main">
            <a:pPr marL="0" indent="0" algn="l">
              <a:spcBef>
                <a:spcPts val="450"/>
              </a:spcBef>
              <a:spcAft>
                <a:spcPts val="0"/>
              </a:spcAft>
              <a:buNone/>
            </a:pPr>
            <a:r>
              <a:rPr sz="1050" b="0">
                <a:solidFill>
                  <a:srgbClr val="595959"/>
                </a:solidFill>
                <a:latin typeface="Lato"/>
                <a:ea typeface="Lato"/>
                <a:cs typeface="Lato"/>
              </a:rPr>
              <a:t>La commande de soutenance ne touche ni aux modèles officiels ni au manifest.</a:t>
            </a:r>
          </a:p>
        </p:txBody>
      </p:sp>
    </p:spTree>
    <p:extLst>
      <p:ext uri="{BB962C8B-B14F-4D97-AF65-F5344CB8AC3E}">
        <p14:creationId xmlns:p14="http://schemas.microsoft.com/office/powerpoint/2010/main" val="117218240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09" name="Google Shape;509;p48">
            <a:extLst xmlns:a="http://schemas.openxmlformats.org/drawingml/2006/main">
              <a:ext uri="{FF2B5EF4-FFF2-40B4-BE49-F238E27FC236}">
                <a16:creationId xmlns:a16="http://schemas.microsoft.com/office/drawing/2014/main" id="{8A6FF1BF-B0A6-480F-9166-981D11E71F1F}"/>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1" name="Google Shape;511;p48">
            <a:extLst xmlns:a="http://schemas.openxmlformats.org/drawingml/2006/main">
              <a:ext uri="{FF2B5EF4-FFF2-40B4-BE49-F238E27FC236}">
                <a16:creationId xmlns:a16="http://schemas.microsoft.com/office/drawing/2014/main" id="{336BBB5F-9988-424B-93CD-A5A25E935836}"/>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2" name="Google Shape;512;p48">
            <a:extLst xmlns:a="http://schemas.openxmlformats.org/drawingml/2006/main">
              <a:ext uri="{FF2B5EF4-FFF2-40B4-BE49-F238E27FC236}">
                <a16:creationId xmlns:a16="http://schemas.microsoft.com/office/drawing/2014/main" id="{D860F476-148A-4506-9932-9CB9C31D9B40}"/>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3" name="Google Shape;513;p48">
            <a:extLst xmlns:a="http://schemas.openxmlformats.org/drawingml/2006/main">
              <a:ext uri="{FF2B5EF4-FFF2-40B4-BE49-F238E27FC236}">
                <a16:creationId xmlns:a16="http://schemas.microsoft.com/office/drawing/2014/main" id="{3C3B156C-D3A7-4C40-9215-02867BA4C04B}"/>
              </a:ext>
            </a:extLst>
          </p:cNvPr>
          <p:cNvSpPr>
            <a:spLocks xmlns:a="http://schemas.openxmlformats.org/drawingml/2006/main" noGrp="1"/>
          </p:cNvSpPr>
          <p:nvPr/>
        </p:nvSpPr>
        <p:spPr>
          <a:xfrm xmlns:a="http://schemas.openxmlformats.org/drawingml/2006/main">
            <a:off x="952500" y="2095500"/>
            <a:ext cx="33339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4" name="Google Shape;514;p48">
            <a:extLst xmlns:a="http://schemas.openxmlformats.org/drawingml/2006/main">
              <a:ext uri="{FF2B5EF4-FFF2-40B4-BE49-F238E27FC236}">
                <a16:creationId xmlns:a16="http://schemas.microsoft.com/office/drawing/2014/main" id="{8EC6B7C7-16CA-48D8-B2F6-AE8E0E660C92}"/>
              </a:ext>
            </a:extLst>
          </p:cNvPr>
          <p:cNvSpPr>
            <a:spLocks xmlns:a="http://schemas.openxmlformats.org/drawingml/2006/main" noGrp="1"/>
          </p:cNvSpPr>
          <p:nvPr/>
        </p:nvSpPr>
        <p:spPr>
          <a:xfrm xmlns:a="http://schemas.openxmlformats.org/drawingml/2006/main">
            <a:off x="4857750" y="2095500"/>
            <a:ext cx="33339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5" name="Google Shape;515;p48">
            <a:extLst xmlns:a="http://schemas.openxmlformats.org/drawingml/2006/main">
              <a:ext uri="{FF2B5EF4-FFF2-40B4-BE49-F238E27FC236}">
                <a16:creationId xmlns:a16="http://schemas.microsoft.com/office/drawing/2014/main" id="{1390ACB2-9D19-4A33-8726-6B7AA518BA2C}"/>
              </a:ext>
            </a:extLst>
          </p:cNvPr>
          <p:cNvSpPr>
            <a:spLocks xmlns:a="http://schemas.openxmlformats.org/drawingml/2006/main" noGrp="1"/>
          </p:cNvSpPr>
          <p:nvPr/>
        </p:nvSpPr>
        <p:spPr>
          <a:xfrm xmlns:a="http://schemas.openxmlformats.org/drawingml/2006/main">
            <a:off x="1143000" y="2286000"/>
            <a:ext cx="29529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settings</a:t>
            </a:r>
          </a:p>
          <a:p xmlns:a="http://schemas.openxmlformats.org/drawingml/2006/main">
            <a:pPr marL="0" indent="0" algn="l">
              <a:spcBef>
                <a:spcPts val="900"/>
              </a:spcBef>
              <a:spcAft>
                <a:spcPts val="0"/>
              </a:spcAft>
              <a:buNone/>
            </a:pPr>
            <a:r>
              <a:rPr sz="1400" b="1">
                <a:solidFill>
                  <a:srgbClr val="1A1A1A"/>
                </a:solidFill>
                <a:latin typeface="Raleway"/>
                <a:ea typeface="Raleway"/>
                <a:cs typeface="Raleway"/>
              </a:rPr>
              <a:t>01. Choisir MLP v2</a:t>
            </a:r>
          </a:p>
          <a:p xmlns:a="http://schemas.openxmlformats.org/drawingml/2006/main">
            <a:pPr marL="0" indent="0" algn="l">
              <a:spcBef>
                <a:spcPts val="900"/>
              </a:spcBef>
              <a:spcAft>
                <a:spcPts val="0"/>
              </a:spcAft>
              <a:buNone/>
            </a:pPr>
            <a:r>
              <a:rPr sz="1100" b="0">
                <a:solidFill>
                  <a:srgbClr val="595959"/>
                </a:solidFill>
                <a:latin typeface="Lato"/>
                <a:ea typeface="Lato"/>
                <a:cs typeface="Lato"/>
              </a:rPr>
              <a:t>Le manifest fournit le nom lisible, le fichier, les 1 024 features, les 3 classes et le type de score.</a:t>
            </a:r>
          </a:p>
        </p:txBody>
      </p:sp>
      <p:sp>
        <p:nvSpPr>
          <p:cNvPr id="516" name="Google Shape;516;p48">
            <a:extLst xmlns:a="http://schemas.openxmlformats.org/drawingml/2006/main">
              <a:ext uri="{FF2B5EF4-FFF2-40B4-BE49-F238E27FC236}">
                <a16:creationId xmlns:a16="http://schemas.microsoft.com/office/drawing/2014/main" id="{BE16F8F7-50B5-43CE-9F23-A718C09AAA04}"/>
              </a:ext>
            </a:extLst>
          </p:cNvPr>
          <p:cNvSpPr>
            <a:spLocks xmlns:a="http://schemas.openxmlformats.org/drawingml/2006/main" noGrp="1"/>
          </p:cNvSpPr>
          <p:nvPr/>
        </p:nvSpPr>
        <p:spPr>
          <a:xfrm xmlns:a="http://schemas.openxmlformats.org/drawingml/2006/main">
            <a:off x="5048250" y="2286000"/>
            <a:ext cx="29529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image</a:t>
            </a:r>
          </a:p>
          <a:p xmlns:a="http://schemas.openxmlformats.org/drawingml/2006/main">
            <a:pPr marL="0" indent="0" algn="l">
              <a:spcBef>
                <a:spcPts val="900"/>
              </a:spcBef>
              <a:spcAft>
                <a:spcPts val="0"/>
              </a:spcAft>
              <a:buNone/>
            </a:pPr>
            <a:r>
              <a:rPr sz="1400" b="1">
                <a:solidFill>
                  <a:srgbClr val="1A1A1A"/>
                </a:solidFill>
                <a:latin typeface="Raleway"/>
                <a:ea typeface="Raleway"/>
                <a:cs typeface="Raleway"/>
              </a:rPr>
              <a:t>02. Prédire une image</a:t>
            </a:r>
          </a:p>
          <a:p xmlns:a="http://schemas.openxmlformats.org/drawingml/2006/main">
            <a:pPr marL="0" indent="0" algn="l">
              <a:spcBef>
                <a:spcPts val="900"/>
              </a:spcBef>
              <a:spcAft>
                <a:spcPts val="0"/>
              </a:spcAft>
              <a:buNone/>
            </a:pPr>
            <a:r>
              <a:rPr sz="1100" b="0">
                <a:solidFill>
                  <a:srgbClr val="595959"/>
                </a:solidFill>
                <a:latin typeface="Lato"/>
                <a:ea typeface="Lato"/>
                <a:cs typeface="Lato"/>
              </a:rPr>
              <a:t>Flask prétraite → fichier temporaire → predict_cli → modèle sauvegardé → résultat JSON affiché.</a:t>
            </a:r>
          </a:p>
        </p:txBody>
      </p:sp>
      <p:sp>
        <p:nvSpPr>
          <p:cNvPr id="517" name="Google Shape;517;p48">
            <a:extLst xmlns:a="http://schemas.openxmlformats.org/drawingml/2006/main">
              <a:ext uri="{FF2B5EF4-FFF2-40B4-BE49-F238E27FC236}">
                <a16:creationId xmlns:a16="http://schemas.microsoft.com/office/drawing/2014/main" id="{05E6D16A-61D6-4E16-BC4B-C3F093574A14}"/>
              </a:ext>
            </a:extLst>
          </p:cNvPr>
          <p:cNvSpPr>
            <a:spLocks xmlns:a="http://schemas.openxmlformats.org/drawingml/2006/main" noGrp="1"/>
          </p:cNvSpPr>
          <p:nvPr/>
        </p:nvSpPr>
        <p:spPr>
          <a:xfrm xmlns:a="http://schemas.openxmlformats.org/drawingml/2006/main">
            <a:off x="729450" y="1318651"/>
            <a:ext cx="7688700" cy="535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600" b="1">
                <a:solidFill>
                  <a:srgbClr val="1A1A1A"/>
                </a:solidFill>
                <a:latin typeface="Raleway"/>
                <a:ea typeface="Raleway"/>
                <a:cs typeface="Raleway"/>
              </a:rPr>
              <a:t>La démo web ne réentraîne jamais le modèle</a:t>
            </a:r>
          </a:p>
        </p:txBody>
      </p:sp>
    </p:spTree>
    <p:extLst>
      <p:ext uri="{BB962C8B-B14F-4D97-AF65-F5344CB8AC3E}">
        <p14:creationId xmlns:p14="http://schemas.microsoft.com/office/powerpoint/2010/main" val="153346446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22" name="Google Shape;522;p49">
            <a:extLst xmlns:a="http://schemas.openxmlformats.org/drawingml/2006/main">
              <a:ext uri="{FF2B5EF4-FFF2-40B4-BE49-F238E27FC236}">
                <a16:creationId xmlns:a16="http://schemas.microsoft.com/office/drawing/2014/main" id="{5AD827C0-4374-4209-9CA1-A7A5D9B7C13A}"/>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Conclusion</a:t>
            </a:r>
          </a:p>
        </p:txBody>
      </p:sp>
      <p:sp>
        <p:nvSpPr>
          <p:cNvPr id="523" name="Google Shape;523;p49">
            <a:extLst xmlns:a="http://schemas.openxmlformats.org/drawingml/2006/main">
              <a:ext uri="{FF2B5EF4-FFF2-40B4-BE49-F238E27FC236}">
                <a16:creationId xmlns:a16="http://schemas.microsoft.com/office/drawing/2014/main" id="{4116ADB0-21A7-46B6-BA34-02A542A418F4}"/>
              </a:ext>
            </a:extLst>
          </p:cNvPr>
          <p:cNvSpPr>
            <a:spLocks xmlns:a="http://schemas.openxmlformats.org/drawingml/2006/main" noGrp="1"/>
          </p:cNvSpPr>
          <p:nvPr/>
        </p:nvSpPr>
        <p:spPr>
          <a:xfrm xmlns:a="http://schemas.openxmlformats.org/drawingml/2006/main">
            <a:off x="723900"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4" name="Google Shape;524;p49">
            <a:extLst xmlns:a="http://schemas.openxmlformats.org/drawingml/2006/main">
              <a:ext uri="{FF2B5EF4-FFF2-40B4-BE49-F238E27FC236}">
                <a16:creationId xmlns:a16="http://schemas.microsoft.com/office/drawing/2014/main" id="{63AA5D7B-069F-4668-8FCD-01772A6766EF}"/>
              </a:ext>
            </a:extLst>
          </p:cNvPr>
          <p:cNvSpPr>
            <a:spLocks xmlns:a="http://schemas.openxmlformats.org/drawingml/2006/main" noGrp="1"/>
          </p:cNvSpPr>
          <p:nvPr/>
        </p:nvSpPr>
        <p:spPr>
          <a:xfrm xmlns:a="http://schemas.openxmlformats.org/drawingml/2006/main">
            <a:off x="3381375"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5" name="Google Shape;525;p49">
            <a:extLst xmlns:a="http://schemas.openxmlformats.org/drawingml/2006/main">
              <a:ext uri="{FF2B5EF4-FFF2-40B4-BE49-F238E27FC236}">
                <a16:creationId xmlns:a16="http://schemas.microsoft.com/office/drawing/2014/main" id="{142A0D4E-C41B-4261-BEAD-958011AA8BC8}"/>
              </a:ext>
            </a:extLst>
          </p:cNvPr>
          <p:cNvSpPr>
            <a:spLocks xmlns:a="http://schemas.openxmlformats.org/drawingml/2006/main" noGrp="1"/>
          </p:cNvSpPr>
          <p:nvPr/>
        </p:nvSpPr>
        <p:spPr>
          <a:xfrm xmlns:a="http://schemas.openxmlformats.org/drawingml/2006/main">
            <a:off x="6038850" y="209550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6" name="Google Shape;526;p49">
            <a:extLst xmlns:a="http://schemas.openxmlformats.org/drawingml/2006/main">
              <a:ext uri="{FF2B5EF4-FFF2-40B4-BE49-F238E27FC236}">
                <a16:creationId xmlns:a16="http://schemas.microsoft.com/office/drawing/2014/main" id="{C0D0B0AB-509B-4113-9C2C-37AAF3C95960}"/>
              </a:ext>
            </a:extLst>
          </p:cNvPr>
          <p:cNvSpPr>
            <a:spLocks xmlns:a="http://schemas.openxmlformats.org/drawingml/2006/main" noGrp="1"/>
          </p:cNvSpPr>
          <p:nvPr/>
        </p:nvSpPr>
        <p:spPr>
          <a:xfrm xmlns:a="http://schemas.openxmlformats.org/drawingml/2006/main">
            <a:off x="876300" y="2247900"/>
            <a:ext cx="2076600" cy="19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1A9988"/>
                </a:solidFill>
                <a:latin typeface="Material Icons"/>
                <a:ea typeface="Material Icons"/>
                <a:cs typeface="Material Icons"/>
              </a:rPr>
              <a:t>code</a:t>
            </a:r>
          </a:p>
          <a:p xmlns:a="http://schemas.openxmlformats.org/drawingml/2006/main">
            <a:pPr marL="0" indent="0" algn="l">
              <a:spcBef>
                <a:spcPts val="600"/>
              </a:spcBef>
              <a:spcAft>
                <a:spcPts val="0"/>
              </a:spcAft>
              <a:buNone/>
            </a:pPr>
            <a:r>
              <a:rPr sz="1300" b="1">
                <a:solidFill>
                  <a:srgbClr val="1A1A1A"/>
                </a:solidFill>
                <a:latin typeface="Raleway"/>
                <a:ea typeface="Raleway"/>
                <a:cs typeface="Raleway"/>
              </a:rPr>
              <a:t>Indépendance Algorithmique</a:t>
            </a:r>
          </a:p>
          <a:p xmlns:a="http://schemas.openxmlformats.org/drawingml/2006/main">
            <a:pPr marL="0" indent="0" algn="l">
              <a:spcBef>
                <a:spcPts val="600"/>
              </a:spcBef>
              <a:spcAft>
                <a:spcPts val="0"/>
              </a:spcAft>
              <a:buNone/>
            </a:pPr>
            <a:r>
              <a:rPr sz="1050" b="0">
                <a:solidFill>
                  <a:srgbClr val="595959"/>
                </a:solidFill>
                <a:latin typeface="Lato"/>
                <a:ea typeface="Lato"/>
                <a:cs typeface="Lato"/>
              </a:rPr>
              <a:t>Implémentation robuste </a:t>
            </a:r>
            <a:r>
              <a:rPr sz="1050">
                <a:solidFill>
                  <a:srgbClr val="595959"/>
                </a:solidFill>
                <a:latin typeface="Lato"/>
                <a:ea typeface="Lato"/>
                <a:cs typeface="Lato"/>
              </a:rPr>
              <a:t>à partir de</a:t>
            </a:r>
            <a:r>
              <a:rPr sz="1050" b="0">
                <a:solidFill>
                  <a:srgbClr val="595959"/>
                </a:solidFill>
                <a:latin typeface="Lato"/>
                <a:ea typeface="Lato"/>
                <a:cs typeface="Lato"/>
              </a:rPr>
              <a:t> zéro de modèles complexes (Perceptron, MLP, SVM, RBF) sans dépendance à PyTorch/TensorFlow.</a:t>
            </a:r>
          </a:p>
        </p:txBody>
      </p:sp>
      <p:sp>
        <p:nvSpPr>
          <p:cNvPr id="527" name="Google Shape;527;p49">
            <a:extLst xmlns:a="http://schemas.openxmlformats.org/drawingml/2006/main">
              <a:ext uri="{FF2B5EF4-FFF2-40B4-BE49-F238E27FC236}">
                <a16:creationId xmlns:a16="http://schemas.microsoft.com/office/drawing/2014/main" id="{ABB779CF-E10D-40C9-AF46-5661572A8961}"/>
              </a:ext>
            </a:extLst>
          </p:cNvPr>
          <p:cNvSpPr>
            <a:spLocks xmlns:a="http://schemas.openxmlformats.org/drawingml/2006/main" noGrp="1"/>
          </p:cNvSpPr>
          <p:nvPr/>
        </p:nvSpPr>
        <p:spPr>
          <a:xfrm xmlns:a="http://schemas.openxmlformats.org/drawingml/2006/main">
            <a:off x="3533775" y="2247900"/>
            <a:ext cx="2076600" cy="19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EB5600"/>
                </a:solidFill>
                <a:latin typeface="Material Icons"/>
                <a:ea typeface="Material Icons"/>
                <a:cs typeface="Material Icons"/>
              </a:rPr>
              <a:t>speed</a:t>
            </a:r>
          </a:p>
          <a:p xmlns:a="http://schemas.openxmlformats.org/drawingml/2006/main">
            <a:pPr marL="0" indent="0" algn="l">
              <a:spcBef>
                <a:spcPts val="600"/>
              </a:spcBef>
              <a:spcAft>
                <a:spcPts val="0"/>
              </a:spcAft>
              <a:buNone/>
            </a:pPr>
            <a:r>
              <a:rPr sz="1300" b="1">
                <a:solidFill>
                  <a:srgbClr val="1A1A1A"/>
                </a:solidFill>
                <a:latin typeface="Raleway"/>
                <a:ea typeface="Raleway"/>
                <a:cs typeface="Raleway"/>
              </a:rPr>
              <a:t>Optimisation Bas Niveau</a:t>
            </a:r>
          </a:p>
          <a:p xmlns:a="http://schemas.openxmlformats.org/drawingml/2006/main">
            <a:pPr marL="0" indent="0" algn="l">
              <a:spcBef>
                <a:spcPts val="600"/>
              </a:spcBef>
              <a:spcAft>
                <a:spcPts val="0"/>
              </a:spcAft>
              <a:buNone/>
            </a:pPr>
            <a:r>
              <a:rPr sz="1050" b="0">
                <a:solidFill>
                  <a:srgbClr val="595959"/>
                </a:solidFill>
                <a:latin typeface="Lato"/>
                <a:ea typeface="Lato"/>
                <a:cs typeface="Lato"/>
              </a:rPr>
              <a:t>Performances de calcul maximales via l'exploitation native des opérations matricielles vectorisées de la bibliothèque Eigen.</a:t>
            </a:r>
          </a:p>
        </p:txBody>
      </p:sp>
      <p:sp>
        <p:nvSpPr>
          <p:cNvPr id="528" name="Google Shape;528;p49">
            <a:extLst xmlns:a="http://schemas.openxmlformats.org/drawingml/2006/main">
              <a:ext uri="{FF2B5EF4-FFF2-40B4-BE49-F238E27FC236}">
                <a16:creationId xmlns:a16="http://schemas.microsoft.com/office/drawing/2014/main" id="{427C9985-593F-41E3-A1F7-B3FB43961FF3}"/>
              </a:ext>
            </a:extLst>
          </p:cNvPr>
          <p:cNvSpPr>
            <a:spLocks xmlns:a="http://schemas.openxmlformats.org/drawingml/2006/main" noGrp="1"/>
          </p:cNvSpPr>
          <p:nvPr/>
        </p:nvSpPr>
        <p:spPr>
          <a:xfrm xmlns:a="http://schemas.openxmlformats.org/drawingml/2006/main">
            <a:off x="6191250" y="2247900"/>
            <a:ext cx="2076600" cy="19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1A9988"/>
                </a:solidFill>
                <a:latin typeface="Material Icons"/>
                <a:ea typeface="Material Icons"/>
                <a:cs typeface="Material Icons"/>
              </a:rPr>
              <a:t>tune</a:t>
            </a:r>
          </a:p>
          <a:p xmlns:a="http://schemas.openxmlformats.org/drawingml/2006/main">
            <a:pPr marL="0" indent="0" algn="l">
              <a:spcBef>
                <a:spcPts val="600"/>
              </a:spcBef>
              <a:spcAft>
                <a:spcPts val="0"/>
              </a:spcAft>
              <a:buNone/>
            </a:pPr>
            <a:r>
              <a:rPr sz="1300" b="1">
                <a:solidFill>
                  <a:srgbClr val="1A1A1A"/>
                </a:solidFill>
                <a:latin typeface="Raleway"/>
                <a:ea typeface="Raleway"/>
                <a:cs typeface="Raleway"/>
              </a:rPr>
              <a:t>Tuning des Paramètres</a:t>
            </a:r>
          </a:p>
          <a:p xmlns:a="http://schemas.openxmlformats.org/drawingml/2006/main">
            <a:pPr marL="0" indent="0" algn="l">
              <a:spcBef>
                <a:spcPts val="600"/>
              </a:spcBef>
              <a:spcAft>
                <a:spcPts val="0"/>
              </a:spcAft>
              <a:buNone/>
            </a:pPr>
            <a:r>
              <a:rPr sz="1050" b="0">
                <a:solidFill>
                  <a:srgbClr val="595959"/>
                </a:solidFill>
                <a:latin typeface="Lato"/>
                <a:ea typeface="Lato"/>
                <a:cs typeface="Lato"/>
              </a:rPr>
              <a:t>Optimisation et ajustement fin des modèles à travers des expérimentations successives et rigoureuses.</a:t>
            </a:r>
          </a:p>
        </p:txBody>
      </p:sp>
    </p:spTree>
    <p:extLst>
      <p:ext uri="{BB962C8B-B14F-4D97-AF65-F5344CB8AC3E}">
        <p14:creationId xmlns:p14="http://schemas.microsoft.com/office/powerpoint/2010/main" val="77259094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0">
            <a:extLst xmlns:a="http://schemas.openxmlformats.org/drawingml/2006/main">
              <a:ext uri="{FF2B5EF4-FFF2-40B4-BE49-F238E27FC236}">
                <a16:creationId xmlns:a16="http://schemas.microsoft.com/office/drawing/2014/main" id="{1F4EF5ED-C08B-4575-9B25-F4AF29186060}"/>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Conclusion</a:t>
            </a:r>
          </a:p>
        </p:txBody>
      </p:sp>
      <p:sp>
        <p:nvSpPr>
          <p:cNvPr id="534" name="Google Shape;534;p50">
            <a:extLst xmlns:a="http://schemas.openxmlformats.org/drawingml/2006/main">
              <a:ext uri="{FF2B5EF4-FFF2-40B4-BE49-F238E27FC236}">
                <a16:creationId xmlns:a16="http://schemas.microsoft.com/office/drawing/2014/main" id="{4B7ECC6B-785F-4653-AB58-66B3B36AEAE4}"/>
              </a:ext>
            </a:extLst>
          </p:cNvPr>
          <p:cNvSpPr>
            <a:spLocks xmlns:a="http://schemas.openxmlformats.org/drawingml/2006/main" noGrp="1"/>
          </p:cNvSpPr>
          <p:nvPr/>
        </p:nvSpPr>
        <p:spPr>
          <a:xfrm xmlns:a="http://schemas.openxmlformats.org/drawingml/2006/main">
            <a:off x="729450" y="1853850"/>
            <a:ext cx="6345600" cy="38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l">
              <a:spcBef>
                <a:spcPts val="0"/>
              </a:spcBef>
              <a:spcAft>
                <a:spcPts val="0"/>
              </a:spcAft>
              <a:buNone/>
            </a:pPr>
            <a:r>
              <a:rPr sz="1300">
                <a:solidFill>
                  <a:schemeClr val="accent1"/>
                </a:solidFill>
                <a:latin typeface="Lato"/>
                <a:ea typeface="Lato"/>
                <a:cs typeface="Lato"/>
              </a:rPr>
              <a:t>apports </a:t>
            </a:r>
            <a:r>
              <a:rPr sz="1300">
                <a:solidFill>
                  <a:schemeClr val="accent1"/>
                </a:solidFill>
                <a:latin typeface="Lato"/>
                <a:ea typeface="Lato"/>
                <a:cs typeface="Lato"/>
              </a:rPr>
              <a:t>académiques</a:t>
            </a:r>
          </a:p>
        </p:txBody>
      </p:sp>
      <p:sp>
        <p:nvSpPr>
          <p:cNvPr id="535" name="Google Shape;535;p50">
            <a:extLst xmlns:a="http://schemas.openxmlformats.org/drawingml/2006/main">
              <a:ext uri="{FF2B5EF4-FFF2-40B4-BE49-F238E27FC236}">
                <a16:creationId xmlns:a16="http://schemas.microsoft.com/office/drawing/2014/main" id="{D9413834-0D6B-408A-B771-6FF1291E0316}"/>
              </a:ext>
            </a:extLst>
          </p:cNvPr>
          <p:cNvSpPr>
            <a:spLocks xmlns:a="http://schemas.openxmlformats.org/drawingml/2006/main" noGrp="1"/>
          </p:cNvSpPr>
          <p:nvPr/>
        </p:nvSpPr>
        <p:spPr>
          <a:xfrm xmlns:a="http://schemas.openxmlformats.org/drawingml/2006/main">
            <a:off x="723900" y="2190750"/>
            <a:ext cx="1762200" cy="2333700"/>
          </a:xfrm>
          <a:prstGeom xmlns:a="http://schemas.openxmlformats.org/drawingml/2006/main" prst="roundRect">
            <a:avLst>
              <a:gd name="adj" fmla="val 4324"/>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6" name="Google Shape;536;p50">
            <a:extLst xmlns:a="http://schemas.openxmlformats.org/drawingml/2006/main">
              <a:ext uri="{FF2B5EF4-FFF2-40B4-BE49-F238E27FC236}">
                <a16:creationId xmlns:a16="http://schemas.microsoft.com/office/drawing/2014/main" id="{DCEC585B-FA42-4FC9-B533-AC382C9D09DB}"/>
              </a:ext>
            </a:extLst>
          </p:cNvPr>
          <p:cNvSpPr>
            <a:spLocks xmlns:a="http://schemas.openxmlformats.org/drawingml/2006/main" noGrp="1"/>
          </p:cNvSpPr>
          <p:nvPr/>
        </p:nvSpPr>
        <p:spPr>
          <a:xfrm xmlns:a="http://schemas.openxmlformats.org/drawingml/2006/main">
            <a:off x="2695575" y="2190750"/>
            <a:ext cx="1762200" cy="2333700"/>
          </a:xfrm>
          <a:prstGeom xmlns:a="http://schemas.openxmlformats.org/drawingml/2006/main" prst="roundRect">
            <a:avLst>
              <a:gd name="adj" fmla="val 4324"/>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7" name="Google Shape;537;p50">
            <a:extLst xmlns:a="http://schemas.openxmlformats.org/drawingml/2006/main">
              <a:ext uri="{FF2B5EF4-FFF2-40B4-BE49-F238E27FC236}">
                <a16:creationId xmlns:a16="http://schemas.microsoft.com/office/drawing/2014/main" id="{B31929FF-4606-4C90-9948-38F8AF4955A7}"/>
              </a:ext>
            </a:extLst>
          </p:cNvPr>
          <p:cNvSpPr>
            <a:spLocks xmlns:a="http://schemas.openxmlformats.org/drawingml/2006/main" noGrp="1"/>
          </p:cNvSpPr>
          <p:nvPr/>
        </p:nvSpPr>
        <p:spPr>
          <a:xfrm xmlns:a="http://schemas.openxmlformats.org/drawingml/2006/main">
            <a:off x="4667250" y="2190750"/>
            <a:ext cx="1762200" cy="2333700"/>
          </a:xfrm>
          <a:prstGeom xmlns:a="http://schemas.openxmlformats.org/drawingml/2006/main" prst="roundRect">
            <a:avLst>
              <a:gd name="adj" fmla="val 4324"/>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8" name="Google Shape;538;p50">
            <a:extLst xmlns:a="http://schemas.openxmlformats.org/drawingml/2006/main">
              <a:ext uri="{FF2B5EF4-FFF2-40B4-BE49-F238E27FC236}">
                <a16:creationId xmlns:a16="http://schemas.microsoft.com/office/drawing/2014/main" id="{57837B94-1700-4803-8466-D2C997533C20}"/>
              </a:ext>
            </a:extLst>
          </p:cNvPr>
          <p:cNvSpPr>
            <a:spLocks xmlns:a="http://schemas.openxmlformats.org/drawingml/2006/main" noGrp="1"/>
          </p:cNvSpPr>
          <p:nvPr/>
        </p:nvSpPr>
        <p:spPr>
          <a:xfrm xmlns:a="http://schemas.openxmlformats.org/drawingml/2006/main">
            <a:off x="6638925" y="2190750"/>
            <a:ext cx="1762200" cy="2333700"/>
          </a:xfrm>
          <a:prstGeom xmlns:a="http://schemas.openxmlformats.org/drawingml/2006/main" prst="roundRect">
            <a:avLst>
              <a:gd name="adj" fmla="val 4324"/>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9" name="Google Shape;539;p50">
            <a:extLst xmlns:a="http://schemas.openxmlformats.org/drawingml/2006/main">
              <a:ext uri="{FF2B5EF4-FFF2-40B4-BE49-F238E27FC236}">
                <a16:creationId xmlns:a16="http://schemas.microsoft.com/office/drawing/2014/main" id="{F0CB6E69-0BAF-4D90-A676-DB67FD3A20B5}"/>
              </a:ext>
            </a:extLst>
          </p:cNvPr>
          <p:cNvSpPr>
            <a:spLocks xmlns:a="http://schemas.openxmlformats.org/drawingml/2006/main" noGrp="1"/>
          </p:cNvSpPr>
          <p:nvPr/>
        </p:nvSpPr>
        <p:spPr>
          <a:xfrm xmlns:a="http://schemas.openxmlformats.org/drawingml/2006/main">
            <a:off x="866775" y="2333625"/>
            <a:ext cx="1476300" cy="20478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functions</a:t>
            </a:r>
          </a:p>
          <a:p xmlns:a="http://schemas.openxmlformats.org/drawingml/2006/main">
            <a:pPr marL="0" indent="0" algn="l">
              <a:spcBef>
                <a:spcPts val="600"/>
              </a:spcBef>
              <a:spcAft>
                <a:spcPts val="0"/>
              </a:spcAft>
              <a:buNone/>
            </a:pPr>
            <a:r>
              <a:rPr sz="1250" b="1">
                <a:solidFill>
                  <a:srgbClr val="1A1A1A"/>
                </a:solidFill>
                <a:latin typeface="Raleway"/>
                <a:ea typeface="Raleway"/>
                <a:cs typeface="Raleway"/>
              </a:rPr>
              <a:t>Mathématiques</a:t>
            </a:r>
          </a:p>
          <a:p xmlns:a="http://schemas.openxmlformats.org/drawingml/2006/main">
            <a:pPr marL="0" indent="0" algn="l">
              <a:spcBef>
                <a:spcPts val="600"/>
              </a:spcBef>
              <a:spcAft>
                <a:spcPts val="0"/>
              </a:spcAft>
              <a:buNone/>
            </a:pPr>
            <a:r>
              <a:rPr sz="950" b="0">
                <a:solidFill>
                  <a:srgbClr val="595959"/>
                </a:solidFill>
                <a:latin typeface="Lato"/>
                <a:ea typeface="Lato"/>
                <a:cs typeface="Lato"/>
              </a:rPr>
              <a:t>Assimilation profonde de la rétropropagation du gradient, de la descente de gradient stochastique et du formalisme matriciel lié aux couches neuronales cachées.</a:t>
            </a:r>
          </a:p>
        </p:txBody>
      </p:sp>
      <p:sp>
        <p:nvSpPr>
          <p:cNvPr id="540" name="Google Shape;540;p50">
            <a:extLst xmlns:a="http://schemas.openxmlformats.org/drawingml/2006/main">
              <a:ext uri="{FF2B5EF4-FFF2-40B4-BE49-F238E27FC236}">
                <a16:creationId xmlns:a16="http://schemas.microsoft.com/office/drawing/2014/main" id="{7AA261AA-A752-42F7-8729-E3AD689B2283}"/>
              </a:ext>
            </a:extLst>
          </p:cNvPr>
          <p:cNvSpPr>
            <a:spLocks xmlns:a="http://schemas.openxmlformats.org/drawingml/2006/main" noGrp="1"/>
          </p:cNvSpPr>
          <p:nvPr/>
        </p:nvSpPr>
        <p:spPr>
          <a:xfrm xmlns:a="http://schemas.openxmlformats.org/drawingml/2006/main">
            <a:off x="2838450" y="2333625"/>
            <a:ext cx="1476300" cy="20478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memory</a:t>
            </a:r>
          </a:p>
          <a:p xmlns:a="http://schemas.openxmlformats.org/drawingml/2006/main">
            <a:pPr marL="0" indent="0" algn="l">
              <a:spcBef>
                <a:spcPts val="600"/>
              </a:spcBef>
              <a:spcAft>
                <a:spcPts val="0"/>
              </a:spcAft>
              <a:buNone/>
            </a:pPr>
            <a:r>
              <a:rPr sz="1250" b="1">
                <a:solidFill>
                  <a:srgbClr val="1A1A1A"/>
                </a:solidFill>
                <a:latin typeface="Raleway"/>
                <a:ea typeface="Raleway"/>
                <a:cs typeface="Raleway"/>
              </a:rPr>
              <a:t>Système &amp; C++</a:t>
            </a:r>
          </a:p>
          <a:p xmlns:a="http://schemas.openxmlformats.org/drawingml/2006/main">
            <a:pPr marL="0" indent="0" algn="l">
              <a:spcBef>
                <a:spcPts val="600"/>
              </a:spcBef>
              <a:spcAft>
                <a:spcPts val="0"/>
              </a:spcAft>
              <a:buNone/>
            </a:pPr>
            <a:r>
              <a:rPr sz="950" b="0">
                <a:solidFill>
                  <a:srgbClr val="595959"/>
                </a:solidFill>
                <a:latin typeface="Lato"/>
                <a:ea typeface="Lato"/>
                <a:cs typeface="Lato"/>
              </a:rPr>
              <a:t>Compétences renforcées en gestion manuelle de la mémoire, cycle de vie des pointeurs, vectorisation SIMD et structuration de projets via CMake.</a:t>
            </a:r>
          </a:p>
        </p:txBody>
      </p:sp>
      <p:sp>
        <p:nvSpPr>
          <p:cNvPr id="541" name="Google Shape;541;p50">
            <a:extLst xmlns:a="http://schemas.openxmlformats.org/drawingml/2006/main">
              <a:ext uri="{FF2B5EF4-FFF2-40B4-BE49-F238E27FC236}">
                <a16:creationId xmlns:a16="http://schemas.microsoft.com/office/drawing/2014/main" id="{0387ABF9-BF0C-46D0-9B56-9893F4CF0DE7}"/>
              </a:ext>
            </a:extLst>
          </p:cNvPr>
          <p:cNvSpPr>
            <a:spLocks xmlns:a="http://schemas.openxmlformats.org/drawingml/2006/main" noGrp="1"/>
          </p:cNvSpPr>
          <p:nvPr/>
        </p:nvSpPr>
        <p:spPr>
          <a:xfrm xmlns:a="http://schemas.openxmlformats.org/drawingml/2006/main">
            <a:off x="4810125" y="2333625"/>
            <a:ext cx="1476300" cy="20478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swap_horiz</a:t>
            </a:r>
          </a:p>
          <a:p xmlns:a="http://schemas.openxmlformats.org/drawingml/2006/main">
            <a:pPr marL="0" indent="0" algn="l">
              <a:spcBef>
                <a:spcPts val="600"/>
              </a:spcBef>
              <a:spcAft>
                <a:spcPts val="0"/>
              </a:spcAft>
              <a:buNone/>
            </a:pPr>
            <a:r>
              <a:rPr sz="1250" b="1">
                <a:solidFill>
                  <a:srgbClr val="1A1A1A"/>
                </a:solidFill>
                <a:latin typeface="Raleway"/>
                <a:ea typeface="Raleway"/>
                <a:cs typeface="Raleway"/>
              </a:rPr>
              <a:t>Interopérabilité</a:t>
            </a:r>
          </a:p>
          <a:p xmlns:a="http://schemas.openxmlformats.org/drawingml/2006/main">
            <a:pPr marL="0" indent="0" algn="l">
              <a:spcBef>
                <a:spcPts val="600"/>
              </a:spcBef>
              <a:spcAft>
                <a:spcPts val="0"/>
              </a:spcAft>
              <a:buNone/>
            </a:pPr>
            <a:r>
              <a:rPr sz="950" b="0">
                <a:solidFill>
                  <a:srgbClr val="595959"/>
                </a:solidFill>
                <a:latin typeface="Lato"/>
                <a:ea typeface="Lato"/>
                <a:cs typeface="Lato"/>
              </a:rPr>
              <a:t>Apprentissage pratique de l'interopérabilité des langages (C++ / Python) pour allier performance et flexibilité.</a:t>
            </a:r>
          </a:p>
        </p:txBody>
      </p:sp>
      <p:sp>
        <p:nvSpPr>
          <p:cNvPr id="542" name="Google Shape;542;p50">
            <a:extLst xmlns:a="http://schemas.openxmlformats.org/drawingml/2006/main">
              <a:ext uri="{FF2B5EF4-FFF2-40B4-BE49-F238E27FC236}">
                <a16:creationId xmlns:a16="http://schemas.microsoft.com/office/drawing/2014/main" id="{ABB2D14A-CE84-43C2-B29A-2BEB8B51623E}"/>
              </a:ext>
            </a:extLst>
          </p:cNvPr>
          <p:cNvSpPr>
            <a:spLocks xmlns:a="http://schemas.openxmlformats.org/drawingml/2006/main" noGrp="1"/>
          </p:cNvSpPr>
          <p:nvPr/>
        </p:nvSpPr>
        <p:spPr>
          <a:xfrm xmlns:a="http://schemas.openxmlformats.org/drawingml/2006/main">
            <a:off x="6781800" y="2333625"/>
            <a:ext cx="1476300" cy="20478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tune</a:t>
            </a:r>
          </a:p>
          <a:p xmlns:a="http://schemas.openxmlformats.org/drawingml/2006/main">
            <a:pPr marL="0" indent="0" algn="l">
              <a:spcBef>
                <a:spcPts val="600"/>
              </a:spcBef>
              <a:spcAft>
                <a:spcPts val="0"/>
              </a:spcAft>
              <a:buNone/>
            </a:pPr>
            <a:r>
              <a:rPr sz="1250" b="1">
                <a:solidFill>
                  <a:srgbClr val="1A1A1A"/>
                </a:solidFill>
                <a:latin typeface="Raleway"/>
                <a:ea typeface="Raleway"/>
                <a:cs typeface="Raleway"/>
              </a:rPr>
              <a:t>Fine tuning</a:t>
            </a:r>
          </a:p>
          <a:p xmlns:a="http://schemas.openxmlformats.org/drawingml/2006/main">
            <a:pPr marL="0" indent="0" algn="l">
              <a:spcBef>
                <a:spcPts val="600"/>
              </a:spcBef>
              <a:spcAft>
                <a:spcPts val="0"/>
              </a:spcAft>
              <a:buNone/>
            </a:pPr>
            <a:r>
              <a:rPr sz="950" b="0">
                <a:solidFill>
                  <a:srgbClr val="595959"/>
                </a:solidFill>
                <a:latin typeface="Lato"/>
                <a:ea typeface="Lato"/>
                <a:cs typeface="Lato"/>
              </a:rPr>
              <a:t>Apprentissage de l’utilisation et de l'optimisation des paramètres pour affiner le comportement des modèles entraînés.</a:t>
            </a:r>
          </a:p>
        </p:txBody>
      </p:sp>
    </p:spTree>
    <p:extLst>
      <p:ext uri="{BB962C8B-B14F-4D97-AF65-F5344CB8AC3E}">
        <p14:creationId xmlns:p14="http://schemas.microsoft.com/office/powerpoint/2010/main" val="187700203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47" name="Google Shape;547;p51">
            <a:extLst xmlns:a="http://schemas.openxmlformats.org/drawingml/2006/main">
              <a:ext uri="{FF2B5EF4-FFF2-40B4-BE49-F238E27FC236}">
                <a16:creationId xmlns:a16="http://schemas.microsoft.com/office/drawing/2014/main" id="{C1A13F33-8D2D-4CD8-95A4-040FBC9CFE32}"/>
              </a:ext>
            </a:extLst>
          </p:cNvPr>
          <p:cNvSpPr>
            <a:spLocks xmlns:a="http://schemas.openxmlformats.org/drawingml/2006/main" noGrp="1"/>
          </p:cNvSpPr>
          <p:nvPr>
            <p:ph type="title" idx="0"/>
          </p:nvPr>
        </p:nvSpPr>
        <p:spPr>
          <a:xfrm xmlns:a="http://schemas.openxmlformats.org/drawingml/2006/main">
            <a:off x="729450" y="1318650"/>
            <a:ext cx="76884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Conclusion</a:t>
            </a:r>
          </a:p>
        </p:txBody>
      </p:sp>
      <p:sp>
        <p:nvSpPr>
          <p:cNvPr id="548" name="Google Shape;548;p51">
            <a:extLst xmlns:a="http://schemas.openxmlformats.org/drawingml/2006/main">
              <a:ext uri="{FF2B5EF4-FFF2-40B4-BE49-F238E27FC236}">
                <a16:creationId xmlns:a16="http://schemas.microsoft.com/office/drawing/2014/main" id="{16082FAE-CDC2-433E-841A-6BFF5F0913CC}"/>
              </a:ext>
            </a:extLst>
          </p:cNvPr>
          <p:cNvSpPr>
            <a:spLocks xmlns:a="http://schemas.openxmlformats.org/drawingml/2006/main" noGrp="1"/>
          </p:cNvSpPr>
          <p:nvPr/>
        </p:nvSpPr>
        <p:spPr>
          <a:xfrm xmlns:a="http://schemas.openxmlformats.org/drawingml/2006/main">
            <a:off x="729450" y="1853851"/>
            <a:ext cx="6345600" cy="384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0475" tIns="90475" rIns="90475" bIns="90475" anchor="t">
            <a:noAutofit/>
          </a:bodyPr>
          <a:lstStyle xmlns:a="http://schemas.openxmlformats.org/drawingml/2006/main"/>
          <a:p xmlns:a="http://schemas.openxmlformats.org/drawingml/2006/main">
            <a:pPr marL="0" indent="0" algn="l">
              <a:spcBef>
                <a:spcPts val="0"/>
              </a:spcBef>
              <a:spcAft>
                <a:spcPts val="0"/>
              </a:spcAft>
              <a:buNone/>
            </a:pPr>
            <a:r>
              <a:rPr sz="1300" b="0">
                <a:solidFill>
                  <a:srgbClr val="595959"/>
                </a:solidFill>
                <a:latin typeface="Lato"/>
                <a:ea typeface="Lato"/>
                <a:cs typeface="Lato"/>
              </a:rPr>
              <a:t>Post mortem</a:t>
            </a:r>
          </a:p>
        </p:txBody>
      </p:sp>
      <p:sp>
        <p:nvSpPr>
          <p:cNvPr id="549" name="Google Shape;549;p51">
            <a:extLst xmlns:a="http://schemas.openxmlformats.org/drawingml/2006/main">
              <a:ext uri="{FF2B5EF4-FFF2-40B4-BE49-F238E27FC236}">
                <a16:creationId xmlns:a16="http://schemas.microsoft.com/office/drawing/2014/main" id="{B7B2A2CC-448D-4587-B5E1-4103DB8AE517}"/>
              </a:ext>
            </a:extLst>
          </p:cNvPr>
          <p:cNvSpPr>
            <a:spLocks xmlns:a="http://schemas.openxmlformats.org/drawingml/2006/main" noGrp="1"/>
          </p:cNvSpPr>
          <p:nvPr/>
        </p:nvSpPr>
        <p:spPr>
          <a:xfrm xmlns:a="http://schemas.openxmlformats.org/drawingml/2006/main">
            <a:off x="723900" y="219075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0" name="Google Shape;550;p51">
            <a:extLst xmlns:a="http://schemas.openxmlformats.org/drawingml/2006/main">
              <a:ext uri="{FF2B5EF4-FFF2-40B4-BE49-F238E27FC236}">
                <a16:creationId xmlns:a16="http://schemas.microsoft.com/office/drawing/2014/main" id="{55E7E9B0-C8A2-4FF1-A30C-8F2B934A6BDE}"/>
              </a:ext>
            </a:extLst>
          </p:cNvPr>
          <p:cNvSpPr>
            <a:spLocks xmlns:a="http://schemas.openxmlformats.org/drawingml/2006/main" noGrp="1"/>
          </p:cNvSpPr>
          <p:nvPr/>
        </p:nvSpPr>
        <p:spPr>
          <a:xfrm xmlns:a="http://schemas.openxmlformats.org/drawingml/2006/main">
            <a:off x="3381375" y="219075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1" name="Google Shape;551;p51">
            <a:extLst xmlns:a="http://schemas.openxmlformats.org/drawingml/2006/main">
              <a:ext uri="{FF2B5EF4-FFF2-40B4-BE49-F238E27FC236}">
                <a16:creationId xmlns:a16="http://schemas.microsoft.com/office/drawing/2014/main" id="{46DEC82B-6A02-4A18-84E7-77A12DD27E6F}"/>
              </a:ext>
            </a:extLst>
          </p:cNvPr>
          <p:cNvSpPr>
            <a:spLocks xmlns:a="http://schemas.openxmlformats.org/drawingml/2006/main" noGrp="1"/>
          </p:cNvSpPr>
          <p:nvPr/>
        </p:nvSpPr>
        <p:spPr>
          <a:xfrm xmlns:a="http://schemas.openxmlformats.org/drawingml/2006/main">
            <a:off x="6038850" y="2190750"/>
            <a:ext cx="2381400" cy="2286000"/>
          </a:xfrm>
          <a:prstGeom xmlns:a="http://schemas.openxmlformats.org/drawingml/2006/main" prst="roundRect">
            <a:avLst>
              <a:gd name="adj" fmla="val 3333"/>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2" name="Google Shape;552;p51">
            <a:extLst xmlns:a="http://schemas.openxmlformats.org/drawingml/2006/main">
              <a:ext uri="{FF2B5EF4-FFF2-40B4-BE49-F238E27FC236}">
                <a16:creationId xmlns:a16="http://schemas.microsoft.com/office/drawing/2014/main" id="{7B84613A-5D16-4797-8ACE-A10966E14490}"/>
              </a:ext>
            </a:extLst>
          </p:cNvPr>
          <p:cNvSpPr>
            <a:spLocks xmlns:a="http://schemas.openxmlformats.org/drawingml/2006/main" noGrp="1"/>
          </p:cNvSpPr>
          <p:nvPr/>
        </p:nvSpPr>
        <p:spPr>
          <a:xfrm xmlns:a="http://schemas.openxmlformats.org/drawingml/2006/main">
            <a:off x="876300" y="234315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warning</a:t>
            </a:r>
          </a:p>
          <a:p xmlns:a="http://schemas.openxmlformats.org/drawingml/2006/main">
            <a:pPr marL="0" indent="0" algn="l">
              <a:spcBef>
                <a:spcPts val="600"/>
              </a:spcBef>
              <a:spcAft>
                <a:spcPts val="0"/>
              </a:spcAft>
              <a:buNone/>
            </a:pPr>
            <a:r>
              <a:rPr sz="1300" b="1">
                <a:solidFill>
                  <a:srgbClr val="1A1A1A"/>
                </a:solidFill>
                <a:latin typeface="Raleway"/>
                <a:ea typeface="Raleway"/>
                <a:cs typeface="Raleway"/>
              </a:rPr>
              <a:t>Analyse Globale</a:t>
            </a:r>
          </a:p>
          <a:p xmlns:a="http://schemas.openxmlformats.org/drawingml/2006/main">
            <a:pPr marL="0" indent="0" algn="l">
              <a:spcBef>
                <a:spcPts val="600"/>
              </a:spcBef>
              <a:spcAft>
                <a:spcPts val="600"/>
              </a:spcAft>
              <a:buNone/>
            </a:pPr>
            <a:r>
              <a:rPr sz="1050" b="0">
                <a:solidFill>
                  <a:srgbClr val="595959"/>
                </a:solidFill>
                <a:latin typeface="Lato"/>
                <a:ea typeface="Lato"/>
                <a:cs typeface="Lato"/>
              </a:rPr>
              <a:t>Nous avons rencontré plusieurs difficultés et imprévus évitables tout au long de la réalisation du projet.</a:t>
            </a:r>
          </a:p>
        </p:txBody>
      </p:sp>
      <p:sp>
        <p:nvSpPr>
          <p:cNvPr id="553" name="Google Shape;553;p51">
            <a:extLst xmlns:a="http://schemas.openxmlformats.org/drawingml/2006/main">
              <a:ext uri="{FF2B5EF4-FFF2-40B4-BE49-F238E27FC236}">
                <a16:creationId xmlns:a16="http://schemas.microsoft.com/office/drawing/2014/main" id="{72B47B18-23BD-471D-BA77-2A71B96AE087}"/>
              </a:ext>
            </a:extLst>
          </p:cNvPr>
          <p:cNvSpPr>
            <a:spLocks xmlns:a="http://schemas.openxmlformats.org/drawingml/2006/main" noGrp="1"/>
          </p:cNvSpPr>
          <p:nvPr/>
        </p:nvSpPr>
        <p:spPr>
          <a:xfrm xmlns:a="http://schemas.openxmlformats.org/drawingml/2006/main">
            <a:off x="3533775" y="234315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1A9988"/>
                </a:solidFill>
                <a:latin typeface="Material Icons"/>
                <a:ea typeface="Material Icons"/>
                <a:cs typeface="Material Icons"/>
              </a:rPr>
              <a:t>storage</a:t>
            </a:r>
          </a:p>
          <a:p xmlns:a="http://schemas.openxmlformats.org/drawingml/2006/main">
            <a:pPr marL="0" indent="0" algn="l">
              <a:spcBef>
                <a:spcPts val="600"/>
              </a:spcBef>
              <a:spcAft>
                <a:spcPts val="0"/>
              </a:spcAft>
              <a:buNone/>
            </a:pPr>
            <a:r>
              <a:rPr sz="1300" b="1">
                <a:solidFill>
                  <a:srgbClr val="1A1A1A"/>
                </a:solidFill>
                <a:latin typeface="Raleway"/>
                <a:ea typeface="Raleway"/>
                <a:cs typeface="Raleway"/>
              </a:rPr>
              <a:t>Sources du Dataset</a:t>
            </a:r>
          </a:p>
          <a:p xmlns:a="http://schemas.openxmlformats.org/drawingml/2006/main">
            <a:pPr marL="0" indent="0" algn="l">
              <a:spcBef>
                <a:spcPts val="600"/>
              </a:spcBef>
              <a:spcAft>
                <a:spcPts val="600"/>
              </a:spcAft>
              <a:buNone/>
            </a:pPr>
            <a:r>
              <a:rPr sz="1050" b="0">
                <a:solidFill>
                  <a:srgbClr val="595959"/>
                </a:solidFill>
                <a:latin typeface="Lato"/>
                <a:ea typeface="Lato"/>
                <a:cs typeface="Lato"/>
              </a:rPr>
              <a:t>La constitution de notre base de données s'est avérée complexe en raison d'un manque critique de sources fiables.</a:t>
            </a:r>
          </a:p>
        </p:txBody>
      </p:sp>
      <p:sp>
        <p:nvSpPr>
          <p:cNvPr id="554" name="Google Shape;554;p51">
            <a:extLst xmlns:a="http://schemas.openxmlformats.org/drawingml/2006/main">
              <a:ext uri="{FF2B5EF4-FFF2-40B4-BE49-F238E27FC236}">
                <a16:creationId xmlns:a16="http://schemas.microsoft.com/office/drawing/2014/main" id="{2C7B1A5A-2EF7-46F3-A9D2-8B750074109A}"/>
              </a:ext>
            </a:extLst>
          </p:cNvPr>
          <p:cNvSpPr>
            <a:spLocks xmlns:a="http://schemas.openxmlformats.org/drawingml/2006/main" noGrp="1"/>
          </p:cNvSpPr>
          <p:nvPr/>
        </p:nvSpPr>
        <p:spPr>
          <a:xfrm xmlns:a="http://schemas.openxmlformats.org/drawingml/2006/main">
            <a:off x="6191250" y="2343150"/>
            <a:ext cx="2076600" cy="19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b="0">
                <a:solidFill>
                  <a:srgbClr val="EB5600"/>
                </a:solidFill>
                <a:latin typeface="Material Icons"/>
                <a:ea typeface="Material Icons"/>
                <a:cs typeface="Material Icons"/>
              </a:rPr>
              <a:t>computer</a:t>
            </a:r>
          </a:p>
          <a:p xmlns:a="http://schemas.openxmlformats.org/drawingml/2006/main">
            <a:pPr marL="0" indent="0" algn="l">
              <a:spcBef>
                <a:spcPts val="600"/>
              </a:spcBef>
              <a:spcAft>
                <a:spcPts val="0"/>
              </a:spcAft>
              <a:buNone/>
            </a:pPr>
            <a:r>
              <a:rPr sz="1300" b="1">
                <a:solidFill>
                  <a:srgbClr val="1A1A1A"/>
                </a:solidFill>
                <a:latin typeface="Raleway"/>
                <a:ea typeface="Raleway"/>
                <a:cs typeface="Raleway"/>
              </a:rPr>
              <a:t>Contrainte Locale</a:t>
            </a:r>
          </a:p>
          <a:p xmlns:a="http://schemas.openxmlformats.org/drawingml/2006/main">
            <a:pPr marL="0" indent="0" algn="l">
              <a:spcBef>
                <a:spcPts val="600"/>
              </a:spcBef>
              <a:spcAft>
                <a:spcPts val="600"/>
              </a:spcAft>
              <a:buNone/>
            </a:pPr>
            <a:r>
              <a:rPr sz="1050" b="0">
                <a:solidFill>
                  <a:srgbClr val="595959"/>
                </a:solidFill>
                <a:latin typeface="Lato"/>
                <a:ea typeface="Lato"/>
                <a:cs typeface="Lato"/>
              </a:rPr>
              <a:t>Initialement orientés vers une solution cloud, nous avons dû adapter l'ensemble de notre code pour un usage local.</a:t>
            </a:r>
          </a:p>
        </p:txBody>
      </p:sp>
    </p:spTree>
    <p:extLst>
      <p:ext uri="{BB962C8B-B14F-4D97-AF65-F5344CB8AC3E}">
        <p14:creationId xmlns:p14="http://schemas.microsoft.com/office/powerpoint/2010/main" val="2085018490"/>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59" name="Google Shape;559;p52">
            <a:extLst xmlns:a="http://schemas.openxmlformats.org/drawingml/2006/main">
              <a:ext uri="{FF2B5EF4-FFF2-40B4-BE49-F238E27FC236}">
                <a16:creationId xmlns:a16="http://schemas.microsoft.com/office/drawing/2014/main" id="{EB21CC04-FA70-42DB-B61B-00B5AE10819B}"/>
              </a:ext>
            </a:extLst>
          </p:cNvPr>
          <p:cNvSpPr>
            <a:spLocks xmlns:a="http://schemas.openxmlformats.org/drawingml/2006/main" noGrp="1"/>
          </p:cNvSpPr>
          <p:nvPr/>
        </p:nvSpPr>
        <p:spPr>
          <a:xfrm xmlns:a="http://schemas.openxmlformats.org/drawingml/2006/main">
            <a:off x="0" y="0"/>
            <a:ext cx="9144000" cy="487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1" name="Google Shape;561;p52">
            <a:extLst xmlns:a="http://schemas.openxmlformats.org/drawingml/2006/main">
              <a:ext uri="{FF2B5EF4-FFF2-40B4-BE49-F238E27FC236}">
                <a16:creationId xmlns:a16="http://schemas.microsoft.com/office/drawing/2014/main" id="{9588FE5D-6A64-45B1-87FB-AC937448D2E5}"/>
              </a:ext>
            </a:extLst>
          </p:cNvPr>
          <p:cNvSpPr>
            <a:spLocks xmlns:a="http://schemas.openxmlformats.org/drawingml/2006/main" noGrp="1"/>
          </p:cNvSpPr>
          <p:nvPr/>
        </p:nvSpPr>
        <p:spPr>
          <a:xfrm xmlns:a="http://schemas.openxmlformats.org/drawingml/2006/main" rot="-5400000" flipH="0" flipV="0">
            <a:off x="1380898" y="730268"/>
            <a:ext cx="17655" cy="967801"/>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2" name="Google Shape;562;p52">
            <a:extLst xmlns:a="http://schemas.openxmlformats.org/drawingml/2006/main">
              <a:ext uri="{FF2B5EF4-FFF2-40B4-BE49-F238E27FC236}">
                <a16:creationId xmlns:a16="http://schemas.microsoft.com/office/drawing/2014/main" id="{44185555-5847-44C7-B72A-92A5CBC57C9F}"/>
              </a:ext>
            </a:extLst>
          </p:cNvPr>
          <p:cNvSpPr>
            <a:spLocks xmlns:a="http://schemas.openxmlformats.org/drawingml/2006/main" noGrp="1"/>
          </p:cNvSpPr>
          <p:nvPr/>
        </p:nvSpPr>
        <p:spPr>
          <a:xfrm xmlns:a="http://schemas.openxmlformats.org/drawingml/2006/main" rot="-5400000" flipH="0" flipV="0">
            <a:off x="1009571" y="726176"/>
            <a:ext cx="17655" cy="975984"/>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3" name="Google Shape;563;p52">
            <a:extLst xmlns:a="http://schemas.openxmlformats.org/drawingml/2006/main">
              <a:ext uri="{FF2B5EF4-FFF2-40B4-BE49-F238E27FC236}">
                <a16:creationId xmlns:a16="http://schemas.microsoft.com/office/drawing/2014/main" id="{99953E00-B05F-4881-ACEA-1371644E1AAC}"/>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Conclusion</a:t>
            </a:r>
          </a:p>
        </p:txBody>
      </p:sp>
      <p:sp>
        <p:nvSpPr>
          <p:cNvPr id="564" name="Google Shape;564;p52">
            <a:extLst xmlns:a="http://schemas.openxmlformats.org/drawingml/2006/main">
              <a:ext uri="{FF2B5EF4-FFF2-40B4-BE49-F238E27FC236}">
                <a16:creationId xmlns:a16="http://schemas.microsoft.com/office/drawing/2014/main" id="{A181F44C-07B5-4C6F-A7AB-F6C131B17B49}"/>
              </a:ext>
            </a:extLst>
          </p:cNvPr>
          <p:cNvSpPr>
            <a:spLocks xmlns:a="http://schemas.openxmlformats.org/drawingml/2006/main" noGrp="1"/>
          </p:cNvSpPr>
          <p:nvPr/>
        </p:nvSpPr>
        <p:spPr>
          <a:xfrm xmlns:a="http://schemas.openxmlformats.org/drawingml/2006/main">
            <a:off x="729450" y="1857375"/>
            <a:ext cx="76866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a:solidFill>
                  <a:srgbClr val="1A1A1A"/>
                </a:solidFill>
                <a:latin typeface="Lato"/>
                <a:ea typeface="Lato"/>
                <a:cs typeface="Lato"/>
              </a:rPr>
              <a:t>Ouverture :</a:t>
            </a:r>
          </a:p>
        </p:txBody>
      </p:sp>
      <p:sp>
        <p:nvSpPr>
          <p:cNvPr id="565" name="Google Shape;565;p52">
            <a:extLst xmlns:a="http://schemas.openxmlformats.org/drawingml/2006/main">
              <a:ext uri="{FF2B5EF4-FFF2-40B4-BE49-F238E27FC236}">
                <a16:creationId xmlns:a16="http://schemas.microsoft.com/office/drawing/2014/main" id="{5C1A8CCB-CF8F-4D3C-B342-B770658D72E6}"/>
              </a:ext>
            </a:extLst>
          </p:cNvPr>
          <p:cNvSpPr>
            <a:spLocks xmlns:a="http://schemas.openxmlformats.org/drawingml/2006/main" noGrp="1"/>
          </p:cNvSpPr>
          <p:nvPr/>
        </p:nvSpPr>
        <p:spPr>
          <a:xfrm xmlns:a="http://schemas.openxmlformats.org/drawingml/2006/main">
            <a:off x="723900" y="2333625"/>
            <a:ext cx="36195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6" name="Google Shape;566;p52">
            <a:extLst xmlns:a="http://schemas.openxmlformats.org/drawingml/2006/main">
              <a:ext uri="{FF2B5EF4-FFF2-40B4-BE49-F238E27FC236}">
                <a16:creationId xmlns:a16="http://schemas.microsoft.com/office/drawing/2014/main" id="{30EC64EF-9D8C-4C08-AF40-62D40C29CBF6}"/>
              </a:ext>
            </a:extLst>
          </p:cNvPr>
          <p:cNvSpPr>
            <a:spLocks xmlns:a="http://schemas.openxmlformats.org/drawingml/2006/main" noGrp="1"/>
          </p:cNvSpPr>
          <p:nvPr/>
        </p:nvSpPr>
        <p:spPr>
          <a:xfrm xmlns:a="http://schemas.openxmlformats.org/drawingml/2006/main">
            <a:off x="4791075" y="2333625"/>
            <a:ext cx="3619500" cy="2143200"/>
          </a:xfrm>
          <a:prstGeom xmlns:a="http://schemas.openxmlformats.org/drawingml/2006/main" prst="roundRect">
            <a:avLst>
              <a:gd name="adj" fmla="val 3555"/>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7" name="Google Shape;567;p52">
            <a:extLst xmlns:a="http://schemas.openxmlformats.org/drawingml/2006/main">
              <a:ext uri="{FF2B5EF4-FFF2-40B4-BE49-F238E27FC236}">
                <a16:creationId xmlns:a16="http://schemas.microsoft.com/office/drawing/2014/main" id="{9A5185C3-17DE-45BA-A202-AEF0EA3C527D}"/>
              </a:ext>
            </a:extLst>
          </p:cNvPr>
          <p:cNvSpPr>
            <a:spLocks xmlns:a="http://schemas.openxmlformats.org/drawingml/2006/main" noGrp="1"/>
          </p:cNvSpPr>
          <p:nvPr/>
        </p:nvSpPr>
        <p:spPr>
          <a:xfrm xmlns:a="http://schemas.openxmlformats.org/drawingml/2006/main">
            <a:off x="914400" y="2524125"/>
            <a:ext cx="3238500" cy="1762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b="0">
                <a:solidFill>
                  <a:srgbClr val="1A9988"/>
                </a:solidFill>
                <a:latin typeface="Material Icons"/>
                <a:ea typeface="Material Icons"/>
                <a:cs typeface="Material Icons"/>
              </a:rPr>
              <a:t>web</a:t>
            </a:r>
          </a:p>
          <a:p xmlns:a="http://schemas.openxmlformats.org/drawingml/2006/main">
            <a:pPr marL="0" indent="0" algn="l">
              <a:spcBef>
                <a:spcPts val="750"/>
              </a:spcBef>
              <a:spcAft>
                <a:spcPts val="0"/>
              </a:spcAft>
              <a:buNone/>
            </a:pPr>
            <a:r>
              <a:rPr sz="1350" b="1">
                <a:solidFill>
                  <a:srgbClr val="1A1A1A"/>
                </a:solidFill>
                <a:latin typeface="Raleway"/>
                <a:ea typeface="Raleway"/>
                <a:cs typeface="Raleway"/>
              </a:rPr>
              <a:t>Migration WebAssembly</a:t>
            </a:r>
          </a:p>
          <a:p xmlns:a="http://schemas.openxmlformats.org/drawingml/2006/main">
            <a:pPr marL="0" indent="0" algn="l">
              <a:spcBef>
                <a:spcPts val="600"/>
              </a:spcBef>
              <a:spcAft>
                <a:spcPts val="0"/>
              </a:spcAft>
              <a:buNone/>
            </a:pPr>
            <a:r>
              <a:rPr sz="1100" b="0">
                <a:solidFill>
                  <a:srgbClr val="595959"/>
                </a:solidFill>
                <a:latin typeface="Lato"/>
                <a:ea typeface="Lato"/>
                <a:cs typeface="Lato"/>
              </a:rPr>
              <a:t>Compilation directe du moteur C++ en Wasm pour exécuter l'inférence localement sur le navigateur client, éliminant la latence réseau.</a:t>
            </a:r>
          </a:p>
        </p:txBody>
      </p:sp>
      <p:sp>
        <p:nvSpPr>
          <p:cNvPr id="568" name="Google Shape;568;p52">
            <a:extLst xmlns:a="http://schemas.openxmlformats.org/drawingml/2006/main">
              <a:ext uri="{FF2B5EF4-FFF2-40B4-BE49-F238E27FC236}">
                <a16:creationId xmlns:a16="http://schemas.microsoft.com/office/drawing/2014/main" id="{540438F4-773E-4650-A96F-B908B6472523}"/>
              </a:ext>
            </a:extLst>
          </p:cNvPr>
          <p:cNvSpPr>
            <a:spLocks xmlns:a="http://schemas.openxmlformats.org/drawingml/2006/main" noGrp="1"/>
          </p:cNvSpPr>
          <p:nvPr/>
        </p:nvSpPr>
        <p:spPr>
          <a:xfrm xmlns:a="http://schemas.openxmlformats.org/drawingml/2006/main">
            <a:off x="4981575" y="2524125"/>
            <a:ext cx="3238500" cy="1762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b="0">
                <a:solidFill>
                  <a:srgbClr val="EB5600"/>
                </a:solidFill>
                <a:latin typeface="Material Icons"/>
                <a:ea typeface="Material Icons"/>
                <a:cs typeface="Material Icons"/>
              </a:rPr>
              <a:t>memory</a:t>
            </a:r>
          </a:p>
          <a:p xmlns:a="http://schemas.openxmlformats.org/drawingml/2006/main">
            <a:pPr marL="0" indent="0" algn="l">
              <a:spcBef>
                <a:spcPts val="750"/>
              </a:spcBef>
              <a:spcAft>
                <a:spcPts val="0"/>
              </a:spcAft>
              <a:buNone/>
            </a:pPr>
            <a:r>
              <a:rPr sz="1350" b="1">
                <a:solidFill>
                  <a:srgbClr val="1A1A1A"/>
                </a:solidFill>
                <a:latin typeface="Raleway"/>
                <a:ea typeface="Raleway"/>
                <a:cs typeface="Raleway"/>
              </a:rPr>
              <a:t>Accélération CUDA</a:t>
            </a:r>
          </a:p>
          <a:p xmlns:a="http://schemas.openxmlformats.org/drawingml/2006/main">
            <a:pPr marL="0" indent="0" algn="l">
              <a:spcBef>
                <a:spcPts val="600"/>
              </a:spcBef>
              <a:spcAft>
                <a:spcPts val="0"/>
              </a:spcAft>
              <a:buNone/>
            </a:pPr>
            <a:r>
              <a:rPr sz="1100" b="0">
                <a:solidFill>
                  <a:srgbClr val="595959"/>
                </a:solidFill>
                <a:latin typeface="Lato"/>
                <a:ea typeface="Lato"/>
                <a:cs typeface="Lato"/>
              </a:rPr>
              <a:t>Parallélisation GPU native pour entraîner des réseaux profonds complexes de type convolutifs (CNN).</a:t>
            </a:r>
          </a:p>
        </p:txBody>
      </p:sp>
    </p:spTree>
    <p:extLst>
      <p:ext uri="{BB962C8B-B14F-4D97-AF65-F5344CB8AC3E}">
        <p14:creationId xmlns:p14="http://schemas.microsoft.com/office/powerpoint/2010/main" val="187950714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73" name="Google Shape;573;p53">
            <a:extLst xmlns:a="http://schemas.openxmlformats.org/drawingml/2006/main">
              <a:ext uri="{FF2B5EF4-FFF2-40B4-BE49-F238E27FC236}">
                <a16:creationId xmlns:a16="http://schemas.microsoft.com/office/drawing/2014/main" id="{8F4D0AA1-4432-4398-A6A2-877F145C337E}"/>
              </a:ext>
            </a:extLst>
          </p:cNvPr>
          <p:cNvSpPr>
            <a:spLocks xmlns:a="http://schemas.openxmlformats.org/drawingml/2006/main" noGrp="1"/>
          </p:cNvSpPr>
          <p:nvPr>
            <p:ph type="title" idx="0"/>
          </p:nvPr>
        </p:nvSpPr>
        <p:spPr>
          <a:xfrm xmlns:a="http://schemas.openxmlformats.org/drawingml/2006/main">
            <a:off x="729450" y="1318650"/>
            <a:ext cx="7688700" cy="5352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Questions &amp; Réponses</a:t>
            </a:r>
          </a:p>
        </p:txBody>
      </p:sp>
      <p:sp>
        <p:nvSpPr>
          <p:cNvPr id="574" name="Google Shape;574;p53">
            <a:extLst xmlns:a="http://schemas.openxmlformats.org/drawingml/2006/main">
              <a:ext uri="{FF2B5EF4-FFF2-40B4-BE49-F238E27FC236}">
                <a16:creationId xmlns:a16="http://schemas.microsoft.com/office/drawing/2014/main" id="{4DD3351B-FB73-4693-8E33-2FEF89AACC71}"/>
              </a:ext>
            </a:extLst>
          </p:cNvPr>
          <p:cNvSpPr>
            <a:spLocks xmlns:a="http://schemas.openxmlformats.org/drawingml/2006/main" noGrp="1"/>
          </p:cNvSpPr>
          <p:nvPr>
            <p:ph type="body" idx="1"/>
          </p:nvPr>
        </p:nvSpPr>
        <p:spPr>
          <a:xfrm xmlns:a="http://schemas.openxmlformats.org/drawingml/2006/main">
            <a:off x="729450" y="2000250"/>
            <a:ext cx="3810000" cy="1428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indent="0" algn="l">
              <a:spcBef>
                <a:spcPts val="0"/>
              </a:spcBef>
              <a:spcAft>
                <a:spcPts val="0"/>
              </a:spcAft>
              <a:buNone/>
            </a:pPr>
            <a:r>
              <a:rPr sz="2800" b="1">
                <a:solidFill>
                  <a:srgbClr val="EB5600"/>
                </a:solidFill>
                <a:latin typeface="Raleway"/>
                <a:ea typeface="Raleway"/>
                <a:cs typeface="Raleway"/>
              </a:rPr>
              <a:t>Merci !</a:t>
            </a:r>
          </a:p>
          <a:p xmlns:a="http://schemas.openxmlformats.org/drawingml/2006/main">
            <a:pPr marL="0" indent="0" algn="l">
              <a:spcBef>
                <a:spcPts val="900"/>
              </a:spcBef>
              <a:spcAft>
                <a:spcPts val="1200"/>
              </a:spcAft>
              <a:buNone/>
            </a:pPr>
            <a:r>
              <a:rPr sz="1300" b="0">
                <a:solidFill>
                  <a:srgbClr val="595959"/>
                </a:solidFill>
                <a:latin typeface="Lato"/>
                <a:ea typeface="Lato"/>
                <a:cs typeface="Lato"/>
              </a:rPr>
              <a:t>Nous vous remercions pour votre attention et votre écoute.</a:t>
            </a:r>
          </a:p>
        </p:txBody>
      </p:sp>
      <p:pic>
        <p:nvPicPr>
          <p:cNvPr id="581" name="Google Shape;576;p53"/>
          <p:cNvPicPr>
            <a:picLocks xmlns:a="http://schemas.openxmlformats.org/drawingml/2006/main" noChangeAspect="1"/>
          </p:cNvPicPr>
          <p:nvPr/>
        </p:nvPicPr>
        <p:blipFill rotWithShape="1">
          <a:blip xmlns:r="http://schemas.openxmlformats.org/officeDocument/2006/relationships" xmlns:a="http://schemas.openxmlformats.org/drawingml/2006/main" r:embed="Rc35a510d12f7444b">
            <a:alphaModFix/>
          </a:blip>
          <a:srcRect xmlns:a="http://schemas.openxmlformats.org/drawingml/2006/main" l="0" t="0" r="0" b="0"/>
          <a:stretch xmlns:a="http://schemas.openxmlformats.org/drawingml/2006/main"/>
        </p:blipFill>
        <p:spPr>
          <a:xfrm xmlns:a="http://schemas.openxmlformats.org/drawingml/2006/main" rot="0" flipH="0" flipV="0">
            <a:off x="4953000" y="1905000"/>
            <a:ext cx="3429000" cy="2571900"/>
          </a:xfrm>
          <a:prstGeom xmlns:a="http://schemas.openxmlformats.org/drawingml/2006/main" prst="roundRect">
            <a:avLst>
              <a:gd name="adj" fmla="val 4444"/>
            </a:avLst>
          </a:prstGeom>
          <a:ln xmlns:a="http://schemas.openxmlformats.org/drawingml/2006/main">
            <a:noFill/>
          </a:ln>
        </p:spPr>
      </p:pic>
      <p:sp>
        <p:nvSpPr>
          <p:cNvPr id="577" name="Google Shape;577;p53">
            <a:extLst xmlns:a="http://schemas.openxmlformats.org/drawingml/2006/main">
              <a:ext uri="{FF2B5EF4-FFF2-40B4-BE49-F238E27FC236}">
                <a16:creationId xmlns:a16="http://schemas.microsoft.com/office/drawing/2014/main" id="{AD885963-F8F8-4C2A-B064-BC158E404A9A}"/>
              </a:ext>
            </a:extLst>
          </p:cNvPr>
          <p:cNvSpPr>
            <a:spLocks xmlns:a="http://schemas.openxmlformats.org/drawingml/2006/main" noGrp="1"/>
          </p:cNvSpPr>
          <p:nvPr/>
        </p:nvSpPr>
        <p:spPr>
          <a:xfrm xmlns:a="http://schemas.openxmlformats.org/drawingml/2006/main" rot="0" flipH="0" flipV="0">
            <a:off x="4953000" y="1905000"/>
            <a:ext cx="3429000" cy="2571900"/>
          </a:xfrm>
          <a:prstGeom xmlns:a="http://schemas.openxmlformats.org/drawingml/2006/main" prst="roundRect">
            <a:avLst>
              <a:gd name="adj" fmla="val 4444"/>
            </a:avLst>
          </a:prstGeom>
          <a:solidFill xmlns:a="http://schemas.openxmlformats.org/drawingml/2006/main">
            <a:srgbClr val="000000">
              <a:alpha val="0"/>
            </a:srgbClr>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Tree>
    <p:extLst>
      <p:ext uri="{BB962C8B-B14F-4D97-AF65-F5344CB8AC3E}">
        <p14:creationId xmlns:p14="http://schemas.microsoft.com/office/powerpoint/2010/main" val="482261281"/>
      </p:ext>
    </p:extLst>
  </p:cSld>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2026-07-18T15:28:59.6460000Z</dcterms:created>
  <dcterms:modified xsi:type="dcterms:W3CDTF">2026-07-18T15:28:59.6460000Z</dcterms:modified>
</coreProperties>
</file>